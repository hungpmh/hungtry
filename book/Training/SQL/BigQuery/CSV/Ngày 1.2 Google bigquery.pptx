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0"/>
  </p:notesMasterIdLst>
  <p:sldIdLst>
    <p:sldId id="256" r:id="rId2"/>
    <p:sldId id="290" r:id="rId3"/>
    <p:sldId id="322"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330" r:id="rId20"/>
    <p:sldId id="273" r:id="rId21"/>
    <p:sldId id="274" r:id="rId22"/>
    <p:sldId id="320" r:id="rId23"/>
    <p:sldId id="332" r:id="rId24"/>
    <p:sldId id="331"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9144000" cy="5143500" type="screen16x9"/>
  <p:notesSz cx="6858000" cy="9144000"/>
  <p:embeddedFontLst>
    <p:embeddedFont>
      <p:font typeface="Calibri" panose="020F0502020204030204" pitchFamily="34" charset="0"/>
      <p:regular r:id="rId41"/>
      <p:bold r:id="rId42"/>
      <p:italic r:id="rId43"/>
      <p:boldItalic r:id="rId44"/>
    </p:embeddedFont>
    <p:embeddedFont>
      <p:font typeface="Roboto" panose="020B0604020202020204" charset="0"/>
      <p:regular r:id="rId45"/>
      <p:bold r:id="rId46"/>
      <p:italic r:id="rId47"/>
      <p:boldItalic r:id="rId48"/>
    </p:embeddedFont>
    <p:embeddedFont>
      <p:font typeface="Roboto Mono" panose="020B0604020202020204" charset="0"/>
      <p:regular r:id="rId49"/>
      <p:bold r:id="rId50"/>
      <p:italic r:id="rId51"/>
      <p:boldItalic r:id="rId52"/>
    </p:embeddedFont>
    <p:embeddedFont>
      <p:font typeface="Tahoma" panose="020B0604030504040204" pitchFamily="34" charset="0"/>
      <p:regular r:id="rId53"/>
      <p:bold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5C4198-21BA-4E8C-B472-7D726E7DECEE}">
  <a:tblStyle styleId="{115C4198-21BA-4E8C-B472-7D726E7DECE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2" d="100"/>
          <a:sy n="142" d="100"/>
        </p:scale>
        <p:origin x="714"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142" name="Google Shape;142;p5: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3445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142" name="Google Shape;142;p5: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4659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d2d07964c2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d2d07964c2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d2d07964c2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d2d07964c2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d2d07964c2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d2d07964c2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d2d07964c2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d2d07964c2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a:t>https://codelabs.developers.google.com/codelabs/gcp-bq-partitioning-and-clustering#1</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d2d07964c2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d2d07964c2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d2d07964c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d2d07964c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d2d07964c2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d2d07964c2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d2d07964c2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d2d07964c2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d2d07964c2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d2d07964c2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d2d07964c2_2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d2d07964c2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d2d07964c2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d2d07964c2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d2d07964c2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d2d07964c2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d2d07964c2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d2d07964c2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d2d07964c2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d2d07964c2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d2d07964c2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d2d07964c2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142" name="Google Shape;142;p5: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0735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d2d07964c2_2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d2d07964c2_2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d2d07964c2_2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d2d07964c2_2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195" name="Google Shape;195;p11: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5937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195" name="Google Shape;195;p11: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21556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195" name="Google Shape;195;p11: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0644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d2d07964c2_2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d2d07964c2_2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d2d07964c2_2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d2d07964c2_2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d2d07964c2_2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d2d07964c2_2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d2d07964c2_2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d2d07964c2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d2d07964c2_2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d2d07964c2_2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d2d07964c2_2_2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2d07964c2_2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d2d07964c2_2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d2d07964c2_2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d2d07964c2_2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d2d07964c2_2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d2d07964c2_2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d2d07964c2_2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d2d07964c2_2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d2d07964c2_2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d2d07964c2_2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d2d07964c2_2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d2d07964c2_2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d2d07964c2_2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d2d07964c2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d2d07964c2_2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d2d07964c2_2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d2d07964c2_2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0"/>
              </a:spcBef>
              <a:spcAft>
                <a:spcPts val="0"/>
              </a:spcAft>
              <a:buClr>
                <a:schemeClr val="lt1"/>
              </a:buClr>
              <a:buSzPts val="1200"/>
              <a:buChar char="○"/>
              <a:defRPr sz="1200">
                <a:solidFill>
                  <a:schemeClr val="lt1"/>
                </a:solidFill>
              </a:defRPr>
            </a:lvl2pPr>
            <a:lvl3pPr marL="1371600" lvl="2" indent="-304800">
              <a:spcBef>
                <a:spcPts val="0"/>
              </a:spcBef>
              <a:spcAft>
                <a:spcPts val="0"/>
              </a:spcAft>
              <a:buClr>
                <a:schemeClr val="lt1"/>
              </a:buClr>
              <a:buSzPts val="1200"/>
              <a:buChar char="■"/>
              <a:defRPr sz="1200">
                <a:solidFill>
                  <a:schemeClr val="lt1"/>
                </a:solidFill>
              </a:defRPr>
            </a:lvl3pPr>
            <a:lvl4pPr marL="1828800" lvl="3" indent="-304800">
              <a:spcBef>
                <a:spcPts val="0"/>
              </a:spcBef>
              <a:spcAft>
                <a:spcPts val="0"/>
              </a:spcAft>
              <a:buClr>
                <a:schemeClr val="lt1"/>
              </a:buClr>
              <a:buSzPts val="1200"/>
              <a:buChar char="●"/>
              <a:defRPr sz="1200">
                <a:solidFill>
                  <a:schemeClr val="lt1"/>
                </a:solidFill>
              </a:defRPr>
            </a:lvl4pPr>
            <a:lvl5pPr marL="2286000" lvl="4" indent="-304800">
              <a:spcBef>
                <a:spcPts val="0"/>
              </a:spcBef>
              <a:spcAft>
                <a:spcPts val="0"/>
              </a:spcAft>
              <a:buClr>
                <a:schemeClr val="lt1"/>
              </a:buClr>
              <a:buSzPts val="1200"/>
              <a:buChar char="○"/>
              <a:defRPr sz="1200">
                <a:solidFill>
                  <a:schemeClr val="lt1"/>
                </a:solidFill>
              </a:defRPr>
            </a:lvl5pPr>
            <a:lvl6pPr marL="2743200" lvl="5" indent="-304800">
              <a:spcBef>
                <a:spcPts val="0"/>
              </a:spcBef>
              <a:spcAft>
                <a:spcPts val="0"/>
              </a:spcAft>
              <a:buClr>
                <a:schemeClr val="lt1"/>
              </a:buClr>
              <a:buSzPts val="1200"/>
              <a:buChar char="■"/>
              <a:defRPr sz="1200">
                <a:solidFill>
                  <a:schemeClr val="lt1"/>
                </a:solidFill>
              </a:defRPr>
            </a:lvl6pPr>
            <a:lvl7pPr marL="3200400" lvl="6" indent="-304800">
              <a:spcBef>
                <a:spcPts val="0"/>
              </a:spcBef>
              <a:spcAft>
                <a:spcPts val="0"/>
              </a:spcAft>
              <a:buClr>
                <a:schemeClr val="lt1"/>
              </a:buClr>
              <a:buSzPts val="1200"/>
              <a:buChar char="●"/>
              <a:defRPr sz="1200">
                <a:solidFill>
                  <a:schemeClr val="lt1"/>
                </a:solidFill>
              </a:defRPr>
            </a:lvl7pPr>
            <a:lvl8pPr marL="3657600" lvl="7" indent="-304800">
              <a:spcBef>
                <a:spcPts val="0"/>
              </a:spcBef>
              <a:spcAft>
                <a:spcPts val="0"/>
              </a:spcAft>
              <a:buClr>
                <a:schemeClr val="lt1"/>
              </a:buClr>
              <a:buSzPts val="1200"/>
              <a:buChar char="○"/>
              <a:defRPr sz="1200">
                <a:solidFill>
                  <a:schemeClr val="lt1"/>
                </a:solidFill>
              </a:defRPr>
            </a:lvl8pPr>
            <a:lvl9pPr marL="4114800" lvl="8" indent="-304800">
              <a:spcBef>
                <a:spcPts val="0"/>
              </a:spcBef>
              <a:spcAft>
                <a:spcPts val="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1"/>
        <p:cNvGrpSpPr/>
        <p:nvPr/>
      </p:nvGrpSpPr>
      <p:grpSpPr>
        <a:xfrm>
          <a:off x="0" y="0"/>
          <a:ext cx="0" cy="0"/>
          <a:chOff x="0" y="0"/>
          <a:chExt cx="0" cy="0"/>
        </a:xfrm>
      </p:grpSpPr>
      <p:sp>
        <p:nvSpPr>
          <p:cNvPr id="22" name="Google Shape;22;p30"/>
          <p:cNvSpPr txBox="1">
            <a:spLocks noGrp="1"/>
          </p:cNvSpPr>
          <p:nvPr>
            <p:ph type="title"/>
          </p:nvPr>
        </p:nvSpPr>
        <p:spPr>
          <a:xfrm>
            <a:off x="398964" y="304801"/>
            <a:ext cx="8346074" cy="395438"/>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dk1"/>
              </a:buClr>
              <a:buSzPts val="1400"/>
              <a:buFont typeface="Calibri"/>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23" name="Google Shape;23;p30"/>
          <p:cNvSpPr txBox="1">
            <a:spLocks noGrp="1"/>
          </p:cNvSpPr>
          <p:nvPr>
            <p:ph type="body" idx="1"/>
          </p:nvPr>
        </p:nvSpPr>
        <p:spPr>
          <a:xfrm>
            <a:off x="398467" y="1010653"/>
            <a:ext cx="8347065" cy="3447047"/>
          </a:xfrm>
          <a:prstGeom prst="rect">
            <a:avLst/>
          </a:prstGeom>
          <a:noFill/>
          <a:ln>
            <a:noFill/>
          </a:ln>
        </p:spPr>
        <p:txBody>
          <a:bodyPr spcFirstLastPara="1" wrap="square" lIns="0" tIns="0" rIns="0" bIns="0" anchor="t" anchorCtr="0">
            <a:noAutofit/>
          </a:bodyPr>
          <a:lstStyle>
            <a:lvl1pPr marL="342900" lvl="0" indent="-257175" algn="l">
              <a:lnSpc>
                <a:spcPct val="90000"/>
              </a:lnSpc>
              <a:spcBef>
                <a:spcPts val="900"/>
              </a:spcBef>
              <a:spcAft>
                <a:spcPts val="0"/>
              </a:spcAft>
              <a:buClr>
                <a:schemeClr val="dk1"/>
              </a:buClr>
              <a:buSzPts val="1800"/>
              <a:buChar char="•"/>
              <a:defRPr/>
            </a:lvl1pPr>
            <a:lvl2pPr marL="685800" lvl="1" indent="-257175" algn="l">
              <a:lnSpc>
                <a:spcPct val="90000"/>
              </a:lnSpc>
              <a:spcBef>
                <a:spcPts val="600"/>
              </a:spcBef>
              <a:spcAft>
                <a:spcPts val="0"/>
              </a:spcAft>
              <a:buClr>
                <a:schemeClr val="dk1"/>
              </a:buClr>
              <a:buSzPts val="1800"/>
              <a:buChar char="–"/>
              <a:defRPr/>
            </a:lvl2pPr>
            <a:lvl3pPr marL="1028700" lvl="2" indent="-257175" algn="l">
              <a:lnSpc>
                <a:spcPct val="90000"/>
              </a:lnSpc>
              <a:spcBef>
                <a:spcPts val="450"/>
              </a:spcBef>
              <a:spcAft>
                <a:spcPts val="0"/>
              </a:spcAft>
              <a:buClr>
                <a:schemeClr val="dk1"/>
              </a:buClr>
              <a:buSzPts val="1800"/>
              <a:buChar char="•"/>
              <a:defRPr/>
            </a:lvl3pPr>
            <a:lvl4pPr marL="1371600" lvl="3" indent="-257175" algn="l">
              <a:lnSpc>
                <a:spcPct val="90000"/>
              </a:lnSpc>
              <a:spcBef>
                <a:spcPts val="450"/>
              </a:spcBef>
              <a:spcAft>
                <a:spcPts val="0"/>
              </a:spcAft>
              <a:buClr>
                <a:schemeClr val="dk1"/>
              </a:buClr>
              <a:buSzPts val="1800"/>
              <a:buChar char="–"/>
              <a:defRPr/>
            </a:lvl4pPr>
            <a:lvl5pPr marL="1714500" lvl="4" indent="-257175" algn="l">
              <a:lnSpc>
                <a:spcPct val="90000"/>
              </a:lnSpc>
              <a:spcBef>
                <a:spcPts val="450"/>
              </a:spcBef>
              <a:spcAft>
                <a:spcPts val="0"/>
              </a:spcAft>
              <a:buClr>
                <a:schemeClr val="dk1"/>
              </a:buClr>
              <a:buSzPts val="1800"/>
              <a:buChar char="•"/>
              <a:defRPr/>
            </a:lvl5pPr>
            <a:lvl6pPr marL="2057400" lvl="5" indent="-257175" algn="l">
              <a:lnSpc>
                <a:spcPct val="90000"/>
              </a:lnSpc>
              <a:spcBef>
                <a:spcPts val="450"/>
              </a:spcBef>
              <a:spcAft>
                <a:spcPts val="0"/>
              </a:spcAft>
              <a:buClr>
                <a:schemeClr val="dk1"/>
              </a:buClr>
              <a:buSzPts val="1800"/>
              <a:buChar char="–"/>
              <a:defRPr/>
            </a:lvl6pPr>
            <a:lvl7pPr marL="2400300" lvl="6" indent="-257175" algn="l">
              <a:lnSpc>
                <a:spcPct val="90000"/>
              </a:lnSpc>
              <a:spcBef>
                <a:spcPts val="450"/>
              </a:spcBef>
              <a:spcAft>
                <a:spcPts val="0"/>
              </a:spcAft>
              <a:buClr>
                <a:schemeClr val="dk1"/>
              </a:buClr>
              <a:buSzPts val="1800"/>
              <a:buChar char="•"/>
              <a:defRPr/>
            </a:lvl7pPr>
            <a:lvl8pPr marL="2743200" lvl="7" indent="-257175" algn="l">
              <a:lnSpc>
                <a:spcPct val="90000"/>
              </a:lnSpc>
              <a:spcBef>
                <a:spcPts val="450"/>
              </a:spcBef>
              <a:spcAft>
                <a:spcPts val="0"/>
              </a:spcAft>
              <a:buClr>
                <a:schemeClr val="dk1"/>
              </a:buClr>
              <a:buSzPts val="1800"/>
              <a:buChar char="–"/>
              <a:defRPr/>
            </a:lvl8pPr>
            <a:lvl9pPr marL="3086100" lvl="8" indent="-257175" algn="l">
              <a:lnSpc>
                <a:spcPct val="90000"/>
              </a:lnSpc>
              <a:spcBef>
                <a:spcPts val="450"/>
              </a:spcBef>
              <a:spcAft>
                <a:spcPts val="0"/>
              </a:spcAft>
              <a:buClr>
                <a:schemeClr val="dk1"/>
              </a:buClr>
              <a:buSzPts val="1800"/>
              <a:buChar char="•"/>
              <a:defRPr/>
            </a:lvl9pPr>
          </a:lstStyle>
          <a:p>
            <a:endParaRPr/>
          </a:p>
        </p:txBody>
      </p:sp>
      <p:sp>
        <p:nvSpPr>
          <p:cNvPr id="24" name="Google Shape;24;p30"/>
          <p:cNvSpPr txBox="1">
            <a:spLocks noGrp="1"/>
          </p:cNvSpPr>
          <p:nvPr>
            <p:ph type="body" idx="2"/>
          </p:nvPr>
        </p:nvSpPr>
        <p:spPr>
          <a:xfrm>
            <a:off x="398964" y="712682"/>
            <a:ext cx="8346073" cy="257474"/>
          </a:xfrm>
          <a:prstGeom prst="rect">
            <a:avLst/>
          </a:prstGeom>
          <a:noFill/>
          <a:ln>
            <a:noFill/>
          </a:ln>
        </p:spPr>
        <p:txBody>
          <a:bodyPr spcFirstLastPara="1" wrap="square" lIns="0" tIns="0" rIns="0" bIns="0" anchor="t" anchorCtr="0">
            <a:noAutofit/>
          </a:bodyPr>
          <a:lstStyle>
            <a:lvl1pPr marL="342900" lvl="0" indent="-171450" algn="l">
              <a:lnSpc>
                <a:spcPct val="90000"/>
              </a:lnSpc>
              <a:spcBef>
                <a:spcPts val="0"/>
              </a:spcBef>
              <a:spcAft>
                <a:spcPts val="0"/>
              </a:spcAft>
              <a:buClr>
                <a:schemeClr val="dk1"/>
              </a:buClr>
              <a:buSzPts val="2400"/>
              <a:buFont typeface="Calibri"/>
              <a:buNone/>
              <a:defRPr sz="1800" b="1"/>
            </a:lvl1pPr>
            <a:lvl2pPr marL="685800" lvl="1" indent="-171450" algn="l">
              <a:lnSpc>
                <a:spcPct val="90000"/>
              </a:lnSpc>
              <a:spcBef>
                <a:spcPts val="600"/>
              </a:spcBef>
              <a:spcAft>
                <a:spcPts val="0"/>
              </a:spcAft>
              <a:buClr>
                <a:schemeClr val="dk1"/>
              </a:buClr>
              <a:buSzPts val="2400"/>
              <a:buFont typeface="Calibri"/>
              <a:buNone/>
              <a:defRPr sz="1800"/>
            </a:lvl2pPr>
            <a:lvl3pPr marL="1028700" lvl="2" indent="-171450" algn="l">
              <a:lnSpc>
                <a:spcPct val="90000"/>
              </a:lnSpc>
              <a:spcBef>
                <a:spcPts val="450"/>
              </a:spcBef>
              <a:spcAft>
                <a:spcPts val="0"/>
              </a:spcAft>
              <a:buClr>
                <a:schemeClr val="dk1"/>
              </a:buClr>
              <a:buSzPts val="2400"/>
              <a:buFont typeface="Calibri"/>
              <a:buNone/>
              <a:defRPr sz="1800"/>
            </a:lvl3pPr>
            <a:lvl4pPr marL="1371600" lvl="3" indent="-171450" algn="l">
              <a:lnSpc>
                <a:spcPct val="90000"/>
              </a:lnSpc>
              <a:spcBef>
                <a:spcPts val="450"/>
              </a:spcBef>
              <a:spcAft>
                <a:spcPts val="0"/>
              </a:spcAft>
              <a:buClr>
                <a:schemeClr val="dk1"/>
              </a:buClr>
              <a:buSzPts val="2400"/>
              <a:buFont typeface="Calibri"/>
              <a:buNone/>
              <a:defRPr sz="1800"/>
            </a:lvl4pPr>
            <a:lvl5pPr marL="1714500" lvl="4" indent="-171450" algn="l">
              <a:lnSpc>
                <a:spcPct val="90000"/>
              </a:lnSpc>
              <a:spcBef>
                <a:spcPts val="450"/>
              </a:spcBef>
              <a:spcAft>
                <a:spcPts val="0"/>
              </a:spcAft>
              <a:buClr>
                <a:schemeClr val="dk1"/>
              </a:buClr>
              <a:buSzPts val="2400"/>
              <a:buFont typeface="Calibri"/>
              <a:buNone/>
              <a:defRPr sz="1800"/>
            </a:lvl5pPr>
            <a:lvl6pPr marL="2057400" lvl="5" indent="-171450" algn="l">
              <a:lnSpc>
                <a:spcPct val="90000"/>
              </a:lnSpc>
              <a:spcBef>
                <a:spcPts val="450"/>
              </a:spcBef>
              <a:spcAft>
                <a:spcPts val="0"/>
              </a:spcAft>
              <a:buClr>
                <a:schemeClr val="dk1"/>
              </a:buClr>
              <a:buSzPts val="2400"/>
              <a:buFont typeface="Calibri"/>
              <a:buNone/>
              <a:defRPr sz="1800"/>
            </a:lvl6pPr>
            <a:lvl7pPr marL="2400300" lvl="6" indent="-171450" algn="l">
              <a:lnSpc>
                <a:spcPct val="90000"/>
              </a:lnSpc>
              <a:spcBef>
                <a:spcPts val="450"/>
              </a:spcBef>
              <a:spcAft>
                <a:spcPts val="0"/>
              </a:spcAft>
              <a:buClr>
                <a:schemeClr val="dk1"/>
              </a:buClr>
              <a:buSzPts val="2400"/>
              <a:buFont typeface="Calibri"/>
              <a:buNone/>
              <a:defRPr sz="1800"/>
            </a:lvl7pPr>
            <a:lvl8pPr marL="2743200" lvl="7" indent="-171450" algn="l">
              <a:lnSpc>
                <a:spcPct val="90000"/>
              </a:lnSpc>
              <a:spcBef>
                <a:spcPts val="450"/>
              </a:spcBef>
              <a:spcAft>
                <a:spcPts val="0"/>
              </a:spcAft>
              <a:buClr>
                <a:schemeClr val="dk1"/>
              </a:buClr>
              <a:buSzPts val="2400"/>
              <a:buFont typeface="Calibri"/>
              <a:buNone/>
              <a:defRPr sz="1800"/>
            </a:lvl8pPr>
            <a:lvl9pPr marL="3086100" lvl="8" indent="-171450" algn="l">
              <a:lnSpc>
                <a:spcPct val="90000"/>
              </a:lnSpc>
              <a:spcBef>
                <a:spcPts val="450"/>
              </a:spcBef>
              <a:spcAft>
                <a:spcPts val="0"/>
              </a:spcAft>
              <a:buClr>
                <a:schemeClr val="dk1"/>
              </a:buClr>
              <a:buSzPts val="2400"/>
              <a:buFont typeface="Calibri"/>
              <a:buNone/>
              <a:defRPr sz="1800"/>
            </a:lvl9pPr>
          </a:lstStyle>
          <a:p>
            <a:endParaRPr/>
          </a:p>
        </p:txBody>
      </p:sp>
      <p:sp>
        <p:nvSpPr>
          <p:cNvPr id="25" name="Google Shape;25;p30"/>
          <p:cNvSpPr txBox="1">
            <a:spLocks noGrp="1"/>
          </p:cNvSpPr>
          <p:nvPr>
            <p:ph type="dt" idx="10"/>
          </p:nvPr>
        </p:nvSpPr>
        <p:spPr>
          <a:xfrm>
            <a:off x="3136923" y="4917283"/>
            <a:ext cx="920594" cy="136922"/>
          </a:xfrm>
          <a:prstGeom prst="rect">
            <a:avLst/>
          </a:prstGeom>
          <a:noFill/>
          <a:ln>
            <a:noFill/>
          </a:ln>
        </p:spPr>
        <p:txBody>
          <a:bodyPr spcFirstLastPara="1" wrap="square" lIns="0" tIns="0" rIns="0" bIns="0" anchor="ctr" anchorCtr="0">
            <a:noAutofit/>
          </a:bodyPr>
          <a:lstStyle>
            <a:lvl1pPr lvl="0" algn="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26" name="Google Shape;26;p30"/>
          <p:cNvSpPr txBox="1">
            <a:spLocks noGrp="1"/>
          </p:cNvSpPr>
          <p:nvPr>
            <p:ph type="ftr" idx="11"/>
          </p:nvPr>
        </p:nvSpPr>
        <p:spPr>
          <a:xfrm>
            <a:off x="6467970" y="4917283"/>
            <a:ext cx="2026972" cy="136922"/>
          </a:xfrm>
          <a:prstGeom prst="rect">
            <a:avLst/>
          </a:prstGeom>
          <a:noFill/>
          <a:ln>
            <a:noFill/>
          </a:ln>
        </p:spPr>
        <p:txBody>
          <a:bodyPr spcFirstLastPara="1" wrap="square" lIns="0" tIns="0" rIns="0" bIns="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27" name="Google Shape;27;p30"/>
          <p:cNvSpPr txBox="1">
            <a:spLocks noGrp="1"/>
          </p:cNvSpPr>
          <p:nvPr>
            <p:ph type="sldNum" idx="12"/>
          </p:nvPr>
        </p:nvSpPr>
        <p:spPr>
          <a:xfrm>
            <a:off x="8494941" y="4917283"/>
            <a:ext cx="250097" cy="136922"/>
          </a:xfrm>
          <a:prstGeom prst="rect">
            <a:avLst/>
          </a:prstGeom>
          <a:noFill/>
          <a:ln>
            <a:noFill/>
          </a:ln>
        </p:spPr>
        <p:txBody>
          <a:bodyPr spcFirstLastPara="1" wrap="square" lIns="0" tIns="0" rIns="0" bIns="0" anchor="ctr" anchorCtr="0">
            <a:noAutofit/>
          </a:bodyPr>
          <a:lstStyle>
            <a:lvl1pPr marL="0" lvl="0" indent="0" algn="r">
              <a:spcBef>
                <a:spcPts val="0"/>
              </a:spcBef>
              <a:spcAft>
                <a:spcPts val="0"/>
              </a:spcAft>
              <a:buClr>
                <a:schemeClr val="dk1"/>
              </a:buClr>
              <a:buSzPts val="800"/>
              <a:buFont typeface="Calibri"/>
              <a:buNone/>
              <a:defRPr sz="600" b="0" i="0" u="none" strike="noStrike" cap="none">
                <a:solidFill>
                  <a:schemeClr val="dk1"/>
                </a:solidFill>
                <a:latin typeface="Calibri"/>
                <a:ea typeface="Calibri"/>
                <a:cs typeface="Calibri"/>
                <a:sym typeface="Calibri"/>
              </a:defRPr>
            </a:lvl1pPr>
            <a:lvl2pPr marL="0" lvl="1" indent="0" algn="r">
              <a:spcBef>
                <a:spcPts val="0"/>
              </a:spcBef>
              <a:spcAft>
                <a:spcPts val="0"/>
              </a:spcAft>
              <a:buClr>
                <a:schemeClr val="dk1"/>
              </a:buClr>
              <a:buSzPts val="800"/>
              <a:buFont typeface="Calibri"/>
              <a:buNone/>
              <a:defRPr sz="600" b="0" i="0" u="none" strike="noStrike" cap="none">
                <a:solidFill>
                  <a:schemeClr val="dk1"/>
                </a:solidFill>
                <a:latin typeface="Calibri"/>
                <a:ea typeface="Calibri"/>
                <a:cs typeface="Calibri"/>
                <a:sym typeface="Calibri"/>
              </a:defRPr>
            </a:lvl2pPr>
            <a:lvl3pPr marL="0" lvl="2" indent="0" algn="r">
              <a:spcBef>
                <a:spcPts val="0"/>
              </a:spcBef>
              <a:spcAft>
                <a:spcPts val="0"/>
              </a:spcAft>
              <a:buClr>
                <a:schemeClr val="dk1"/>
              </a:buClr>
              <a:buSzPts val="800"/>
              <a:buFont typeface="Calibri"/>
              <a:buNone/>
              <a:defRPr sz="600" b="0" i="0" u="none" strike="noStrike" cap="none">
                <a:solidFill>
                  <a:schemeClr val="dk1"/>
                </a:solidFill>
                <a:latin typeface="Calibri"/>
                <a:ea typeface="Calibri"/>
                <a:cs typeface="Calibri"/>
                <a:sym typeface="Calibri"/>
              </a:defRPr>
            </a:lvl3pPr>
            <a:lvl4pPr marL="0" lvl="3" indent="0" algn="r">
              <a:spcBef>
                <a:spcPts val="0"/>
              </a:spcBef>
              <a:spcAft>
                <a:spcPts val="0"/>
              </a:spcAft>
              <a:buClr>
                <a:schemeClr val="dk1"/>
              </a:buClr>
              <a:buSzPts val="800"/>
              <a:buFont typeface="Calibri"/>
              <a:buNone/>
              <a:defRPr sz="600" b="0" i="0" u="none" strike="noStrike" cap="none">
                <a:solidFill>
                  <a:schemeClr val="dk1"/>
                </a:solidFill>
                <a:latin typeface="Calibri"/>
                <a:ea typeface="Calibri"/>
                <a:cs typeface="Calibri"/>
                <a:sym typeface="Calibri"/>
              </a:defRPr>
            </a:lvl4pPr>
            <a:lvl5pPr marL="0" lvl="4" indent="0" algn="r">
              <a:spcBef>
                <a:spcPts val="0"/>
              </a:spcBef>
              <a:spcAft>
                <a:spcPts val="0"/>
              </a:spcAft>
              <a:buClr>
                <a:schemeClr val="dk1"/>
              </a:buClr>
              <a:buSzPts val="800"/>
              <a:buFont typeface="Calibri"/>
              <a:buNone/>
              <a:defRPr sz="600" b="0" i="0" u="none" strike="noStrike" cap="none">
                <a:solidFill>
                  <a:schemeClr val="dk1"/>
                </a:solidFill>
                <a:latin typeface="Calibri"/>
                <a:ea typeface="Calibri"/>
                <a:cs typeface="Calibri"/>
                <a:sym typeface="Calibri"/>
              </a:defRPr>
            </a:lvl5pPr>
            <a:lvl6pPr marL="0" lvl="5" indent="0" algn="r">
              <a:spcBef>
                <a:spcPts val="0"/>
              </a:spcBef>
              <a:spcAft>
                <a:spcPts val="0"/>
              </a:spcAft>
              <a:buClr>
                <a:schemeClr val="dk1"/>
              </a:buClr>
              <a:buSzPts val="800"/>
              <a:buFont typeface="Calibri"/>
              <a:buNone/>
              <a:defRPr sz="600" b="0" i="0" u="none" strike="noStrike" cap="none">
                <a:solidFill>
                  <a:schemeClr val="dk1"/>
                </a:solidFill>
                <a:latin typeface="Calibri"/>
                <a:ea typeface="Calibri"/>
                <a:cs typeface="Calibri"/>
                <a:sym typeface="Calibri"/>
              </a:defRPr>
            </a:lvl6pPr>
            <a:lvl7pPr marL="0" lvl="6" indent="0" algn="r">
              <a:spcBef>
                <a:spcPts val="0"/>
              </a:spcBef>
              <a:spcAft>
                <a:spcPts val="0"/>
              </a:spcAft>
              <a:buClr>
                <a:schemeClr val="dk1"/>
              </a:buClr>
              <a:buSzPts val="800"/>
              <a:buFont typeface="Calibri"/>
              <a:buNone/>
              <a:defRPr sz="600" b="0" i="0" u="none" strike="noStrike" cap="none">
                <a:solidFill>
                  <a:schemeClr val="dk1"/>
                </a:solidFill>
                <a:latin typeface="Calibri"/>
                <a:ea typeface="Calibri"/>
                <a:cs typeface="Calibri"/>
                <a:sym typeface="Calibri"/>
              </a:defRPr>
            </a:lvl7pPr>
            <a:lvl8pPr marL="0" lvl="7" indent="0" algn="r">
              <a:spcBef>
                <a:spcPts val="0"/>
              </a:spcBef>
              <a:spcAft>
                <a:spcPts val="0"/>
              </a:spcAft>
              <a:buClr>
                <a:schemeClr val="dk1"/>
              </a:buClr>
              <a:buSzPts val="800"/>
              <a:buFont typeface="Calibri"/>
              <a:buNone/>
              <a:defRPr sz="600" b="0" i="0" u="none" strike="noStrike" cap="none">
                <a:solidFill>
                  <a:schemeClr val="dk1"/>
                </a:solidFill>
                <a:latin typeface="Calibri"/>
                <a:ea typeface="Calibri"/>
                <a:cs typeface="Calibri"/>
                <a:sym typeface="Calibri"/>
              </a:defRPr>
            </a:lvl8pPr>
            <a:lvl9pPr marL="0" lvl="8" indent="0" algn="r">
              <a:spcBef>
                <a:spcPts val="0"/>
              </a:spcBef>
              <a:spcAft>
                <a:spcPts val="0"/>
              </a:spcAft>
              <a:buClr>
                <a:schemeClr val="dk1"/>
              </a:buClr>
              <a:buSzPts val="800"/>
              <a:buFont typeface="Calibri"/>
              <a:buNone/>
              <a:defRPr sz="600" b="0" i="0" u="none" strike="noStrike" cap="none">
                <a:solidFill>
                  <a:schemeClr val="dk1"/>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466078386"/>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vi"/>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cloud.google.com/bigquery/docs/reference/standard-sql/data-definition-language#schema_option_list"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cloud.google.com/bigquery/docs/reference/standard-sql/data-definition-language#table_path"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hyperlink" Target="https://cloud.google.com/bigquery/docs/reference/standard-sql/data-definition-language#clustering_column_list" TargetMode="External"/><Relationship Id="rId5" Type="http://schemas.openxmlformats.org/officeDocument/2006/relationships/hyperlink" Target="https://cloud.google.com/bigquery/docs/reference/standard-sql/data-definition-language#partition_expression" TargetMode="External"/><Relationship Id="rId4" Type="http://schemas.openxmlformats.org/officeDocument/2006/relationships/hyperlink" Target="https://cloud.google.com/bigquery/docs/reference/standard-sql/data-definition-language#column_name_and_column_schema"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cloud.google.com/bigquery/docs/reference/standard-sql/data-definition-language#view_option_list"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cloud.google.com/bigquery/docs/reference/standard-sql/data-definition-language#procedure_argument"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hyperlink" Target="https://cloud.google.com/bigquery/docs/reference/standard-sql/data-definition-language#procedure_argument_mode" TargetMode="External"/><Relationship Id="rId4" Type="http://schemas.openxmlformats.org/officeDocument/2006/relationships/hyperlink" Target="https://cloud.google.com/bigquery/docs/reference/standard-sql/data-definition-language#procedure_option_list"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www.sql.edu.vn/microsoft-sql-server/insert/" TargetMode="External"/><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hyperlink" Target="https://www.sql.edu.vn/microsoft-sql-server/delete/" TargetMode="External"/><Relationship Id="rId4" Type="http://schemas.openxmlformats.org/officeDocument/2006/relationships/hyperlink" Target="https://www.sql.edu.vn/microsoft-sql-server/update/"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GOOGLE BIQQUERY</a:t>
            </a:r>
            <a:endParaRPr/>
          </a:p>
        </p:txBody>
      </p:sp>
      <p:sp>
        <p:nvSpPr>
          <p:cNvPr id="68" name="Google Shape;68;p13"/>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prstGeom prst="rect">
            <a:avLst/>
          </a:prstGeom>
          <a:noFill/>
          <a:ln>
            <a:noFill/>
          </a:ln>
        </p:spPr>
        <p:txBody>
          <a:bodyPr spcFirstLastPara="1" wrap="square" lIns="0" tIns="0" rIns="0" bIns="0" anchor="b" anchorCtr="0">
            <a:noAutofit/>
          </a:bodyPr>
          <a:lstStyle/>
          <a:p>
            <a:r>
              <a:rPr lang="en-US" sz="3000" b="1">
                <a:latin typeface="Tahoma"/>
                <a:ea typeface="Tahoma"/>
                <a:cs typeface="Tahoma"/>
                <a:sym typeface="Tahoma"/>
              </a:rPr>
              <a:t>SQL (BigQuery)</a:t>
            </a:r>
            <a:endParaRPr sz="3000" b="1">
              <a:latin typeface="Tahoma"/>
              <a:ea typeface="Tahoma"/>
              <a:cs typeface="Tahoma"/>
              <a:sym typeface="Tahoma"/>
            </a:endParaRPr>
          </a:p>
        </p:txBody>
      </p:sp>
      <p:sp>
        <p:nvSpPr>
          <p:cNvPr id="147" name="Google Shape;147;p5"/>
          <p:cNvSpPr txBox="1">
            <a:spLocks noGrp="1"/>
          </p:cNvSpPr>
          <p:nvPr>
            <p:ph type="sldNum" idx="12"/>
          </p:nvPr>
        </p:nvSpPr>
        <p:spPr>
          <a:prstGeom prst="rect">
            <a:avLst/>
          </a:prstGeom>
          <a:noFill/>
          <a:ln>
            <a:noFill/>
          </a:ln>
        </p:spPr>
        <p:txBody>
          <a:bodyPr spcFirstLastPara="1" wrap="square" lIns="0" tIns="0" rIns="0" bIns="0" anchor="ctr" anchorCtr="0">
            <a:noAutofit/>
          </a:bodyPr>
          <a:lstStyle/>
          <a:p>
            <a:fld id="{00000000-1234-1234-1234-123412341234}" type="slidenum">
              <a:rPr lang="en-US"/>
              <a:pPr/>
              <a:t>2</a:t>
            </a:fld>
            <a:endParaRPr/>
          </a:p>
        </p:txBody>
      </p:sp>
      <p:sp>
        <p:nvSpPr>
          <p:cNvPr id="145" name="Google Shape;145;p5"/>
          <p:cNvSpPr txBox="1">
            <a:spLocks noGrp="1"/>
          </p:cNvSpPr>
          <p:nvPr>
            <p:ph type="body" idx="4294967295"/>
          </p:nvPr>
        </p:nvSpPr>
        <p:spPr>
          <a:xfrm>
            <a:off x="0" y="1011238"/>
            <a:ext cx="8343900" cy="3446462"/>
          </a:xfrm>
          <a:prstGeom prst="rect">
            <a:avLst/>
          </a:prstGeom>
          <a:noFill/>
          <a:ln>
            <a:noFill/>
          </a:ln>
        </p:spPr>
        <p:txBody>
          <a:bodyPr spcFirstLastPara="1" wrap="square" lIns="0" tIns="0" rIns="0" bIns="0" anchor="t" anchorCtr="0">
            <a:noAutofit/>
          </a:bodyPr>
          <a:lstStyle/>
          <a:p>
            <a:pPr marL="85725" indent="0">
              <a:buNone/>
            </a:pPr>
            <a:r>
              <a:rPr lang="en-US" i="1">
                <a:latin typeface="Tahoma" panose="020B0604030504040204" pitchFamily="34" charset="0"/>
                <a:ea typeface="Tahoma" panose="020B0604030504040204" pitchFamily="34" charset="0"/>
                <a:cs typeface="Tahoma" panose="020B0604030504040204" pitchFamily="34" charset="0"/>
              </a:rPr>
              <a:t>Gồm 2 nhóm lệnh chính</a:t>
            </a:r>
            <a:endParaRPr lang="vi-VN" dirty="0">
              <a:latin typeface="Tahoma" panose="020B0604030504040204" pitchFamily="34" charset="0"/>
              <a:ea typeface="Tahoma" panose="020B0604030504040204" pitchFamily="34" charset="0"/>
              <a:cs typeface="Tahoma" panose="020B0604030504040204" pitchFamily="34" charset="0"/>
            </a:endParaRPr>
          </a:p>
          <a:p>
            <a:pPr marL="0" indent="0">
              <a:spcBef>
                <a:spcPts val="0"/>
              </a:spcBef>
              <a:buSzPts val="2400"/>
              <a:buNone/>
            </a:pPr>
            <a:endParaRPr b="1" dirty="0">
              <a:latin typeface="Tahoma" panose="020B0604030504040204" pitchFamily="34" charset="0"/>
              <a:ea typeface="Tahoma" panose="020B0604030504040204" pitchFamily="34" charset="0"/>
              <a:cs typeface="Tahoma" panose="020B0604030504040204" pitchFamily="34" charset="0"/>
              <a:sym typeface="Tahoma"/>
            </a:endParaRPr>
          </a:p>
        </p:txBody>
      </p:sp>
      <p:sp>
        <p:nvSpPr>
          <p:cNvPr id="146" name="Google Shape;146;p5"/>
          <p:cNvSpPr txBox="1">
            <a:spLocks noGrp="1"/>
          </p:cNvSpPr>
          <p:nvPr>
            <p:ph type="ftr" idx="4294967295"/>
          </p:nvPr>
        </p:nvSpPr>
        <p:spPr>
          <a:xfrm>
            <a:off x="7116763" y="4918075"/>
            <a:ext cx="2027237" cy="136525"/>
          </a:xfrm>
          <a:prstGeom prst="rect">
            <a:avLst/>
          </a:prstGeom>
          <a:noFill/>
          <a:ln>
            <a:noFill/>
          </a:ln>
        </p:spPr>
        <p:txBody>
          <a:bodyPr spcFirstLastPara="1" wrap="square" lIns="0" tIns="0" rIns="0" bIns="0" anchor="ctr" anchorCtr="0">
            <a:noAutofit/>
          </a:bodyPr>
          <a:lstStyle/>
          <a:p>
            <a:r>
              <a:rPr lang="en-US"/>
              <a:t>Confidential – Oracle Restricted</a:t>
            </a:r>
            <a:endParaRPr/>
          </a:p>
        </p:txBody>
      </p:sp>
      <p:sp>
        <p:nvSpPr>
          <p:cNvPr id="148" name="Google Shape;148;p5"/>
          <p:cNvSpPr/>
          <p:nvPr/>
        </p:nvSpPr>
        <p:spPr>
          <a:xfrm>
            <a:off x="4153113" y="4941623"/>
            <a:ext cx="3471623" cy="136922"/>
          </a:xfrm>
          <a:prstGeom prst="rect">
            <a:avLst/>
          </a:prstGeom>
          <a:solidFill>
            <a:srgbClr val="D1DDE5"/>
          </a:solidFill>
          <a:ln>
            <a:noFill/>
          </a:ln>
        </p:spPr>
        <p:txBody>
          <a:bodyPr spcFirstLastPara="1" wrap="square" lIns="68569" tIns="34275" rIns="68569" bIns="34275" anchor="ctr" anchorCtr="0">
            <a:noAutofit/>
          </a:bodyPr>
          <a:lstStyle/>
          <a:p>
            <a:pPr algn="ctr">
              <a:lnSpc>
                <a:spcPct val="90000"/>
              </a:lnSpc>
            </a:pPr>
            <a:endParaRPr sz="1350">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B8BDCAA8-1B10-44A8-8B8A-736ACDA394EC}"/>
              </a:ext>
            </a:extLst>
          </p:cNvPr>
          <p:cNvSpPr/>
          <p:nvPr/>
        </p:nvSpPr>
        <p:spPr>
          <a:xfrm>
            <a:off x="1340142" y="2251244"/>
            <a:ext cx="2529281" cy="16433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DDL (Data definition language)</a:t>
            </a:r>
          </a:p>
          <a:p>
            <a:endParaRPr lang="en-US" sz="1050"/>
          </a:p>
          <a:p>
            <a:pPr marL="214313" indent="-214313">
              <a:buFont typeface="Arial" panose="020B0604020202020204" pitchFamily="34" charset="0"/>
              <a:buChar char="•"/>
            </a:pPr>
            <a:r>
              <a:rPr lang="en-US" sz="1050"/>
              <a:t>CREATE</a:t>
            </a:r>
          </a:p>
          <a:p>
            <a:pPr marL="214313" indent="-214313">
              <a:buFont typeface="Arial" panose="020B0604020202020204" pitchFamily="34" charset="0"/>
              <a:buChar char="•"/>
            </a:pPr>
            <a:r>
              <a:rPr lang="en-US" sz="1050"/>
              <a:t>ALTER</a:t>
            </a:r>
          </a:p>
          <a:p>
            <a:pPr marL="214313" indent="-214313">
              <a:buFont typeface="Arial" panose="020B0604020202020204" pitchFamily="34" charset="0"/>
              <a:buChar char="•"/>
            </a:pPr>
            <a:r>
              <a:rPr lang="en-US" sz="1050"/>
              <a:t>DROP</a:t>
            </a:r>
          </a:p>
          <a:p>
            <a:pPr marL="214313" indent="-214313">
              <a:buFont typeface="Arial" panose="020B0604020202020204" pitchFamily="34" charset="0"/>
              <a:buChar char="•"/>
            </a:pPr>
            <a:endParaRPr lang="en-US" sz="1050"/>
          </a:p>
          <a:p>
            <a:pPr marL="214313" indent="-214313">
              <a:buFont typeface="Arial" panose="020B0604020202020204" pitchFamily="34" charset="0"/>
              <a:buChar char="•"/>
            </a:pPr>
            <a:endParaRPr lang="en-US" sz="1050"/>
          </a:p>
          <a:p>
            <a:endParaRPr lang="en-GB" sz="1050"/>
          </a:p>
        </p:txBody>
      </p:sp>
      <p:sp>
        <p:nvSpPr>
          <p:cNvPr id="8" name="Rectangle 7">
            <a:extLst>
              <a:ext uri="{FF2B5EF4-FFF2-40B4-BE49-F238E27FC236}">
                <a16:creationId xmlns:a16="http://schemas.microsoft.com/office/drawing/2014/main" id="{7D02098B-6334-4AF2-B470-36AF200ECF99}"/>
              </a:ext>
            </a:extLst>
          </p:cNvPr>
          <p:cNvSpPr/>
          <p:nvPr/>
        </p:nvSpPr>
        <p:spPr>
          <a:xfrm>
            <a:off x="4706224" y="2252445"/>
            <a:ext cx="2755783" cy="16433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DML (Data manipulation language)</a:t>
            </a:r>
          </a:p>
          <a:p>
            <a:endParaRPr lang="en-US" sz="1050"/>
          </a:p>
          <a:p>
            <a:pPr marL="214313" indent="-214313">
              <a:buFont typeface="Arial" panose="020B0604020202020204" pitchFamily="34" charset="0"/>
              <a:buChar char="•"/>
            </a:pPr>
            <a:r>
              <a:rPr lang="en-US" sz="1050"/>
              <a:t>SELECT</a:t>
            </a:r>
          </a:p>
          <a:p>
            <a:pPr marL="214313" indent="-214313">
              <a:buFont typeface="Arial" panose="020B0604020202020204" pitchFamily="34" charset="0"/>
              <a:buChar char="•"/>
            </a:pPr>
            <a:r>
              <a:rPr lang="en-US" sz="1050"/>
              <a:t>INSERT</a:t>
            </a:r>
          </a:p>
          <a:p>
            <a:pPr marL="214313" indent="-214313">
              <a:buFont typeface="Arial" panose="020B0604020202020204" pitchFamily="34" charset="0"/>
              <a:buChar char="•"/>
            </a:pPr>
            <a:r>
              <a:rPr lang="en-US" sz="1050"/>
              <a:t>UPDATE</a:t>
            </a:r>
          </a:p>
          <a:p>
            <a:pPr marL="214313" indent="-214313">
              <a:buFont typeface="Arial" panose="020B0604020202020204" pitchFamily="34" charset="0"/>
              <a:buChar char="•"/>
            </a:pPr>
            <a:r>
              <a:rPr lang="en-US" sz="1050"/>
              <a:t>DELETE</a:t>
            </a:r>
          </a:p>
          <a:p>
            <a:pPr marL="214313" indent="-214313">
              <a:buFont typeface="Arial" panose="020B0604020202020204" pitchFamily="34" charset="0"/>
              <a:buChar char="•"/>
            </a:pPr>
            <a:r>
              <a:rPr lang="en-US" sz="1050"/>
              <a:t>MERGE</a:t>
            </a:r>
          </a:p>
          <a:p>
            <a:endParaRPr lang="en-GB" sz="1050"/>
          </a:p>
        </p:txBody>
      </p:sp>
    </p:spTree>
    <p:extLst>
      <p:ext uri="{BB962C8B-B14F-4D97-AF65-F5344CB8AC3E}">
        <p14:creationId xmlns:p14="http://schemas.microsoft.com/office/powerpoint/2010/main" val="1621576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prstGeom prst="rect">
            <a:avLst/>
          </a:prstGeom>
          <a:noFill/>
          <a:ln>
            <a:noFill/>
          </a:ln>
        </p:spPr>
        <p:txBody>
          <a:bodyPr spcFirstLastPara="1" wrap="square" lIns="0" tIns="0" rIns="0" bIns="0" anchor="b" anchorCtr="0">
            <a:noAutofit/>
          </a:bodyPr>
          <a:lstStyle/>
          <a:p>
            <a:pPr marL="85725"/>
            <a:r>
              <a:rPr lang="it-IT" sz="3000" b="1" i="1">
                <a:latin typeface="Tahoma" panose="020B0604030504040204" pitchFamily="34" charset="0"/>
                <a:ea typeface="Tahoma" panose="020B0604030504040204" pitchFamily="34" charset="0"/>
                <a:cs typeface="Tahoma" panose="020B0604030504040204" pitchFamily="34" charset="0"/>
              </a:rPr>
              <a:t>DDL (Data Definition Language)</a:t>
            </a:r>
            <a:endParaRPr lang="it-IT" sz="3000" dirty="0">
              <a:latin typeface="Tahoma" panose="020B0604030504040204" pitchFamily="34" charset="0"/>
              <a:ea typeface="Tahoma" panose="020B0604030504040204" pitchFamily="34" charset="0"/>
              <a:cs typeface="Tahoma" panose="020B0604030504040204" pitchFamily="34" charset="0"/>
            </a:endParaRPr>
          </a:p>
        </p:txBody>
      </p:sp>
      <p:sp>
        <p:nvSpPr>
          <p:cNvPr id="147" name="Google Shape;147;p5"/>
          <p:cNvSpPr txBox="1">
            <a:spLocks noGrp="1"/>
          </p:cNvSpPr>
          <p:nvPr>
            <p:ph type="sldNum" idx="12"/>
          </p:nvPr>
        </p:nvSpPr>
        <p:spPr>
          <a:prstGeom prst="rect">
            <a:avLst/>
          </a:prstGeom>
          <a:noFill/>
          <a:ln>
            <a:noFill/>
          </a:ln>
        </p:spPr>
        <p:txBody>
          <a:bodyPr spcFirstLastPara="1" wrap="square" lIns="0" tIns="0" rIns="0" bIns="0" anchor="ctr" anchorCtr="0">
            <a:noAutofit/>
          </a:bodyPr>
          <a:lstStyle/>
          <a:p>
            <a:fld id="{00000000-1234-1234-1234-123412341234}" type="slidenum">
              <a:rPr lang="en-US"/>
              <a:pPr/>
              <a:t>3</a:t>
            </a:fld>
            <a:endParaRPr/>
          </a:p>
        </p:txBody>
      </p:sp>
      <p:sp>
        <p:nvSpPr>
          <p:cNvPr id="145" name="Google Shape;145;p5"/>
          <p:cNvSpPr txBox="1">
            <a:spLocks noGrp="1"/>
          </p:cNvSpPr>
          <p:nvPr>
            <p:ph type="body" idx="4294967295"/>
          </p:nvPr>
        </p:nvSpPr>
        <p:spPr>
          <a:xfrm>
            <a:off x="0" y="1011238"/>
            <a:ext cx="8343900" cy="3446462"/>
          </a:xfrm>
          <a:prstGeom prst="rect">
            <a:avLst/>
          </a:prstGeom>
          <a:noFill/>
          <a:ln>
            <a:noFill/>
          </a:ln>
        </p:spPr>
        <p:txBody>
          <a:bodyPr spcFirstLastPara="1" wrap="square" lIns="0" tIns="0" rIns="0" bIns="0" anchor="t" anchorCtr="0">
            <a:noAutofit/>
          </a:bodyPr>
          <a:lstStyle/>
          <a:p>
            <a:pPr marL="85725" indent="0">
              <a:buNone/>
            </a:pPr>
            <a:r>
              <a:rPr lang="vi-VN" b="1">
                <a:latin typeface="Tahoma" panose="020B0604030504040204" pitchFamily="34" charset="0"/>
                <a:ea typeface="Tahoma" panose="020B0604030504040204" pitchFamily="34" charset="0"/>
                <a:cs typeface="Tahoma" panose="020B0604030504040204" pitchFamily="34" charset="0"/>
              </a:rPr>
              <a:t>DDL</a:t>
            </a:r>
            <a:r>
              <a:rPr lang="vi-VN" dirty="0">
                <a:latin typeface="Tahoma" panose="020B0604030504040204" pitchFamily="34" charset="0"/>
                <a:ea typeface="Tahoma" panose="020B0604030504040204" pitchFamily="34" charset="0"/>
                <a:cs typeface="Tahoma" panose="020B0604030504040204" pitchFamily="34" charset="0"/>
              </a:rPr>
              <a:t> là ngôn ngữ định nghĩa dữ liệu. Các lệnh DDL bao gồm:</a:t>
            </a:r>
          </a:p>
          <a:p>
            <a:r>
              <a:rPr lang="vi-VN" b="1">
                <a:latin typeface="Tahoma" panose="020B0604030504040204" pitchFamily="34" charset="0"/>
                <a:ea typeface="Tahoma" panose="020B0604030504040204" pitchFamily="34" charset="0"/>
                <a:cs typeface="Tahoma" panose="020B0604030504040204" pitchFamily="34" charset="0"/>
              </a:rPr>
              <a:t>Lệnh </a:t>
            </a:r>
            <a:r>
              <a:rPr lang="en-US" b="1">
                <a:latin typeface="Tahoma" panose="020B0604030504040204" pitchFamily="34" charset="0"/>
                <a:ea typeface="Tahoma" panose="020B0604030504040204" pitchFamily="34" charset="0"/>
                <a:cs typeface="Tahoma" panose="020B0604030504040204" pitchFamily="34" charset="0"/>
              </a:rPr>
              <a:t>CREATE</a:t>
            </a:r>
            <a:r>
              <a:rPr lang="vi-VN">
                <a:latin typeface="Tahoma" panose="020B0604030504040204" pitchFamily="34" charset="0"/>
                <a:ea typeface="Tahoma" panose="020B0604030504040204" pitchFamily="34" charset="0"/>
                <a:cs typeface="Tahoma" panose="020B0604030504040204" pitchFamily="34" charset="0"/>
              </a:rPr>
              <a:t>: Tạo </a:t>
            </a:r>
            <a:r>
              <a:rPr lang="en-US">
                <a:latin typeface="Tahoma" panose="020B0604030504040204" pitchFamily="34" charset="0"/>
                <a:ea typeface="Tahoma" panose="020B0604030504040204" pitchFamily="34" charset="0"/>
                <a:cs typeface="Tahoma" panose="020B0604030504040204" pitchFamily="34" charset="0"/>
              </a:rPr>
              <a:t>ra dataset (schema), </a:t>
            </a:r>
            <a:r>
              <a:rPr lang="vi-VN">
                <a:latin typeface="Tahoma" panose="020B0604030504040204" pitchFamily="34" charset="0"/>
                <a:ea typeface="Tahoma" panose="020B0604030504040204" pitchFamily="34" charset="0"/>
                <a:cs typeface="Tahoma" panose="020B0604030504040204" pitchFamily="34" charset="0"/>
              </a:rPr>
              <a:t>bảng, </a:t>
            </a:r>
            <a:r>
              <a:rPr lang="en-US">
                <a:latin typeface="Tahoma" panose="020B0604030504040204" pitchFamily="34" charset="0"/>
                <a:ea typeface="Tahoma" panose="020B0604030504040204" pitchFamily="34" charset="0"/>
                <a:cs typeface="Tahoma" panose="020B0604030504040204" pitchFamily="34" charset="0"/>
              </a:rPr>
              <a:t>V</a:t>
            </a:r>
            <a:r>
              <a:rPr lang="vi-VN">
                <a:latin typeface="Tahoma" panose="020B0604030504040204" pitchFamily="34" charset="0"/>
                <a:ea typeface="Tahoma" panose="020B0604030504040204" pitchFamily="34" charset="0"/>
                <a:cs typeface="Tahoma" panose="020B0604030504040204" pitchFamily="34" charset="0"/>
              </a:rPr>
              <a:t>iew </a:t>
            </a:r>
            <a:r>
              <a:rPr lang="vi-VN" dirty="0">
                <a:latin typeface="Tahoma" panose="020B0604030504040204" pitchFamily="34" charset="0"/>
                <a:ea typeface="Tahoma" panose="020B0604030504040204" pitchFamily="34" charset="0"/>
                <a:cs typeface="Tahoma" panose="020B0604030504040204" pitchFamily="34" charset="0"/>
              </a:rPr>
              <a:t>của bảng</a:t>
            </a:r>
            <a:r>
              <a:rPr lang="vi-VN">
                <a:latin typeface="Tahoma" panose="020B0604030504040204" pitchFamily="34" charset="0"/>
                <a:ea typeface="Tahoma" panose="020B0604030504040204" pitchFamily="34" charset="0"/>
                <a:cs typeface="Tahoma" panose="020B0604030504040204" pitchFamily="34" charset="0"/>
              </a:rPr>
              <a:t>, </a:t>
            </a:r>
            <a:r>
              <a:rPr lang="en-US">
                <a:latin typeface="Tahoma" panose="020B0604030504040204" pitchFamily="34" charset="0"/>
                <a:ea typeface="Tahoma" panose="020B0604030504040204" pitchFamily="34" charset="0"/>
                <a:cs typeface="Tahoma" panose="020B0604030504040204" pitchFamily="34" charset="0"/>
              </a:rPr>
              <a:t>Function (</a:t>
            </a:r>
            <a:r>
              <a:rPr lang="en-GB"/>
              <a:t>user-defined functions (UDFs))</a:t>
            </a:r>
          </a:p>
          <a:p>
            <a:endParaRPr lang="en-US">
              <a:latin typeface="Tahoma" panose="020B0604030504040204" pitchFamily="34" charset="0"/>
              <a:ea typeface="Tahoma" panose="020B0604030504040204" pitchFamily="34" charset="0"/>
              <a:cs typeface="Tahoma" panose="020B0604030504040204" pitchFamily="34" charset="0"/>
            </a:endParaRPr>
          </a:p>
          <a:p>
            <a:r>
              <a:rPr lang="vi-VN" b="1">
                <a:latin typeface="Tahoma" panose="020B0604030504040204" pitchFamily="34" charset="0"/>
                <a:ea typeface="Tahoma" panose="020B0604030504040204" pitchFamily="34" charset="0"/>
                <a:cs typeface="Tahoma" panose="020B0604030504040204" pitchFamily="34" charset="0"/>
              </a:rPr>
              <a:t>Lệnh </a:t>
            </a:r>
            <a:r>
              <a:rPr lang="en-US" b="1">
                <a:latin typeface="Tahoma" panose="020B0604030504040204" pitchFamily="34" charset="0"/>
                <a:ea typeface="Tahoma" panose="020B0604030504040204" pitchFamily="34" charset="0"/>
                <a:cs typeface="Tahoma" panose="020B0604030504040204" pitchFamily="34" charset="0"/>
              </a:rPr>
              <a:t>ALTER</a:t>
            </a:r>
            <a:r>
              <a:rPr lang="vi-VN">
                <a:latin typeface="Tahoma" panose="020B0604030504040204" pitchFamily="34" charset="0"/>
                <a:ea typeface="Tahoma" panose="020B0604030504040204" pitchFamily="34" charset="0"/>
                <a:cs typeface="Tahoma" panose="020B0604030504040204" pitchFamily="34" charset="0"/>
              </a:rPr>
              <a:t>: </a:t>
            </a:r>
            <a:r>
              <a:rPr lang="en-US">
                <a:latin typeface="Tahoma" panose="020B0604030504040204" pitchFamily="34" charset="0"/>
                <a:ea typeface="Tahoma" panose="020B0604030504040204" pitchFamily="34" charset="0"/>
                <a:cs typeface="Tahoma" panose="020B0604030504040204" pitchFamily="34" charset="0"/>
              </a:rPr>
              <a:t>Thay đổi </a:t>
            </a:r>
            <a:r>
              <a:rPr lang="vi-VN">
                <a:latin typeface="Tahoma" panose="020B0604030504040204" pitchFamily="34" charset="0"/>
                <a:ea typeface="Tahoma" panose="020B0604030504040204" pitchFamily="34" charset="0"/>
                <a:cs typeface="Tahoma" panose="020B0604030504040204" pitchFamily="34" charset="0"/>
              </a:rPr>
              <a:t>một bảng</a:t>
            </a:r>
            <a:r>
              <a:rPr lang="en-US">
                <a:latin typeface="Tahoma" panose="020B0604030504040204" pitchFamily="34" charset="0"/>
                <a:ea typeface="Tahoma" panose="020B0604030504040204" pitchFamily="34" charset="0"/>
                <a:cs typeface="Tahoma" panose="020B0604030504040204" pitchFamily="34" charset="0"/>
              </a:rPr>
              <a:t>(thêm/xóa cột)</a:t>
            </a:r>
            <a:r>
              <a:rPr lang="vi-VN">
                <a:latin typeface="Tahoma" panose="020B0604030504040204" pitchFamily="34" charset="0"/>
                <a:ea typeface="Tahoma" panose="020B0604030504040204" pitchFamily="34" charset="0"/>
                <a:cs typeface="Tahoma" panose="020B0604030504040204" pitchFamily="34" charset="0"/>
              </a:rPr>
              <a:t>, một View của bảng</a:t>
            </a:r>
          </a:p>
          <a:p>
            <a:pPr marL="85725" indent="0">
              <a:buNone/>
            </a:pPr>
            <a:endParaRPr lang="vi-VN" dirty="0">
              <a:latin typeface="Tahoma" panose="020B0604030504040204" pitchFamily="34" charset="0"/>
              <a:ea typeface="Tahoma" panose="020B0604030504040204" pitchFamily="34" charset="0"/>
              <a:cs typeface="Tahoma" panose="020B0604030504040204" pitchFamily="34" charset="0"/>
            </a:endParaRPr>
          </a:p>
          <a:p>
            <a:r>
              <a:rPr lang="vi-VN" b="1">
                <a:latin typeface="Tahoma" panose="020B0604030504040204" pitchFamily="34" charset="0"/>
                <a:ea typeface="Tahoma" panose="020B0604030504040204" pitchFamily="34" charset="0"/>
                <a:cs typeface="Tahoma" panose="020B0604030504040204" pitchFamily="34" charset="0"/>
              </a:rPr>
              <a:t>Lệnh </a:t>
            </a:r>
            <a:r>
              <a:rPr lang="vi-VN" b="1" dirty="0">
                <a:latin typeface="Tahoma" panose="020B0604030504040204" pitchFamily="34" charset="0"/>
                <a:ea typeface="Tahoma" panose="020B0604030504040204" pitchFamily="34" charset="0"/>
                <a:cs typeface="Tahoma" panose="020B0604030504040204" pitchFamily="34" charset="0"/>
              </a:rPr>
              <a:t>DROP</a:t>
            </a:r>
            <a:r>
              <a:rPr lang="vi-VN" dirty="0">
                <a:latin typeface="Tahoma" panose="020B0604030504040204" pitchFamily="34" charset="0"/>
                <a:ea typeface="Tahoma" panose="020B0604030504040204" pitchFamily="34" charset="0"/>
                <a:cs typeface="Tahoma" panose="020B0604030504040204" pitchFamily="34" charset="0"/>
              </a:rPr>
              <a:t>: Xóa toàn bộ một bảng, một View của bảng hoặc đối tượng khác trong một Database.</a:t>
            </a:r>
          </a:p>
          <a:p>
            <a:pPr marL="0" indent="0">
              <a:spcBef>
                <a:spcPts val="0"/>
              </a:spcBef>
              <a:buSzPts val="2400"/>
              <a:buNone/>
            </a:pPr>
            <a:endParaRPr b="1" dirty="0">
              <a:latin typeface="Tahoma" panose="020B0604030504040204" pitchFamily="34" charset="0"/>
              <a:ea typeface="Tahoma" panose="020B0604030504040204" pitchFamily="34" charset="0"/>
              <a:cs typeface="Tahoma" panose="020B0604030504040204" pitchFamily="34" charset="0"/>
              <a:sym typeface="Tahoma"/>
            </a:endParaRPr>
          </a:p>
        </p:txBody>
      </p:sp>
      <p:sp>
        <p:nvSpPr>
          <p:cNvPr id="146" name="Google Shape;146;p5"/>
          <p:cNvSpPr txBox="1">
            <a:spLocks noGrp="1"/>
          </p:cNvSpPr>
          <p:nvPr>
            <p:ph type="ftr" idx="4294967295"/>
          </p:nvPr>
        </p:nvSpPr>
        <p:spPr>
          <a:xfrm>
            <a:off x="7116763" y="4918075"/>
            <a:ext cx="2027237" cy="136525"/>
          </a:xfrm>
          <a:prstGeom prst="rect">
            <a:avLst/>
          </a:prstGeom>
          <a:noFill/>
          <a:ln>
            <a:noFill/>
          </a:ln>
        </p:spPr>
        <p:txBody>
          <a:bodyPr spcFirstLastPara="1" wrap="square" lIns="0" tIns="0" rIns="0" bIns="0" anchor="ctr" anchorCtr="0">
            <a:noAutofit/>
          </a:bodyPr>
          <a:lstStyle/>
          <a:p>
            <a:r>
              <a:rPr lang="en-US"/>
              <a:t>Confidential – Oracle Restricted</a:t>
            </a:r>
            <a:endParaRPr/>
          </a:p>
        </p:txBody>
      </p:sp>
      <p:sp>
        <p:nvSpPr>
          <p:cNvPr id="148" name="Google Shape;148;p5"/>
          <p:cNvSpPr/>
          <p:nvPr/>
        </p:nvSpPr>
        <p:spPr>
          <a:xfrm>
            <a:off x="4153113" y="4941623"/>
            <a:ext cx="3471623" cy="136922"/>
          </a:xfrm>
          <a:prstGeom prst="rect">
            <a:avLst/>
          </a:prstGeom>
          <a:solidFill>
            <a:srgbClr val="D1DDE5"/>
          </a:solidFill>
          <a:ln>
            <a:noFill/>
          </a:ln>
        </p:spPr>
        <p:txBody>
          <a:bodyPr spcFirstLastPara="1" wrap="square" lIns="68569" tIns="34275" rIns="68569" bIns="34275" anchor="ctr" anchorCtr="0">
            <a:noAutofit/>
          </a:bodyPr>
          <a:lstStyle/>
          <a:p>
            <a:pPr algn="ctr">
              <a:lnSpc>
                <a:spcPct val="90000"/>
              </a:lnSpc>
            </a:pPr>
            <a:endParaRPr sz="135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764208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Data definition language</a:t>
            </a:r>
            <a:endParaRPr/>
          </a:p>
        </p:txBody>
      </p:sp>
      <p:sp>
        <p:nvSpPr>
          <p:cNvPr id="79" name="Google Shape;79;p15"/>
          <p:cNvSpPr txBox="1">
            <a:spLocks noGrp="1"/>
          </p:cNvSpPr>
          <p:nvPr>
            <p:ph type="body" idx="4294967295"/>
          </p:nvPr>
        </p:nvSpPr>
        <p:spPr>
          <a:xfrm>
            <a:off x="471900" y="876300"/>
            <a:ext cx="3437100" cy="4305300"/>
          </a:xfrm>
          <a:prstGeom prst="rect">
            <a:avLst/>
          </a:prstGeom>
        </p:spPr>
        <p:txBody>
          <a:bodyPr spcFirstLastPara="1" wrap="square" lIns="91425" tIns="91425" rIns="91425" bIns="91425" anchor="t" anchorCtr="0">
            <a:noAutofit/>
          </a:bodyPr>
          <a:lstStyle/>
          <a:p>
            <a:pPr marL="0" lvl="0" indent="0" algn="l" rtl="0">
              <a:spcBef>
                <a:spcPts val="1800"/>
              </a:spcBef>
              <a:spcAft>
                <a:spcPts val="0"/>
              </a:spcAft>
              <a:buNone/>
            </a:pPr>
            <a:r>
              <a:rPr lang="vi" sz="1700" b="1">
                <a:solidFill>
                  <a:srgbClr val="000000"/>
                </a:solidFill>
                <a:latin typeface="Arial"/>
                <a:ea typeface="Arial"/>
                <a:cs typeface="Arial"/>
                <a:sym typeface="Arial"/>
              </a:rPr>
              <a:t>CREATE SCHEMA</a:t>
            </a:r>
            <a:endParaRPr sz="1700" b="1">
              <a:solidFill>
                <a:srgbClr val="000000"/>
              </a:solidFill>
              <a:latin typeface="Arial"/>
              <a:ea typeface="Arial"/>
              <a:cs typeface="Arial"/>
              <a:sym typeface="Arial"/>
            </a:endParaRPr>
          </a:p>
          <a:p>
            <a:pPr marL="0" lvl="0" indent="0" algn="l" rtl="0">
              <a:spcBef>
                <a:spcPts val="1800"/>
              </a:spcBef>
              <a:spcAft>
                <a:spcPts val="0"/>
              </a:spcAft>
              <a:buNone/>
            </a:pPr>
            <a:r>
              <a:rPr lang="vi" sz="1700" b="1">
                <a:solidFill>
                  <a:srgbClr val="000000"/>
                </a:solidFill>
                <a:latin typeface="Arial"/>
                <a:ea typeface="Arial"/>
                <a:cs typeface="Arial"/>
                <a:sym typeface="Arial"/>
              </a:rPr>
              <a:t>CREATE TABLE</a:t>
            </a:r>
            <a:endParaRPr sz="1700" b="1">
              <a:solidFill>
                <a:srgbClr val="000000"/>
              </a:solidFill>
              <a:latin typeface="Arial"/>
              <a:ea typeface="Arial"/>
              <a:cs typeface="Arial"/>
              <a:sym typeface="Arial"/>
            </a:endParaRPr>
          </a:p>
          <a:p>
            <a:pPr marL="0" lvl="0" indent="0" algn="l" rtl="0">
              <a:spcBef>
                <a:spcPts val="1800"/>
              </a:spcBef>
              <a:spcAft>
                <a:spcPts val="0"/>
              </a:spcAft>
              <a:buNone/>
            </a:pPr>
            <a:r>
              <a:rPr lang="vi" sz="1700" b="1">
                <a:solidFill>
                  <a:srgbClr val="000000"/>
                </a:solidFill>
                <a:latin typeface="Arial"/>
                <a:ea typeface="Arial"/>
                <a:cs typeface="Arial"/>
                <a:sym typeface="Arial"/>
              </a:rPr>
              <a:t>CREATE VIEW</a:t>
            </a:r>
            <a:endParaRPr sz="1700" b="1">
              <a:solidFill>
                <a:srgbClr val="000000"/>
              </a:solidFill>
              <a:latin typeface="Arial"/>
              <a:ea typeface="Arial"/>
              <a:cs typeface="Arial"/>
              <a:sym typeface="Arial"/>
            </a:endParaRPr>
          </a:p>
          <a:p>
            <a:pPr marL="0" lvl="0" indent="0" algn="l" rtl="0">
              <a:spcBef>
                <a:spcPts val="1800"/>
              </a:spcBef>
              <a:spcAft>
                <a:spcPts val="0"/>
              </a:spcAft>
              <a:buNone/>
            </a:pPr>
            <a:r>
              <a:rPr lang="vi" sz="1700" b="1">
                <a:solidFill>
                  <a:srgbClr val="000000"/>
                </a:solidFill>
                <a:latin typeface="Arial"/>
                <a:ea typeface="Arial"/>
                <a:cs typeface="Arial"/>
                <a:sym typeface="Arial"/>
              </a:rPr>
              <a:t>CREATE FUNCTION</a:t>
            </a:r>
            <a:endParaRPr sz="1700" b="1">
              <a:solidFill>
                <a:srgbClr val="000000"/>
              </a:solidFill>
              <a:latin typeface="Arial"/>
              <a:ea typeface="Arial"/>
              <a:cs typeface="Arial"/>
              <a:sym typeface="Arial"/>
            </a:endParaRPr>
          </a:p>
          <a:p>
            <a:pPr marL="0" lvl="0" indent="0" algn="l" rtl="0">
              <a:spcBef>
                <a:spcPts val="1800"/>
              </a:spcBef>
              <a:spcAft>
                <a:spcPts val="0"/>
              </a:spcAft>
              <a:buNone/>
            </a:pPr>
            <a:r>
              <a:rPr lang="vi" sz="1700" b="1">
                <a:solidFill>
                  <a:srgbClr val="000000"/>
                </a:solidFill>
                <a:latin typeface="Arial"/>
                <a:ea typeface="Arial"/>
                <a:cs typeface="Arial"/>
                <a:sym typeface="Arial"/>
              </a:rPr>
              <a:t>CREATE PROCEDURE</a:t>
            </a:r>
            <a:endParaRPr sz="1700" b="1">
              <a:solidFill>
                <a:srgbClr val="000000"/>
              </a:solidFill>
              <a:latin typeface="Arial"/>
              <a:ea typeface="Arial"/>
              <a:cs typeface="Arial"/>
              <a:sym typeface="Arial"/>
            </a:endParaRPr>
          </a:p>
          <a:p>
            <a:pPr marL="0" lvl="0" indent="0" algn="l" rtl="0">
              <a:spcBef>
                <a:spcPts val="1800"/>
              </a:spcBef>
              <a:spcAft>
                <a:spcPts val="0"/>
              </a:spcAft>
              <a:buNone/>
            </a:pPr>
            <a:r>
              <a:rPr lang="vi" sz="1700" b="1">
                <a:solidFill>
                  <a:srgbClr val="000000"/>
                </a:solidFill>
                <a:latin typeface="Arial"/>
                <a:ea typeface="Arial"/>
                <a:cs typeface="Arial"/>
                <a:sym typeface="Arial"/>
              </a:rPr>
              <a:t>ALTER TABLE ADD COLUMN</a:t>
            </a:r>
            <a:endParaRPr sz="1700" b="1">
              <a:solidFill>
                <a:srgbClr val="000000"/>
              </a:solidFill>
              <a:latin typeface="Arial"/>
              <a:ea typeface="Arial"/>
              <a:cs typeface="Arial"/>
              <a:sym typeface="Arial"/>
            </a:endParaRPr>
          </a:p>
          <a:p>
            <a:pPr marL="0" lvl="0" indent="0" algn="l" rtl="0">
              <a:spcBef>
                <a:spcPts val="1800"/>
              </a:spcBef>
              <a:spcAft>
                <a:spcPts val="0"/>
              </a:spcAft>
              <a:buNone/>
            </a:pPr>
            <a:endParaRPr sz="1700" b="1">
              <a:solidFill>
                <a:srgbClr val="000000"/>
              </a:solidFill>
              <a:latin typeface="Arial"/>
              <a:ea typeface="Arial"/>
              <a:cs typeface="Arial"/>
              <a:sym typeface="Arial"/>
            </a:endParaRPr>
          </a:p>
          <a:p>
            <a:pPr marL="0" lvl="0" indent="0" algn="l" rtl="0">
              <a:spcBef>
                <a:spcPts val="1800"/>
              </a:spcBef>
              <a:spcAft>
                <a:spcPts val="0"/>
              </a:spcAft>
              <a:buNone/>
            </a:pPr>
            <a:endParaRPr sz="1700" b="1">
              <a:solidFill>
                <a:srgbClr val="000000"/>
              </a:solidFill>
              <a:latin typeface="Arial"/>
              <a:ea typeface="Arial"/>
              <a:cs typeface="Arial"/>
              <a:sym typeface="Arial"/>
            </a:endParaRPr>
          </a:p>
          <a:p>
            <a:pPr marL="0" lvl="0" indent="0" algn="l" rtl="0">
              <a:spcBef>
                <a:spcPts val="1800"/>
              </a:spcBef>
              <a:spcAft>
                <a:spcPts val="400"/>
              </a:spcAft>
              <a:buNone/>
            </a:pPr>
            <a:endParaRPr sz="1700" b="1">
              <a:solidFill>
                <a:srgbClr val="000000"/>
              </a:solidFill>
              <a:latin typeface="Arial"/>
              <a:ea typeface="Arial"/>
              <a:cs typeface="Arial"/>
              <a:sym typeface="Arial"/>
            </a:endParaRPr>
          </a:p>
        </p:txBody>
      </p:sp>
      <p:sp>
        <p:nvSpPr>
          <p:cNvPr id="80" name="Google Shape;80;p15"/>
          <p:cNvSpPr txBox="1">
            <a:spLocks noGrp="1"/>
          </p:cNvSpPr>
          <p:nvPr>
            <p:ph type="body" idx="4294967295"/>
          </p:nvPr>
        </p:nvSpPr>
        <p:spPr>
          <a:xfrm>
            <a:off x="5097250" y="838200"/>
            <a:ext cx="3437100" cy="4305300"/>
          </a:xfrm>
          <a:prstGeom prst="rect">
            <a:avLst/>
          </a:prstGeom>
        </p:spPr>
        <p:txBody>
          <a:bodyPr spcFirstLastPara="1" wrap="square" lIns="91425" tIns="91425" rIns="91425" bIns="91425" anchor="t" anchorCtr="0">
            <a:noAutofit/>
          </a:bodyPr>
          <a:lstStyle/>
          <a:p>
            <a:pPr marL="0" lvl="0" indent="0" algn="l" rtl="0">
              <a:spcBef>
                <a:spcPts val="1800"/>
              </a:spcBef>
              <a:spcAft>
                <a:spcPts val="0"/>
              </a:spcAft>
              <a:buNone/>
            </a:pPr>
            <a:r>
              <a:rPr lang="vi" sz="1700" b="1">
                <a:solidFill>
                  <a:srgbClr val="FF0000"/>
                </a:solidFill>
                <a:latin typeface="Arial"/>
                <a:ea typeface="Arial"/>
                <a:cs typeface="Arial"/>
                <a:sym typeface="Arial"/>
              </a:rPr>
              <a:t>DROP SCHEMA</a:t>
            </a:r>
            <a:endParaRPr sz="1700" b="1">
              <a:solidFill>
                <a:srgbClr val="FF0000"/>
              </a:solidFill>
              <a:latin typeface="Arial"/>
              <a:ea typeface="Arial"/>
              <a:cs typeface="Arial"/>
              <a:sym typeface="Arial"/>
            </a:endParaRPr>
          </a:p>
          <a:p>
            <a:pPr marL="0" lvl="0" indent="0" algn="l" rtl="0">
              <a:spcBef>
                <a:spcPts val="1800"/>
              </a:spcBef>
              <a:spcAft>
                <a:spcPts val="0"/>
              </a:spcAft>
              <a:buNone/>
            </a:pPr>
            <a:r>
              <a:rPr lang="vi" sz="1700" b="1">
                <a:solidFill>
                  <a:srgbClr val="FF0000"/>
                </a:solidFill>
                <a:latin typeface="Arial"/>
                <a:ea typeface="Arial"/>
                <a:cs typeface="Arial"/>
                <a:sym typeface="Arial"/>
              </a:rPr>
              <a:t>DROP TABLE</a:t>
            </a:r>
            <a:endParaRPr sz="1700" b="1">
              <a:solidFill>
                <a:srgbClr val="FF0000"/>
              </a:solidFill>
              <a:latin typeface="Arial"/>
              <a:ea typeface="Arial"/>
              <a:cs typeface="Arial"/>
              <a:sym typeface="Arial"/>
            </a:endParaRPr>
          </a:p>
          <a:p>
            <a:pPr marL="0" lvl="0" indent="0" algn="l" rtl="0">
              <a:spcBef>
                <a:spcPts val="1800"/>
              </a:spcBef>
              <a:spcAft>
                <a:spcPts val="0"/>
              </a:spcAft>
              <a:buNone/>
            </a:pPr>
            <a:r>
              <a:rPr lang="vi" sz="1700" b="1">
                <a:solidFill>
                  <a:srgbClr val="FF0000"/>
                </a:solidFill>
                <a:latin typeface="Arial"/>
                <a:ea typeface="Arial"/>
                <a:cs typeface="Arial"/>
                <a:sym typeface="Arial"/>
              </a:rPr>
              <a:t>DROP VIEW</a:t>
            </a:r>
            <a:endParaRPr sz="1700" b="1">
              <a:solidFill>
                <a:srgbClr val="FF0000"/>
              </a:solidFill>
              <a:latin typeface="Arial"/>
              <a:ea typeface="Arial"/>
              <a:cs typeface="Arial"/>
              <a:sym typeface="Arial"/>
            </a:endParaRPr>
          </a:p>
          <a:p>
            <a:pPr marL="0" lvl="0" indent="0" algn="l" rtl="0">
              <a:spcBef>
                <a:spcPts val="1800"/>
              </a:spcBef>
              <a:spcAft>
                <a:spcPts val="0"/>
              </a:spcAft>
              <a:buNone/>
            </a:pPr>
            <a:r>
              <a:rPr lang="vi" sz="1700" b="1">
                <a:solidFill>
                  <a:srgbClr val="FF0000"/>
                </a:solidFill>
                <a:latin typeface="Arial"/>
                <a:ea typeface="Arial"/>
                <a:cs typeface="Arial"/>
                <a:sym typeface="Arial"/>
              </a:rPr>
              <a:t>DROP FUNCTION</a:t>
            </a:r>
            <a:endParaRPr sz="1700" b="1">
              <a:solidFill>
                <a:srgbClr val="FF0000"/>
              </a:solidFill>
              <a:latin typeface="Arial"/>
              <a:ea typeface="Arial"/>
              <a:cs typeface="Arial"/>
              <a:sym typeface="Arial"/>
            </a:endParaRPr>
          </a:p>
          <a:p>
            <a:pPr marL="0" lvl="0" indent="0" algn="l" rtl="0">
              <a:spcBef>
                <a:spcPts val="1800"/>
              </a:spcBef>
              <a:spcAft>
                <a:spcPts val="0"/>
              </a:spcAft>
              <a:buNone/>
            </a:pPr>
            <a:r>
              <a:rPr lang="vi" sz="1700" b="1">
                <a:solidFill>
                  <a:srgbClr val="FF0000"/>
                </a:solidFill>
                <a:latin typeface="Arial"/>
                <a:ea typeface="Arial"/>
                <a:cs typeface="Arial"/>
                <a:sym typeface="Arial"/>
              </a:rPr>
              <a:t>DROP PROCEDURE</a:t>
            </a:r>
            <a:endParaRPr sz="1700" b="1">
              <a:solidFill>
                <a:srgbClr val="FF0000"/>
              </a:solidFill>
              <a:latin typeface="Arial"/>
              <a:ea typeface="Arial"/>
              <a:cs typeface="Arial"/>
              <a:sym typeface="Arial"/>
            </a:endParaRPr>
          </a:p>
          <a:p>
            <a:pPr marL="0" lvl="0" indent="0" algn="l" rtl="0">
              <a:spcBef>
                <a:spcPts val="1800"/>
              </a:spcBef>
              <a:spcAft>
                <a:spcPts val="400"/>
              </a:spcAft>
              <a:buNone/>
            </a:pPr>
            <a:r>
              <a:rPr lang="vi" sz="1700" b="1">
                <a:solidFill>
                  <a:srgbClr val="FF0000"/>
                </a:solidFill>
                <a:latin typeface="Arial"/>
                <a:ea typeface="Arial"/>
                <a:cs typeface="Arial"/>
                <a:sym typeface="Arial"/>
              </a:rPr>
              <a:t>ALTER TABLE DROP COLUMN</a:t>
            </a:r>
            <a:endParaRPr sz="1700" b="1">
              <a:solidFill>
                <a:srgbClr val="FF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000000"/>
                </a:solidFill>
                <a:latin typeface="Arial"/>
                <a:ea typeface="Arial"/>
                <a:cs typeface="Arial"/>
                <a:sym typeface="Arial"/>
              </a:rPr>
              <a:t>CREATE SCHEMA</a:t>
            </a:r>
            <a:endParaRPr/>
          </a:p>
        </p:txBody>
      </p:sp>
      <p:sp>
        <p:nvSpPr>
          <p:cNvPr id="86" name="Google Shape;86;p16"/>
          <p:cNvSpPr txBox="1">
            <a:spLocks noGrp="1"/>
          </p:cNvSpPr>
          <p:nvPr>
            <p:ph type="body" idx="4294967295"/>
          </p:nvPr>
        </p:nvSpPr>
        <p:spPr>
          <a:xfrm>
            <a:off x="471900" y="876300"/>
            <a:ext cx="8222100" cy="3753000"/>
          </a:xfrm>
          <a:prstGeom prst="rect">
            <a:avLst/>
          </a:prstGeom>
        </p:spPr>
        <p:txBody>
          <a:bodyPr spcFirstLastPara="1" wrap="square" lIns="91425" tIns="91425" rIns="91425" bIns="91425" anchor="t" anchorCtr="0">
            <a:noAutofit/>
          </a:bodyPr>
          <a:lstStyle/>
          <a:p>
            <a:pPr marL="0" lvl="0" indent="0" algn="l" rtl="0">
              <a:spcBef>
                <a:spcPts val="1800"/>
              </a:spcBef>
              <a:spcAft>
                <a:spcPts val="0"/>
              </a:spcAft>
              <a:buNone/>
            </a:pPr>
            <a:r>
              <a:rPr lang="vi" sz="1000" b="1">
                <a:solidFill>
                  <a:srgbClr val="37474F"/>
                </a:solidFill>
                <a:latin typeface="Tahoma"/>
                <a:ea typeface="Tahoma"/>
                <a:cs typeface="Tahoma"/>
                <a:sym typeface="Tahoma"/>
              </a:rPr>
              <a:t>CREATE SCHEMA</a:t>
            </a:r>
            <a:r>
              <a:rPr lang="vi" sz="1000">
                <a:solidFill>
                  <a:srgbClr val="37474F"/>
                </a:solidFill>
                <a:latin typeface="Tahoma"/>
                <a:ea typeface="Tahoma"/>
                <a:cs typeface="Tahoma"/>
                <a:sym typeface="Tahoma"/>
              </a:rPr>
              <a:t> [IF NOT EXISTS]</a:t>
            </a:r>
            <a:endParaRPr sz="1000">
              <a:solidFill>
                <a:srgbClr val="37474F"/>
              </a:solidFill>
              <a:latin typeface="Tahoma"/>
              <a:ea typeface="Tahoma"/>
              <a:cs typeface="Tahoma"/>
              <a:sym typeface="Tahoma"/>
            </a:endParaRPr>
          </a:p>
          <a:p>
            <a:pPr marL="0" lvl="0" indent="0" algn="l" rtl="0">
              <a:spcBef>
                <a:spcPts val="1800"/>
              </a:spcBef>
              <a:spcAft>
                <a:spcPts val="0"/>
              </a:spcAft>
              <a:buNone/>
            </a:pPr>
            <a:r>
              <a:rPr lang="vi" sz="1000">
                <a:solidFill>
                  <a:srgbClr val="37474F"/>
                </a:solidFill>
                <a:latin typeface="Tahoma"/>
                <a:ea typeface="Tahoma"/>
                <a:cs typeface="Tahoma"/>
                <a:sym typeface="Tahoma"/>
              </a:rPr>
              <a:t>[</a:t>
            </a:r>
            <a:r>
              <a:rPr lang="vi" sz="1000" b="1">
                <a:solidFill>
                  <a:srgbClr val="37474F"/>
                </a:solidFill>
                <a:latin typeface="Tahoma"/>
                <a:ea typeface="Tahoma"/>
                <a:cs typeface="Tahoma"/>
                <a:sym typeface="Tahoma"/>
              </a:rPr>
              <a:t>project_name</a:t>
            </a:r>
            <a:r>
              <a:rPr lang="vi" sz="1000">
                <a:solidFill>
                  <a:srgbClr val="37474F"/>
                </a:solidFill>
                <a:latin typeface="Tahoma"/>
                <a:ea typeface="Tahoma"/>
                <a:cs typeface="Tahoma"/>
                <a:sym typeface="Tahoma"/>
              </a:rPr>
              <a:t>.]</a:t>
            </a:r>
            <a:r>
              <a:rPr lang="vi" sz="1000" b="1">
                <a:solidFill>
                  <a:srgbClr val="37474F"/>
                </a:solidFill>
                <a:latin typeface="Tahoma"/>
                <a:ea typeface="Tahoma"/>
                <a:cs typeface="Tahoma"/>
                <a:sym typeface="Tahoma"/>
              </a:rPr>
              <a:t>dataset_name</a:t>
            </a:r>
            <a:endParaRPr sz="1000">
              <a:solidFill>
                <a:srgbClr val="37474F"/>
              </a:solidFill>
              <a:latin typeface="Tahoma"/>
              <a:ea typeface="Tahoma"/>
              <a:cs typeface="Tahoma"/>
              <a:sym typeface="Tahoma"/>
            </a:endParaRPr>
          </a:p>
          <a:p>
            <a:pPr marL="0" lvl="0" indent="0" algn="l" rtl="0">
              <a:lnSpc>
                <a:spcPct val="142857"/>
              </a:lnSpc>
              <a:spcBef>
                <a:spcPts val="400"/>
              </a:spcBef>
              <a:spcAft>
                <a:spcPts val="0"/>
              </a:spcAft>
              <a:buNone/>
            </a:pPr>
            <a:r>
              <a:rPr lang="vi" sz="1000">
                <a:solidFill>
                  <a:srgbClr val="37474F"/>
                </a:solidFill>
                <a:latin typeface="Tahoma"/>
                <a:ea typeface="Tahoma"/>
                <a:cs typeface="Tahoma"/>
                <a:sym typeface="Tahoma"/>
              </a:rPr>
              <a:t>[OPTIONS(</a:t>
            </a:r>
            <a:r>
              <a:rPr lang="vi" sz="1000" b="1" u="sng">
                <a:solidFill>
                  <a:schemeClr val="hlink"/>
                </a:solidFill>
                <a:latin typeface="Tahoma"/>
                <a:ea typeface="Tahoma"/>
                <a:cs typeface="Tahoma"/>
                <a:sym typeface="Tahoma"/>
                <a:hlinkClick r:id="rId3"/>
              </a:rPr>
              <a:t>schema_option_list</a:t>
            </a:r>
            <a:r>
              <a:rPr lang="vi" sz="1000">
                <a:solidFill>
                  <a:srgbClr val="37474F"/>
                </a:solidFill>
                <a:latin typeface="Tahoma"/>
                <a:ea typeface="Tahoma"/>
                <a:cs typeface="Tahoma"/>
                <a:sym typeface="Tahoma"/>
              </a:rPr>
              <a:t>)]</a:t>
            </a:r>
            <a:endParaRPr sz="1000">
              <a:solidFill>
                <a:srgbClr val="37474F"/>
              </a:solidFill>
              <a:latin typeface="Tahoma"/>
              <a:ea typeface="Tahoma"/>
              <a:cs typeface="Tahoma"/>
              <a:sym typeface="Tahoma"/>
            </a:endParaRPr>
          </a:p>
          <a:p>
            <a:pPr marL="457200" lvl="0" indent="-292100" algn="l" rtl="0">
              <a:spcBef>
                <a:spcPts val="900"/>
              </a:spcBef>
              <a:spcAft>
                <a:spcPts val="0"/>
              </a:spcAft>
              <a:buClr>
                <a:srgbClr val="202124"/>
              </a:buClr>
              <a:buSzPts val="1000"/>
              <a:buChar char="●"/>
            </a:pPr>
            <a:r>
              <a:rPr lang="vi" sz="1000">
                <a:solidFill>
                  <a:srgbClr val="37474F"/>
                </a:solidFill>
                <a:highlight>
                  <a:srgbClr val="FFFFFF"/>
                </a:highlight>
                <a:latin typeface="Tahoma"/>
                <a:ea typeface="Tahoma"/>
                <a:cs typeface="Tahoma"/>
                <a:sym typeface="Tahoma"/>
              </a:rPr>
              <a:t>IF NOT EXISTS</a:t>
            </a:r>
            <a:r>
              <a:rPr lang="vi" sz="1000">
                <a:solidFill>
                  <a:srgbClr val="202124"/>
                </a:solidFill>
                <a:highlight>
                  <a:srgbClr val="FFFFFF"/>
                </a:highlight>
                <a:latin typeface="Tahoma"/>
                <a:ea typeface="Tahoma"/>
                <a:cs typeface="Tahoma"/>
                <a:sym typeface="Tahoma"/>
              </a:rPr>
              <a:t>: If you include this clause and the dataset already exists, then the statement succeeds with no action. If you omit this clause and the dataset already exists, then the statement returns an error.</a:t>
            </a:r>
            <a:endParaRPr sz="1000">
              <a:solidFill>
                <a:srgbClr val="202124"/>
              </a:solidFill>
              <a:highlight>
                <a:srgbClr val="FFFFFF"/>
              </a:highlight>
              <a:latin typeface="Tahoma"/>
              <a:ea typeface="Tahoma"/>
              <a:cs typeface="Tahoma"/>
              <a:sym typeface="Tahoma"/>
            </a:endParaRPr>
          </a:p>
          <a:p>
            <a:pPr marL="457200" lvl="0" indent="-292100" algn="l" rtl="0">
              <a:spcBef>
                <a:spcPts val="0"/>
              </a:spcBef>
              <a:spcAft>
                <a:spcPts val="0"/>
              </a:spcAft>
              <a:buClr>
                <a:srgbClr val="202124"/>
              </a:buClr>
              <a:buSzPts val="1000"/>
              <a:buChar char="●"/>
            </a:pPr>
            <a:r>
              <a:rPr lang="vi" sz="1000">
                <a:solidFill>
                  <a:srgbClr val="37474F"/>
                </a:solidFill>
                <a:highlight>
                  <a:srgbClr val="FFFFFF"/>
                </a:highlight>
                <a:latin typeface="Tahoma"/>
                <a:ea typeface="Tahoma"/>
                <a:cs typeface="Tahoma"/>
                <a:sym typeface="Tahoma"/>
              </a:rPr>
              <a:t>project_name</a:t>
            </a:r>
            <a:r>
              <a:rPr lang="vi" sz="1000">
                <a:solidFill>
                  <a:srgbClr val="202124"/>
                </a:solidFill>
                <a:highlight>
                  <a:srgbClr val="FFFFFF"/>
                </a:highlight>
                <a:latin typeface="Tahoma"/>
                <a:ea typeface="Tahoma"/>
                <a:cs typeface="Tahoma"/>
                <a:sym typeface="Tahoma"/>
              </a:rPr>
              <a:t> is the name of the project where you are creating the dataset. Defaults to the project that runs this DDL statement.</a:t>
            </a:r>
            <a:endParaRPr sz="1000">
              <a:solidFill>
                <a:srgbClr val="202124"/>
              </a:solidFill>
              <a:highlight>
                <a:srgbClr val="FFFFFF"/>
              </a:highlight>
              <a:latin typeface="Tahoma"/>
              <a:ea typeface="Tahoma"/>
              <a:cs typeface="Tahoma"/>
              <a:sym typeface="Tahoma"/>
            </a:endParaRPr>
          </a:p>
          <a:p>
            <a:pPr marL="457200" lvl="0" indent="-292100" algn="l" rtl="0">
              <a:spcBef>
                <a:spcPts val="0"/>
              </a:spcBef>
              <a:spcAft>
                <a:spcPts val="0"/>
              </a:spcAft>
              <a:buClr>
                <a:srgbClr val="202124"/>
              </a:buClr>
              <a:buSzPts val="1000"/>
              <a:buChar char="●"/>
            </a:pPr>
            <a:r>
              <a:rPr lang="vi" sz="1000">
                <a:solidFill>
                  <a:srgbClr val="37474F"/>
                </a:solidFill>
                <a:highlight>
                  <a:srgbClr val="FFFFFF"/>
                </a:highlight>
                <a:latin typeface="Tahoma"/>
                <a:ea typeface="Tahoma"/>
                <a:cs typeface="Tahoma"/>
                <a:sym typeface="Tahoma"/>
              </a:rPr>
              <a:t>dataset_name</a:t>
            </a:r>
            <a:r>
              <a:rPr lang="vi" sz="1000">
                <a:solidFill>
                  <a:srgbClr val="202124"/>
                </a:solidFill>
                <a:highlight>
                  <a:srgbClr val="FFFFFF"/>
                </a:highlight>
                <a:latin typeface="Tahoma"/>
                <a:ea typeface="Tahoma"/>
                <a:cs typeface="Tahoma"/>
                <a:sym typeface="Tahoma"/>
              </a:rPr>
              <a:t> is the name of the dataset to create.</a:t>
            </a:r>
            <a:endParaRPr sz="1000">
              <a:solidFill>
                <a:srgbClr val="202124"/>
              </a:solidFill>
              <a:highlight>
                <a:srgbClr val="FFFFFF"/>
              </a:highlight>
              <a:latin typeface="Tahoma"/>
              <a:ea typeface="Tahoma"/>
              <a:cs typeface="Tahoma"/>
              <a:sym typeface="Tahoma"/>
            </a:endParaRPr>
          </a:p>
          <a:p>
            <a:pPr marL="457200" lvl="0" indent="-292100" algn="l" rtl="0">
              <a:spcBef>
                <a:spcPts val="0"/>
              </a:spcBef>
              <a:spcAft>
                <a:spcPts val="0"/>
              </a:spcAft>
              <a:buClr>
                <a:srgbClr val="202124"/>
              </a:buClr>
              <a:buSzPts val="1000"/>
              <a:buChar char="●"/>
            </a:pPr>
            <a:r>
              <a:rPr lang="vi" sz="1000" u="sng">
                <a:solidFill>
                  <a:srgbClr val="185ABC"/>
                </a:solidFill>
                <a:highlight>
                  <a:srgbClr val="FFFFFF"/>
                </a:highlight>
                <a:latin typeface="Tahoma"/>
                <a:ea typeface="Tahoma"/>
                <a:cs typeface="Tahoma"/>
                <a:sym typeface="Tahoma"/>
                <a:hlinkClick r:id="rId3">
                  <a:extLst>
                    <a:ext uri="{A12FA001-AC4F-418D-AE19-62706E023703}">
                      <ahyp:hlinkClr xmlns:ahyp="http://schemas.microsoft.com/office/drawing/2018/hyperlinkcolor" val="tx"/>
                    </a:ext>
                  </a:extLst>
                </a:hlinkClick>
              </a:rPr>
              <a:t>schema_option_list</a:t>
            </a:r>
            <a:r>
              <a:rPr lang="vi" sz="1000">
                <a:solidFill>
                  <a:srgbClr val="202124"/>
                </a:solidFill>
                <a:highlight>
                  <a:srgbClr val="FFFFFF"/>
                </a:highlight>
                <a:latin typeface="Tahoma"/>
                <a:ea typeface="Tahoma"/>
                <a:cs typeface="Tahoma"/>
                <a:sym typeface="Tahoma"/>
              </a:rPr>
              <a:t> specifies a list of options for creating the dataset.</a:t>
            </a:r>
            <a:endParaRPr sz="1000">
              <a:solidFill>
                <a:srgbClr val="202124"/>
              </a:solidFill>
              <a:highlight>
                <a:srgbClr val="FFFFFF"/>
              </a:highlight>
              <a:latin typeface="Tahoma"/>
              <a:ea typeface="Tahoma"/>
              <a:cs typeface="Tahoma"/>
              <a:sym typeface="Tahoma"/>
            </a:endParaRPr>
          </a:p>
          <a:p>
            <a:pPr marL="0" lvl="0" indent="0" algn="l" rtl="0">
              <a:spcBef>
                <a:spcPts val="1800"/>
              </a:spcBef>
              <a:spcAft>
                <a:spcPts val="0"/>
              </a:spcAft>
              <a:buNone/>
            </a:pPr>
            <a:r>
              <a:rPr lang="vi" sz="1000">
                <a:solidFill>
                  <a:srgbClr val="202124"/>
                </a:solidFill>
                <a:highlight>
                  <a:srgbClr val="FFFFFF"/>
                </a:highlight>
                <a:latin typeface="Tahoma"/>
                <a:ea typeface="Tahoma"/>
                <a:cs typeface="Tahoma"/>
                <a:sym typeface="Tahoma"/>
              </a:rPr>
              <a:t>Example:</a:t>
            </a:r>
            <a:endParaRPr sz="1000">
              <a:solidFill>
                <a:srgbClr val="202124"/>
              </a:solidFill>
              <a:highlight>
                <a:srgbClr val="FFFFFF"/>
              </a:highlight>
              <a:latin typeface="Tahoma"/>
              <a:ea typeface="Tahoma"/>
              <a:cs typeface="Tahoma"/>
              <a:sym typeface="Tahoma"/>
            </a:endParaRPr>
          </a:p>
          <a:p>
            <a:pPr marL="0" lvl="0" indent="0" algn="l" rtl="0">
              <a:spcBef>
                <a:spcPts val="1800"/>
              </a:spcBef>
              <a:spcAft>
                <a:spcPts val="0"/>
              </a:spcAft>
              <a:buNone/>
            </a:pPr>
            <a:r>
              <a:rPr lang="vi" sz="1000">
                <a:solidFill>
                  <a:srgbClr val="3B78E7"/>
                </a:solidFill>
                <a:latin typeface="Tahoma"/>
                <a:ea typeface="Tahoma"/>
                <a:cs typeface="Tahoma"/>
                <a:sym typeface="Tahoma"/>
              </a:rPr>
              <a:t>CREATE</a:t>
            </a:r>
            <a:r>
              <a:rPr lang="vi" sz="1000">
                <a:solidFill>
                  <a:srgbClr val="37474F"/>
                </a:solidFill>
                <a:latin typeface="Tahoma"/>
                <a:ea typeface="Tahoma"/>
                <a:cs typeface="Tahoma"/>
                <a:sym typeface="Tahoma"/>
              </a:rPr>
              <a:t> </a:t>
            </a:r>
            <a:r>
              <a:rPr lang="vi" sz="1000">
                <a:solidFill>
                  <a:srgbClr val="3B78E7"/>
                </a:solidFill>
                <a:latin typeface="Tahoma"/>
                <a:ea typeface="Tahoma"/>
                <a:cs typeface="Tahoma"/>
                <a:sym typeface="Tahoma"/>
              </a:rPr>
              <a:t>SCHEMA</a:t>
            </a:r>
            <a:r>
              <a:rPr lang="vi" sz="1000">
                <a:solidFill>
                  <a:srgbClr val="37474F"/>
                </a:solidFill>
                <a:latin typeface="Tahoma"/>
                <a:ea typeface="Tahoma"/>
                <a:cs typeface="Tahoma"/>
                <a:sym typeface="Tahoma"/>
              </a:rPr>
              <a:t> mydataset</a:t>
            </a:r>
            <a:endParaRPr sz="1000">
              <a:solidFill>
                <a:srgbClr val="37474F"/>
              </a:solidFill>
              <a:latin typeface="Tahoma"/>
              <a:ea typeface="Tahoma"/>
              <a:cs typeface="Tahoma"/>
              <a:sym typeface="Tahoma"/>
            </a:endParaRPr>
          </a:p>
          <a:p>
            <a:pPr marL="0" lvl="0" indent="0" algn="l" rtl="0">
              <a:lnSpc>
                <a:spcPct val="142857"/>
              </a:lnSpc>
              <a:spcBef>
                <a:spcPts val="400"/>
              </a:spcBef>
              <a:spcAft>
                <a:spcPts val="0"/>
              </a:spcAft>
              <a:buNone/>
            </a:pPr>
            <a:r>
              <a:rPr lang="vi" sz="1000">
                <a:solidFill>
                  <a:srgbClr val="37474F"/>
                </a:solidFill>
                <a:latin typeface="Tahoma"/>
                <a:ea typeface="Tahoma"/>
                <a:cs typeface="Tahoma"/>
                <a:sym typeface="Tahoma"/>
              </a:rPr>
              <a:t>OPTIONS(</a:t>
            </a:r>
            <a:endParaRPr sz="100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000">
                <a:solidFill>
                  <a:srgbClr val="37474F"/>
                </a:solidFill>
                <a:latin typeface="Tahoma"/>
                <a:ea typeface="Tahoma"/>
                <a:cs typeface="Tahoma"/>
                <a:sym typeface="Tahoma"/>
              </a:rPr>
              <a:t>  default_table_expiration_days=</a:t>
            </a:r>
            <a:r>
              <a:rPr lang="vi" sz="1000">
                <a:solidFill>
                  <a:srgbClr val="C53929"/>
                </a:solidFill>
                <a:latin typeface="Tahoma"/>
                <a:ea typeface="Tahoma"/>
                <a:cs typeface="Tahoma"/>
                <a:sym typeface="Tahoma"/>
              </a:rPr>
              <a:t>3.75</a:t>
            </a:r>
            <a:r>
              <a:rPr lang="vi" sz="1000">
                <a:solidFill>
                  <a:srgbClr val="37474F"/>
                </a:solidFill>
                <a:latin typeface="Tahoma"/>
                <a:ea typeface="Tahoma"/>
                <a:cs typeface="Tahoma"/>
                <a:sym typeface="Tahoma"/>
              </a:rPr>
              <a:t>,</a:t>
            </a:r>
            <a:endParaRPr sz="100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000">
                <a:solidFill>
                  <a:srgbClr val="37474F"/>
                </a:solidFill>
                <a:latin typeface="Tahoma"/>
                <a:ea typeface="Tahoma"/>
                <a:cs typeface="Tahoma"/>
                <a:sym typeface="Tahoma"/>
              </a:rPr>
              <a:t>  labels=[(</a:t>
            </a:r>
            <a:r>
              <a:rPr lang="vi" sz="1000">
                <a:solidFill>
                  <a:srgbClr val="0D904F"/>
                </a:solidFill>
                <a:latin typeface="Tahoma"/>
                <a:ea typeface="Tahoma"/>
                <a:cs typeface="Tahoma"/>
                <a:sym typeface="Tahoma"/>
              </a:rPr>
              <a:t>"label1"</a:t>
            </a:r>
            <a:r>
              <a:rPr lang="vi" sz="1000">
                <a:solidFill>
                  <a:srgbClr val="37474F"/>
                </a:solidFill>
                <a:latin typeface="Tahoma"/>
                <a:ea typeface="Tahoma"/>
                <a:cs typeface="Tahoma"/>
                <a:sym typeface="Tahoma"/>
              </a:rPr>
              <a:t>,</a:t>
            </a:r>
            <a:r>
              <a:rPr lang="vi" sz="1000">
                <a:solidFill>
                  <a:srgbClr val="0D904F"/>
                </a:solidFill>
                <a:latin typeface="Tahoma"/>
                <a:ea typeface="Tahoma"/>
                <a:cs typeface="Tahoma"/>
                <a:sym typeface="Tahoma"/>
              </a:rPr>
              <a:t>"value1"</a:t>
            </a:r>
            <a:r>
              <a:rPr lang="vi" sz="1000">
                <a:solidFill>
                  <a:srgbClr val="37474F"/>
                </a:solidFill>
                <a:latin typeface="Tahoma"/>
                <a:ea typeface="Tahoma"/>
                <a:cs typeface="Tahoma"/>
                <a:sym typeface="Tahoma"/>
              </a:rPr>
              <a:t>),(</a:t>
            </a:r>
            <a:r>
              <a:rPr lang="vi" sz="1000">
                <a:solidFill>
                  <a:srgbClr val="0D904F"/>
                </a:solidFill>
                <a:latin typeface="Tahoma"/>
                <a:ea typeface="Tahoma"/>
                <a:cs typeface="Tahoma"/>
                <a:sym typeface="Tahoma"/>
              </a:rPr>
              <a:t>"label2"</a:t>
            </a:r>
            <a:r>
              <a:rPr lang="vi" sz="1000">
                <a:solidFill>
                  <a:srgbClr val="37474F"/>
                </a:solidFill>
                <a:latin typeface="Tahoma"/>
                <a:ea typeface="Tahoma"/>
                <a:cs typeface="Tahoma"/>
                <a:sym typeface="Tahoma"/>
              </a:rPr>
              <a:t>,</a:t>
            </a:r>
            <a:r>
              <a:rPr lang="vi" sz="1000">
                <a:solidFill>
                  <a:srgbClr val="0D904F"/>
                </a:solidFill>
                <a:latin typeface="Tahoma"/>
                <a:ea typeface="Tahoma"/>
                <a:cs typeface="Tahoma"/>
                <a:sym typeface="Tahoma"/>
              </a:rPr>
              <a:t>"value2"</a:t>
            </a:r>
            <a:r>
              <a:rPr lang="vi" sz="1000">
                <a:solidFill>
                  <a:srgbClr val="37474F"/>
                </a:solidFill>
                <a:latin typeface="Tahoma"/>
                <a:ea typeface="Tahoma"/>
                <a:cs typeface="Tahoma"/>
                <a:sym typeface="Tahoma"/>
              </a:rPr>
              <a:t>)]</a:t>
            </a:r>
            <a:endParaRPr sz="100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000">
                <a:solidFill>
                  <a:srgbClr val="37474F"/>
                </a:solidFill>
                <a:latin typeface="Tahoma"/>
                <a:ea typeface="Tahoma"/>
                <a:cs typeface="Tahoma"/>
                <a:sym typeface="Tahoma"/>
              </a:rPr>
              <a:t>  )</a:t>
            </a:r>
            <a:endParaRPr sz="1000">
              <a:solidFill>
                <a:srgbClr val="37474F"/>
              </a:solidFill>
              <a:latin typeface="Tahoma"/>
              <a:ea typeface="Tahoma"/>
              <a:cs typeface="Tahoma"/>
              <a:sym typeface="Tahoma"/>
            </a:endParaRPr>
          </a:p>
          <a:p>
            <a:pPr marL="0" lvl="0" indent="0" algn="l" rtl="0">
              <a:spcBef>
                <a:spcPts val="1800"/>
              </a:spcBef>
              <a:spcAft>
                <a:spcPts val="400"/>
              </a:spcAft>
              <a:buNone/>
            </a:pPr>
            <a:endParaRPr sz="1000">
              <a:solidFill>
                <a:srgbClr val="202124"/>
              </a:solidFill>
              <a:highlight>
                <a:srgbClr val="FFFFFF"/>
              </a:highlight>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000000"/>
                </a:solidFill>
                <a:latin typeface="Arial"/>
                <a:ea typeface="Arial"/>
                <a:cs typeface="Arial"/>
                <a:sym typeface="Arial"/>
              </a:rPr>
              <a:t>CREATE TABLE</a:t>
            </a:r>
            <a:endParaRPr/>
          </a:p>
        </p:txBody>
      </p:sp>
      <p:sp>
        <p:nvSpPr>
          <p:cNvPr id="92" name="Google Shape;92;p17"/>
          <p:cNvSpPr txBox="1">
            <a:spLocks noGrp="1"/>
          </p:cNvSpPr>
          <p:nvPr>
            <p:ph type="body" idx="4294967295"/>
          </p:nvPr>
        </p:nvSpPr>
        <p:spPr>
          <a:xfrm>
            <a:off x="471900" y="799475"/>
            <a:ext cx="8222100" cy="3829800"/>
          </a:xfrm>
          <a:prstGeom prst="rect">
            <a:avLst/>
          </a:prstGeom>
        </p:spPr>
        <p:txBody>
          <a:bodyPr spcFirstLastPara="1" wrap="square" lIns="91425" tIns="91425" rIns="91425" bIns="91425" anchor="t" anchorCtr="0">
            <a:normAutofit/>
          </a:bodyPr>
          <a:lstStyle/>
          <a:p>
            <a:pPr marL="457200" lvl="0" indent="-321190" algn="l" rtl="0">
              <a:spcBef>
                <a:spcPts val="3800"/>
              </a:spcBef>
              <a:spcAft>
                <a:spcPts val="0"/>
              </a:spcAft>
              <a:buClr>
                <a:srgbClr val="000000"/>
              </a:buClr>
              <a:buSzPts val="1458"/>
              <a:buFont typeface="Tahoma"/>
              <a:buChar char="●"/>
            </a:pPr>
            <a:r>
              <a:rPr lang="vi" sz="1458">
                <a:solidFill>
                  <a:srgbClr val="000000"/>
                </a:solidFill>
                <a:highlight>
                  <a:srgbClr val="FFFFFF"/>
                </a:highlight>
                <a:latin typeface="Tahoma"/>
                <a:ea typeface="Tahoma"/>
                <a:cs typeface="Tahoma"/>
                <a:sym typeface="Tahoma"/>
              </a:rPr>
              <a:t>CREATE TABLE command</a:t>
            </a:r>
            <a:endParaRPr sz="1458">
              <a:solidFill>
                <a:srgbClr val="000000"/>
              </a:solidFill>
              <a:highlight>
                <a:srgbClr val="FFFFFF"/>
              </a:highlight>
              <a:latin typeface="Tahoma"/>
              <a:ea typeface="Tahoma"/>
              <a:cs typeface="Tahoma"/>
              <a:sym typeface="Tahoma"/>
            </a:endParaRPr>
          </a:p>
          <a:p>
            <a:pPr marL="457200" lvl="0" indent="-321190" algn="l" rtl="0">
              <a:spcBef>
                <a:spcPts val="0"/>
              </a:spcBef>
              <a:spcAft>
                <a:spcPts val="0"/>
              </a:spcAft>
              <a:buClr>
                <a:srgbClr val="000000"/>
              </a:buClr>
              <a:buSzPts val="1458"/>
              <a:buFont typeface="Tahoma"/>
              <a:buChar char="●"/>
            </a:pPr>
            <a:r>
              <a:rPr lang="vi" sz="1458">
                <a:solidFill>
                  <a:srgbClr val="000000"/>
                </a:solidFill>
                <a:highlight>
                  <a:srgbClr val="FFFFFF"/>
                </a:highlight>
                <a:latin typeface="Tahoma"/>
                <a:ea typeface="Tahoma"/>
                <a:cs typeface="Tahoma"/>
                <a:sym typeface="Tahoma"/>
              </a:rPr>
              <a:t>CREATE TABLE command from a SELECT query</a:t>
            </a:r>
            <a:endParaRPr sz="1458">
              <a:solidFill>
                <a:srgbClr val="000000"/>
              </a:solidFill>
              <a:highlight>
                <a:srgbClr val="FFFFFF"/>
              </a:highlight>
              <a:latin typeface="Tahoma"/>
              <a:ea typeface="Tahoma"/>
              <a:cs typeface="Tahoma"/>
              <a:sym typeface="Tahoma"/>
            </a:endParaRPr>
          </a:p>
          <a:p>
            <a:pPr marL="457200" lvl="0" indent="-321190" algn="l" rtl="0">
              <a:spcBef>
                <a:spcPts val="0"/>
              </a:spcBef>
              <a:spcAft>
                <a:spcPts val="0"/>
              </a:spcAft>
              <a:buClr>
                <a:srgbClr val="000000"/>
              </a:buClr>
              <a:buSzPts val="1458"/>
              <a:buFont typeface="Tahoma"/>
              <a:buChar char="●"/>
            </a:pPr>
            <a:r>
              <a:rPr lang="vi" sz="1458">
                <a:solidFill>
                  <a:srgbClr val="000000"/>
                </a:solidFill>
                <a:highlight>
                  <a:srgbClr val="FFFFFF"/>
                </a:highlight>
                <a:latin typeface="Tahoma"/>
                <a:ea typeface="Tahoma"/>
                <a:cs typeface="Tahoma"/>
                <a:sym typeface="Tahoma"/>
              </a:rPr>
              <a:t>Upload from CSV</a:t>
            </a:r>
            <a:endParaRPr sz="1458">
              <a:solidFill>
                <a:srgbClr val="000000"/>
              </a:solidFill>
              <a:highlight>
                <a:srgbClr val="FFFFFF"/>
              </a:highlight>
              <a:latin typeface="Tahoma"/>
              <a:ea typeface="Tahoma"/>
              <a:cs typeface="Tahoma"/>
              <a:sym typeface="Tahoma"/>
            </a:endParaRPr>
          </a:p>
          <a:p>
            <a:pPr marL="457200" lvl="0" indent="-321190" algn="l" rtl="0">
              <a:spcBef>
                <a:spcPts val="0"/>
              </a:spcBef>
              <a:spcAft>
                <a:spcPts val="0"/>
              </a:spcAft>
              <a:buClr>
                <a:srgbClr val="000000"/>
              </a:buClr>
              <a:buSzPts val="1458"/>
              <a:buFont typeface="Tahoma"/>
              <a:buChar char="●"/>
            </a:pPr>
            <a:r>
              <a:rPr lang="vi" sz="1458">
                <a:solidFill>
                  <a:srgbClr val="000000"/>
                </a:solidFill>
                <a:highlight>
                  <a:srgbClr val="FFFFFF"/>
                </a:highlight>
                <a:latin typeface="Tahoma"/>
                <a:ea typeface="Tahoma"/>
                <a:cs typeface="Tahoma"/>
                <a:sym typeface="Tahoma"/>
              </a:rPr>
              <a:t>Upload from Google Sheets</a:t>
            </a:r>
            <a:endParaRPr sz="1458">
              <a:solidFill>
                <a:srgbClr val="000000"/>
              </a:solidFill>
              <a:highlight>
                <a:srgbClr val="FFFFFF"/>
              </a:highlight>
              <a:latin typeface="Tahoma"/>
              <a:ea typeface="Tahoma"/>
              <a:cs typeface="Tahoma"/>
              <a:sym typeface="Tahoma"/>
            </a:endParaRPr>
          </a:p>
          <a:p>
            <a:pPr marL="0" lvl="0" indent="0" algn="l" rtl="0">
              <a:spcBef>
                <a:spcPts val="3800"/>
              </a:spcBef>
              <a:spcAft>
                <a:spcPts val="0"/>
              </a:spcAft>
              <a:buNone/>
            </a:pPr>
            <a:endParaRPr sz="1350">
              <a:solidFill>
                <a:srgbClr val="000000"/>
              </a:solidFill>
              <a:highlight>
                <a:srgbClr val="FFFFFF"/>
              </a:highlight>
              <a:latin typeface="Arial"/>
              <a:ea typeface="Arial"/>
              <a:cs typeface="Arial"/>
              <a:sym typeface="Arial"/>
            </a:endParaRPr>
          </a:p>
          <a:p>
            <a:pPr marL="0" lvl="0" indent="0" algn="l" rtl="0">
              <a:spcBef>
                <a:spcPts val="3000"/>
              </a:spcBef>
              <a:spcAft>
                <a:spcPts val="0"/>
              </a:spcAft>
              <a:buNone/>
            </a:pPr>
            <a:endParaRPr sz="1050">
              <a:solidFill>
                <a:srgbClr val="37474F"/>
              </a:solidFill>
              <a:latin typeface="Roboto Mono"/>
              <a:ea typeface="Roboto Mono"/>
              <a:cs typeface="Roboto Mono"/>
              <a:sym typeface="Roboto Mono"/>
            </a:endParaRPr>
          </a:p>
          <a:p>
            <a:pPr marL="0" lvl="0" indent="0" algn="l" rtl="0">
              <a:spcBef>
                <a:spcPts val="1400"/>
              </a:spcBef>
              <a:spcAft>
                <a:spcPts val="0"/>
              </a:spcAft>
              <a:buNone/>
            </a:pPr>
            <a:endParaRPr sz="1050">
              <a:solidFill>
                <a:srgbClr val="37474F"/>
              </a:solidFill>
              <a:latin typeface="Roboto Mono"/>
              <a:ea typeface="Roboto Mono"/>
              <a:cs typeface="Roboto Mono"/>
              <a:sym typeface="Roboto Mono"/>
            </a:endParaRPr>
          </a:p>
          <a:p>
            <a:pPr marL="0" lvl="0" indent="0" algn="l" rtl="0">
              <a:spcBef>
                <a:spcPts val="400"/>
              </a:spcBef>
              <a:spcAft>
                <a:spcPts val="12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000000"/>
                </a:solidFill>
                <a:latin typeface="Arial"/>
                <a:ea typeface="Arial"/>
                <a:cs typeface="Arial"/>
                <a:sym typeface="Arial"/>
              </a:rPr>
              <a:t>CREATE TABLE</a:t>
            </a:r>
            <a:endParaRPr/>
          </a:p>
        </p:txBody>
      </p:sp>
      <p:sp>
        <p:nvSpPr>
          <p:cNvPr id="98" name="Google Shape;98;p18"/>
          <p:cNvSpPr txBox="1">
            <a:spLocks noGrp="1"/>
          </p:cNvSpPr>
          <p:nvPr>
            <p:ph type="body" idx="4294967295"/>
          </p:nvPr>
        </p:nvSpPr>
        <p:spPr>
          <a:xfrm>
            <a:off x="521425" y="853450"/>
            <a:ext cx="8222100" cy="4145400"/>
          </a:xfrm>
          <a:prstGeom prst="rect">
            <a:avLst/>
          </a:prstGeom>
        </p:spPr>
        <p:txBody>
          <a:bodyPr spcFirstLastPara="1" wrap="square" lIns="91425" tIns="91425" rIns="91425" bIns="91425" anchor="t" anchorCtr="0">
            <a:normAutofit fontScale="25000" lnSpcReduction="20000"/>
          </a:bodyPr>
          <a:lstStyle/>
          <a:p>
            <a:pPr marL="0" lvl="0" indent="0" algn="l" rtl="0">
              <a:lnSpc>
                <a:spcPct val="136363"/>
              </a:lnSpc>
              <a:spcBef>
                <a:spcPts val="1200"/>
              </a:spcBef>
              <a:spcAft>
                <a:spcPts val="0"/>
              </a:spcAft>
              <a:buNone/>
            </a:pPr>
            <a:r>
              <a:rPr lang="vi" sz="4000">
                <a:solidFill>
                  <a:srgbClr val="37474F"/>
                </a:solidFill>
                <a:latin typeface="Tahoma"/>
                <a:ea typeface="Tahoma"/>
                <a:cs typeface="Tahoma"/>
                <a:sym typeface="Tahoma"/>
              </a:rPr>
              <a:t>CREATE TABLE | CREATE TABLE IF NOT EXISTS | CREATE OR REPLACE TABLE  </a:t>
            </a:r>
            <a:r>
              <a:rPr lang="vi" sz="4000" b="1" u="sng">
                <a:solidFill>
                  <a:srgbClr val="0000FF"/>
                </a:solidFill>
                <a:latin typeface="Tahoma"/>
                <a:ea typeface="Tahoma"/>
                <a:cs typeface="Tahoma"/>
                <a:sym typeface="Tahoma"/>
                <a:hlinkClick r:id="rId3">
                  <a:extLst>
                    <a:ext uri="{A12FA001-AC4F-418D-AE19-62706E023703}">
                      <ahyp:hlinkClr xmlns:ahyp="http://schemas.microsoft.com/office/drawing/2018/hyperlinkcolor" val="tx"/>
                    </a:ext>
                  </a:extLst>
                </a:hlinkClick>
              </a:rPr>
              <a:t>project_name.dataset_name.table_name</a:t>
            </a:r>
            <a:endParaRPr sz="4000" b="1" u="sng">
              <a:solidFill>
                <a:srgbClr val="0000FF"/>
              </a:solidFill>
              <a:latin typeface="Tahoma"/>
              <a:ea typeface="Tahoma"/>
              <a:cs typeface="Tahoma"/>
              <a:sym typeface="Tahoma"/>
            </a:endParaRPr>
          </a:p>
          <a:p>
            <a:pPr marL="0" lvl="0" indent="0" algn="l" rtl="0">
              <a:lnSpc>
                <a:spcPct val="136363"/>
              </a:lnSpc>
              <a:spcBef>
                <a:spcPts val="1200"/>
              </a:spcBef>
              <a:spcAft>
                <a:spcPts val="0"/>
              </a:spcAft>
              <a:buNone/>
            </a:pPr>
            <a:r>
              <a:rPr lang="vi" sz="4000">
                <a:solidFill>
                  <a:srgbClr val="37474F"/>
                </a:solidFill>
                <a:latin typeface="Tahoma"/>
                <a:ea typeface="Tahoma"/>
                <a:cs typeface="Tahoma"/>
                <a:sym typeface="Tahoma"/>
              </a:rPr>
              <a:t>(</a:t>
            </a:r>
            <a:endParaRPr sz="4000">
              <a:solidFill>
                <a:srgbClr val="37474F"/>
              </a:solidFill>
              <a:latin typeface="Tahoma"/>
              <a:ea typeface="Tahoma"/>
              <a:cs typeface="Tahoma"/>
              <a:sym typeface="Tahoma"/>
            </a:endParaRPr>
          </a:p>
          <a:p>
            <a:pPr marL="0" lvl="0" indent="0" algn="l" rtl="0">
              <a:lnSpc>
                <a:spcPct val="136363"/>
              </a:lnSpc>
              <a:spcBef>
                <a:spcPts val="1200"/>
              </a:spcBef>
              <a:spcAft>
                <a:spcPts val="0"/>
              </a:spcAft>
              <a:buNone/>
            </a:pPr>
            <a:r>
              <a:rPr lang="vi" sz="4000">
                <a:solidFill>
                  <a:srgbClr val="37474F"/>
                </a:solidFill>
                <a:latin typeface="Tahoma"/>
                <a:ea typeface="Tahoma"/>
                <a:cs typeface="Tahoma"/>
                <a:sym typeface="Tahoma"/>
              </a:rPr>
              <a:t> </a:t>
            </a:r>
            <a:r>
              <a:rPr lang="vi" sz="4000">
                <a:solidFill>
                  <a:srgbClr val="37474F"/>
                </a:solidFill>
                <a:uFill>
                  <a:noFill/>
                </a:uFill>
                <a:latin typeface="Tahoma"/>
                <a:ea typeface="Tahoma"/>
                <a:cs typeface="Tahoma"/>
                <a:sym typeface="Tahoma"/>
                <a:hlinkClick r:id="rId4">
                  <a:extLst>
                    <a:ext uri="{A12FA001-AC4F-418D-AE19-62706E023703}">
                      <ahyp:hlinkClr xmlns:ahyp="http://schemas.microsoft.com/office/drawing/2018/hyperlinkcolor" val="tx"/>
                    </a:ext>
                  </a:extLst>
                </a:hlinkClick>
              </a:rPr>
              <a:t> </a:t>
            </a:r>
            <a:r>
              <a:rPr lang="vi" sz="4000" b="1" u="sng">
                <a:solidFill>
                  <a:srgbClr val="0000FF"/>
                </a:solidFill>
                <a:latin typeface="Tahoma"/>
                <a:ea typeface="Tahoma"/>
                <a:cs typeface="Tahoma"/>
                <a:sym typeface="Tahoma"/>
                <a:hlinkClick r:id="rId4">
                  <a:extLst>
                    <a:ext uri="{A12FA001-AC4F-418D-AE19-62706E023703}">
                      <ahyp:hlinkClr xmlns:ahyp="http://schemas.microsoft.com/office/drawing/2018/hyperlinkcolor" val="tx"/>
                    </a:ext>
                  </a:extLst>
                </a:hlinkClick>
              </a:rPr>
              <a:t>column_name column_schema</a:t>
            </a:r>
            <a:r>
              <a:rPr lang="vi" sz="4000">
                <a:solidFill>
                  <a:srgbClr val="37474F"/>
                </a:solidFill>
                <a:latin typeface="Tahoma"/>
                <a:ea typeface="Tahoma"/>
                <a:cs typeface="Tahoma"/>
                <a:sym typeface="Tahoma"/>
              </a:rPr>
              <a:t>[, ...]</a:t>
            </a:r>
            <a:endParaRPr sz="4000">
              <a:solidFill>
                <a:srgbClr val="37474F"/>
              </a:solidFill>
              <a:latin typeface="Tahoma"/>
              <a:ea typeface="Tahoma"/>
              <a:cs typeface="Tahoma"/>
              <a:sym typeface="Tahoma"/>
            </a:endParaRPr>
          </a:p>
          <a:p>
            <a:pPr marL="0" lvl="0" indent="0" algn="l" rtl="0">
              <a:lnSpc>
                <a:spcPct val="136363"/>
              </a:lnSpc>
              <a:spcBef>
                <a:spcPts val="1200"/>
              </a:spcBef>
              <a:spcAft>
                <a:spcPts val="0"/>
              </a:spcAft>
              <a:buNone/>
            </a:pPr>
            <a:r>
              <a:rPr lang="vi" sz="4000">
                <a:solidFill>
                  <a:srgbClr val="37474F"/>
                </a:solidFill>
                <a:latin typeface="Tahoma"/>
                <a:ea typeface="Tahoma"/>
                <a:cs typeface="Tahoma"/>
                <a:sym typeface="Tahoma"/>
              </a:rPr>
              <a:t>)</a:t>
            </a:r>
            <a:endParaRPr sz="4000">
              <a:solidFill>
                <a:srgbClr val="37474F"/>
              </a:solidFill>
              <a:latin typeface="Tahoma"/>
              <a:ea typeface="Tahoma"/>
              <a:cs typeface="Tahoma"/>
              <a:sym typeface="Tahoma"/>
            </a:endParaRPr>
          </a:p>
          <a:p>
            <a:pPr marL="0" lvl="0" indent="0" algn="l" rtl="0">
              <a:lnSpc>
                <a:spcPct val="136363"/>
              </a:lnSpc>
              <a:spcBef>
                <a:spcPts val="1200"/>
              </a:spcBef>
              <a:spcAft>
                <a:spcPts val="0"/>
              </a:spcAft>
              <a:buNone/>
            </a:pPr>
            <a:r>
              <a:rPr lang="vi" sz="4000">
                <a:solidFill>
                  <a:srgbClr val="37474F"/>
                </a:solidFill>
                <a:latin typeface="Tahoma"/>
                <a:ea typeface="Tahoma"/>
                <a:cs typeface="Tahoma"/>
                <a:sym typeface="Tahoma"/>
              </a:rPr>
              <a:t>PARTITION BY</a:t>
            </a:r>
            <a:r>
              <a:rPr lang="vi" sz="4000">
                <a:solidFill>
                  <a:srgbClr val="37474F"/>
                </a:solidFill>
                <a:uFill>
                  <a:noFill/>
                </a:uFill>
                <a:latin typeface="Tahoma"/>
                <a:ea typeface="Tahoma"/>
                <a:cs typeface="Tahoma"/>
                <a:sym typeface="Tahoma"/>
                <a:hlinkClick r:id="rId5">
                  <a:extLst>
                    <a:ext uri="{A12FA001-AC4F-418D-AE19-62706E023703}">
                      <ahyp:hlinkClr xmlns:ahyp="http://schemas.microsoft.com/office/drawing/2018/hyperlinkcolor" val="tx"/>
                    </a:ext>
                  </a:extLst>
                </a:hlinkClick>
              </a:rPr>
              <a:t> </a:t>
            </a:r>
            <a:r>
              <a:rPr lang="vi" sz="4000" b="1" u="sng">
                <a:solidFill>
                  <a:srgbClr val="0000FF"/>
                </a:solidFill>
                <a:latin typeface="Tahoma"/>
                <a:ea typeface="Tahoma"/>
                <a:cs typeface="Tahoma"/>
                <a:sym typeface="Tahoma"/>
                <a:hlinkClick r:id="rId5">
                  <a:extLst>
                    <a:ext uri="{A12FA001-AC4F-418D-AE19-62706E023703}">
                      <ahyp:hlinkClr xmlns:ahyp="http://schemas.microsoft.com/office/drawing/2018/hyperlinkcolor" val="tx"/>
                    </a:ext>
                  </a:extLst>
                </a:hlinkClick>
              </a:rPr>
              <a:t>partition_expression</a:t>
            </a:r>
            <a:endParaRPr sz="4000">
              <a:solidFill>
                <a:srgbClr val="37474F"/>
              </a:solidFill>
              <a:latin typeface="Tahoma"/>
              <a:ea typeface="Tahoma"/>
              <a:cs typeface="Tahoma"/>
              <a:sym typeface="Tahoma"/>
            </a:endParaRPr>
          </a:p>
          <a:p>
            <a:pPr marL="0" lvl="0" indent="0" algn="l" rtl="0">
              <a:lnSpc>
                <a:spcPct val="136363"/>
              </a:lnSpc>
              <a:spcBef>
                <a:spcPts val="1200"/>
              </a:spcBef>
              <a:spcAft>
                <a:spcPts val="0"/>
              </a:spcAft>
              <a:buNone/>
            </a:pPr>
            <a:r>
              <a:rPr lang="vi" sz="4000">
                <a:solidFill>
                  <a:srgbClr val="37474F"/>
                </a:solidFill>
                <a:latin typeface="Tahoma"/>
                <a:ea typeface="Tahoma"/>
                <a:cs typeface="Tahoma"/>
                <a:sym typeface="Tahoma"/>
              </a:rPr>
              <a:t>CLUSTER BY</a:t>
            </a:r>
            <a:r>
              <a:rPr lang="vi" sz="4000">
                <a:solidFill>
                  <a:srgbClr val="37474F"/>
                </a:solidFill>
                <a:uFill>
                  <a:noFill/>
                </a:uFill>
                <a:latin typeface="Tahoma"/>
                <a:ea typeface="Tahoma"/>
                <a:cs typeface="Tahoma"/>
                <a:sym typeface="Tahoma"/>
                <a:hlinkClick r:id="rId6">
                  <a:extLst>
                    <a:ext uri="{A12FA001-AC4F-418D-AE19-62706E023703}">
                      <ahyp:hlinkClr xmlns:ahyp="http://schemas.microsoft.com/office/drawing/2018/hyperlinkcolor" val="tx"/>
                    </a:ext>
                  </a:extLst>
                </a:hlinkClick>
              </a:rPr>
              <a:t> </a:t>
            </a:r>
            <a:r>
              <a:rPr lang="vi" sz="4000" b="1" u="sng">
                <a:solidFill>
                  <a:srgbClr val="0000FF"/>
                </a:solidFill>
                <a:latin typeface="Tahoma"/>
                <a:ea typeface="Tahoma"/>
                <a:cs typeface="Tahoma"/>
                <a:sym typeface="Tahoma"/>
                <a:hlinkClick r:id="rId6">
                  <a:extLst>
                    <a:ext uri="{A12FA001-AC4F-418D-AE19-62706E023703}">
                      <ahyp:hlinkClr xmlns:ahyp="http://schemas.microsoft.com/office/drawing/2018/hyperlinkcolor" val="tx"/>
                    </a:ext>
                  </a:extLst>
                </a:hlinkClick>
              </a:rPr>
              <a:t>clustering_column_list</a:t>
            </a:r>
            <a:endParaRPr sz="4000">
              <a:solidFill>
                <a:srgbClr val="37474F"/>
              </a:solidFill>
              <a:latin typeface="Tahoma"/>
              <a:ea typeface="Tahoma"/>
              <a:cs typeface="Tahoma"/>
              <a:sym typeface="Tahoma"/>
            </a:endParaRPr>
          </a:p>
          <a:p>
            <a:pPr marL="0" lvl="0" indent="0" algn="l" rtl="0">
              <a:lnSpc>
                <a:spcPct val="136363"/>
              </a:lnSpc>
              <a:spcBef>
                <a:spcPts val="1200"/>
              </a:spcBef>
              <a:spcAft>
                <a:spcPts val="0"/>
              </a:spcAft>
              <a:buNone/>
            </a:pPr>
            <a:r>
              <a:rPr lang="vi" sz="4000">
                <a:solidFill>
                  <a:srgbClr val="37474F"/>
                </a:solidFill>
                <a:latin typeface="Tahoma"/>
                <a:ea typeface="Tahoma"/>
                <a:cs typeface="Tahoma"/>
                <a:sym typeface="Tahoma"/>
              </a:rPr>
              <a:t>Ví dụ:</a:t>
            </a:r>
            <a:endParaRPr sz="4000">
              <a:solidFill>
                <a:srgbClr val="37474F"/>
              </a:solidFill>
              <a:latin typeface="Tahoma"/>
              <a:ea typeface="Tahoma"/>
              <a:cs typeface="Tahoma"/>
              <a:sym typeface="Tahoma"/>
            </a:endParaRPr>
          </a:p>
          <a:p>
            <a:pPr marL="0" lvl="0" indent="0" algn="l" rtl="0">
              <a:spcBef>
                <a:spcPts val="0"/>
              </a:spcBef>
              <a:spcAft>
                <a:spcPts val="0"/>
              </a:spcAft>
              <a:buNone/>
            </a:pPr>
            <a:r>
              <a:rPr lang="vi" sz="4000">
                <a:solidFill>
                  <a:srgbClr val="37474F"/>
                </a:solidFill>
                <a:latin typeface="Tahoma"/>
                <a:ea typeface="Tahoma"/>
                <a:cs typeface="Tahoma"/>
                <a:sym typeface="Tahoma"/>
              </a:rPr>
              <a:t>CREATE TABLE myproject.mydataset.newtable ( x INT64 );</a:t>
            </a:r>
            <a:endParaRPr sz="4000">
              <a:solidFill>
                <a:srgbClr val="37474F"/>
              </a:solidFill>
              <a:latin typeface="Tahoma"/>
              <a:ea typeface="Tahoma"/>
              <a:cs typeface="Tahoma"/>
              <a:sym typeface="Tahoma"/>
            </a:endParaRPr>
          </a:p>
          <a:p>
            <a:pPr marL="101600" lvl="0" indent="0" algn="l" rtl="0">
              <a:lnSpc>
                <a:spcPct val="135000"/>
              </a:lnSpc>
              <a:spcBef>
                <a:spcPts val="0"/>
              </a:spcBef>
              <a:spcAft>
                <a:spcPts val="0"/>
              </a:spcAft>
              <a:buNone/>
            </a:pPr>
            <a:r>
              <a:rPr lang="vi" sz="4400" b="1">
                <a:solidFill>
                  <a:srgbClr val="286491"/>
                </a:solidFill>
                <a:highlight>
                  <a:schemeClr val="lt1"/>
                </a:highlight>
                <a:latin typeface="Tahoma"/>
                <a:ea typeface="Tahoma"/>
                <a:cs typeface="Tahoma"/>
                <a:sym typeface="Tahoma"/>
              </a:rPr>
              <a:t>CREATE</a:t>
            </a:r>
            <a:r>
              <a:rPr lang="vi" sz="4400">
                <a:solidFill>
                  <a:srgbClr val="000000"/>
                </a:solidFill>
                <a:highlight>
                  <a:schemeClr val="lt1"/>
                </a:highlight>
                <a:latin typeface="Tahoma"/>
                <a:ea typeface="Tahoma"/>
                <a:cs typeface="Tahoma"/>
                <a:sym typeface="Tahoma"/>
              </a:rPr>
              <a:t> </a:t>
            </a:r>
            <a:r>
              <a:rPr lang="vi" sz="4400" b="1">
                <a:solidFill>
                  <a:srgbClr val="286491"/>
                </a:solidFill>
                <a:highlight>
                  <a:schemeClr val="lt1"/>
                </a:highlight>
                <a:latin typeface="Tahoma"/>
                <a:ea typeface="Tahoma"/>
                <a:cs typeface="Tahoma"/>
                <a:sym typeface="Tahoma"/>
              </a:rPr>
              <a:t>TABLE</a:t>
            </a:r>
            <a:r>
              <a:rPr lang="vi" sz="4400">
                <a:solidFill>
                  <a:srgbClr val="000000"/>
                </a:solidFill>
                <a:highlight>
                  <a:schemeClr val="lt1"/>
                </a:highlight>
                <a:latin typeface="Tahoma"/>
                <a:ea typeface="Tahoma"/>
                <a:cs typeface="Tahoma"/>
                <a:sym typeface="Tahoma"/>
              </a:rPr>
              <a:t> `yuichi-otsuka.sandbox.employee`</a:t>
            </a:r>
            <a:endParaRPr sz="4400">
              <a:solidFill>
                <a:srgbClr val="000000"/>
              </a:solidFill>
              <a:highlight>
                <a:schemeClr val="lt1"/>
              </a:highlight>
              <a:latin typeface="Tahoma"/>
              <a:ea typeface="Tahoma"/>
              <a:cs typeface="Tahoma"/>
              <a:sym typeface="Tahoma"/>
            </a:endParaRPr>
          </a:p>
          <a:p>
            <a:pPr marL="101600" lvl="0" indent="0" algn="l" rtl="0">
              <a:lnSpc>
                <a:spcPct val="135000"/>
              </a:lnSpc>
              <a:spcBef>
                <a:spcPts val="0"/>
              </a:spcBef>
              <a:spcAft>
                <a:spcPts val="0"/>
              </a:spcAft>
              <a:buNone/>
            </a:pPr>
            <a:r>
              <a:rPr lang="vi" sz="4400">
                <a:solidFill>
                  <a:srgbClr val="000000"/>
                </a:solidFill>
                <a:highlight>
                  <a:schemeClr val="lt1"/>
                </a:highlight>
                <a:latin typeface="Tahoma"/>
                <a:ea typeface="Tahoma"/>
                <a:cs typeface="Tahoma"/>
                <a:sym typeface="Tahoma"/>
              </a:rPr>
              <a:t>(</a:t>
            </a:r>
            <a:endParaRPr sz="4400">
              <a:solidFill>
                <a:srgbClr val="000000"/>
              </a:solidFill>
              <a:highlight>
                <a:schemeClr val="lt1"/>
              </a:highlight>
              <a:latin typeface="Tahoma"/>
              <a:ea typeface="Tahoma"/>
              <a:cs typeface="Tahoma"/>
              <a:sym typeface="Tahoma"/>
            </a:endParaRPr>
          </a:p>
          <a:p>
            <a:pPr marL="101600" lvl="0" indent="0" algn="l" rtl="0">
              <a:lnSpc>
                <a:spcPct val="135000"/>
              </a:lnSpc>
              <a:spcBef>
                <a:spcPts val="0"/>
              </a:spcBef>
              <a:spcAft>
                <a:spcPts val="0"/>
              </a:spcAft>
              <a:buNone/>
            </a:pPr>
            <a:r>
              <a:rPr lang="vi" sz="4400">
                <a:solidFill>
                  <a:srgbClr val="000000"/>
                </a:solidFill>
                <a:highlight>
                  <a:schemeClr val="lt1"/>
                </a:highlight>
                <a:latin typeface="Tahoma"/>
                <a:ea typeface="Tahoma"/>
                <a:cs typeface="Tahoma"/>
                <a:sym typeface="Tahoma"/>
              </a:rPr>
              <a:t> EmployeeID INT64,  FirstName </a:t>
            </a:r>
            <a:r>
              <a:rPr lang="vi" sz="4400" b="1">
                <a:solidFill>
                  <a:srgbClr val="286491"/>
                </a:solidFill>
                <a:highlight>
                  <a:schemeClr val="lt1"/>
                </a:highlight>
                <a:latin typeface="Tahoma"/>
                <a:ea typeface="Tahoma"/>
                <a:cs typeface="Tahoma"/>
                <a:sym typeface="Tahoma"/>
              </a:rPr>
              <a:t>STRING</a:t>
            </a:r>
            <a:r>
              <a:rPr lang="vi" sz="4400">
                <a:solidFill>
                  <a:srgbClr val="000000"/>
                </a:solidFill>
                <a:highlight>
                  <a:schemeClr val="lt1"/>
                </a:highlight>
                <a:latin typeface="Tahoma"/>
                <a:ea typeface="Tahoma"/>
                <a:cs typeface="Tahoma"/>
                <a:sym typeface="Tahoma"/>
              </a:rPr>
              <a:t>,  LastName </a:t>
            </a:r>
            <a:r>
              <a:rPr lang="vi" sz="4400" b="1">
                <a:solidFill>
                  <a:srgbClr val="286491"/>
                </a:solidFill>
                <a:highlight>
                  <a:schemeClr val="lt1"/>
                </a:highlight>
                <a:latin typeface="Tahoma"/>
                <a:ea typeface="Tahoma"/>
                <a:cs typeface="Tahoma"/>
                <a:sym typeface="Tahoma"/>
              </a:rPr>
              <a:t>STRING</a:t>
            </a:r>
            <a:r>
              <a:rPr lang="vi" sz="4400">
                <a:solidFill>
                  <a:srgbClr val="000000"/>
                </a:solidFill>
                <a:highlight>
                  <a:schemeClr val="lt1"/>
                </a:highlight>
                <a:latin typeface="Tahoma"/>
                <a:ea typeface="Tahoma"/>
                <a:cs typeface="Tahoma"/>
                <a:sym typeface="Tahoma"/>
              </a:rPr>
              <a:t>,  HireDate </a:t>
            </a:r>
            <a:r>
              <a:rPr lang="vi" sz="4400" b="1">
                <a:solidFill>
                  <a:srgbClr val="286491"/>
                </a:solidFill>
                <a:highlight>
                  <a:schemeClr val="lt1"/>
                </a:highlight>
                <a:latin typeface="Tahoma"/>
                <a:ea typeface="Tahoma"/>
                <a:cs typeface="Tahoma"/>
                <a:sym typeface="Tahoma"/>
              </a:rPr>
              <a:t>DATE</a:t>
            </a:r>
            <a:r>
              <a:rPr lang="vi" sz="4400">
                <a:solidFill>
                  <a:srgbClr val="000000"/>
                </a:solidFill>
                <a:highlight>
                  <a:schemeClr val="lt1"/>
                </a:highlight>
                <a:latin typeface="Tahoma"/>
                <a:ea typeface="Tahoma"/>
                <a:cs typeface="Tahoma"/>
                <a:sym typeface="Tahoma"/>
              </a:rPr>
              <a:t>,  City </a:t>
            </a:r>
            <a:r>
              <a:rPr lang="vi" sz="4400" b="1">
                <a:solidFill>
                  <a:srgbClr val="286491"/>
                </a:solidFill>
                <a:highlight>
                  <a:schemeClr val="lt1"/>
                </a:highlight>
                <a:latin typeface="Tahoma"/>
                <a:ea typeface="Tahoma"/>
                <a:cs typeface="Tahoma"/>
                <a:sym typeface="Tahoma"/>
              </a:rPr>
              <a:t>STRING</a:t>
            </a:r>
            <a:r>
              <a:rPr lang="vi" sz="4400">
                <a:solidFill>
                  <a:srgbClr val="000000"/>
                </a:solidFill>
                <a:highlight>
                  <a:schemeClr val="lt1"/>
                </a:highlight>
                <a:latin typeface="Tahoma"/>
                <a:ea typeface="Tahoma"/>
                <a:cs typeface="Tahoma"/>
                <a:sym typeface="Tahoma"/>
              </a:rPr>
              <a:t>,  Salary FLOAT64,</a:t>
            </a:r>
            <a:endParaRPr sz="4400">
              <a:solidFill>
                <a:srgbClr val="000000"/>
              </a:solidFill>
              <a:highlight>
                <a:schemeClr val="lt1"/>
              </a:highlight>
              <a:latin typeface="Tahoma"/>
              <a:ea typeface="Tahoma"/>
              <a:cs typeface="Tahoma"/>
              <a:sym typeface="Tahoma"/>
            </a:endParaRPr>
          </a:p>
          <a:p>
            <a:pPr marL="101600" lvl="0" indent="0" algn="l" rtl="0">
              <a:lnSpc>
                <a:spcPct val="135000"/>
              </a:lnSpc>
              <a:spcBef>
                <a:spcPts val="0"/>
              </a:spcBef>
              <a:spcAft>
                <a:spcPts val="0"/>
              </a:spcAft>
              <a:buNone/>
            </a:pPr>
            <a:r>
              <a:rPr lang="vi" sz="4400">
                <a:solidFill>
                  <a:srgbClr val="000000"/>
                </a:solidFill>
                <a:highlight>
                  <a:schemeClr val="lt1"/>
                </a:highlight>
                <a:latin typeface="Tahoma"/>
                <a:ea typeface="Tahoma"/>
                <a:cs typeface="Tahoma"/>
                <a:sym typeface="Tahoma"/>
              </a:rPr>
              <a:t> Terminated </a:t>
            </a:r>
            <a:r>
              <a:rPr lang="vi" sz="4400" b="1">
                <a:solidFill>
                  <a:srgbClr val="286491"/>
                </a:solidFill>
                <a:highlight>
                  <a:schemeClr val="lt1"/>
                </a:highlight>
                <a:latin typeface="Tahoma"/>
                <a:ea typeface="Tahoma"/>
                <a:cs typeface="Tahoma"/>
                <a:sym typeface="Tahoma"/>
              </a:rPr>
              <a:t>BOOL</a:t>
            </a:r>
            <a:endParaRPr sz="4400" b="1">
              <a:solidFill>
                <a:srgbClr val="286491"/>
              </a:solidFill>
              <a:highlight>
                <a:schemeClr val="lt1"/>
              </a:highlight>
              <a:latin typeface="Tahoma"/>
              <a:ea typeface="Tahoma"/>
              <a:cs typeface="Tahoma"/>
              <a:sym typeface="Tahoma"/>
            </a:endParaRPr>
          </a:p>
          <a:p>
            <a:pPr marL="101600" lvl="0" indent="0" algn="l" rtl="0">
              <a:lnSpc>
                <a:spcPct val="135000"/>
              </a:lnSpc>
              <a:spcBef>
                <a:spcPts val="0"/>
              </a:spcBef>
              <a:spcAft>
                <a:spcPts val="0"/>
              </a:spcAft>
              <a:buNone/>
            </a:pPr>
            <a:r>
              <a:rPr lang="vi" sz="4400">
                <a:solidFill>
                  <a:srgbClr val="000000"/>
                </a:solidFill>
                <a:highlight>
                  <a:schemeClr val="lt1"/>
                </a:highlight>
                <a:latin typeface="Tahoma"/>
                <a:ea typeface="Tahoma"/>
                <a:cs typeface="Tahoma"/>
                <a:sym typeface="Tahoma"/>
              </a:rPr>
              <a:t>)</a:t>
            </a:r>
            <a:endParaRPr sz="4400">
              <a:solidFill>
                <a:srgbClr val="000000"/>
              </a:solidFill>
              <a:highlight>
                <a:schemeClr val="lt1"/>
              </a:highlight>
              <a:latin typeface="Tahoma"/>
              <a:ea typeface="Tahoma"/>
              <a:cs typeface="Tahoma"/>
              <a:sym typeface="Tahoma"/>
            </a:endParaRPr>
          </a:p>
          <a:p>
            <a:pPr marL="101600" lvl="0" indent="0" algn="l" rtl="0">
              <a:lnSpc>
                <a:spcPct val="135000"/>
              </a:lnSpc>
              <a:spcBef>
                <a:spcPts val="0"/>
              </a:spcBef>
              <a:spcAft>
                <a:spcPts val="0"/>
              </a:spcAft>
              <a:buNone/>
            </a:pPr>
            <a:r>
              <a:rPr lang="vi" sz="4400">
                <a:solidFill>
                  <a:srgbClr val="9999AA"/>
                </a:solidFill>
                <a:highlight>
                  <a:schemeClr val="lt1"/>
                </a:highlight>
                <a:latin typeface="Tahoma"/>
                <a:ea typeface="Tahoma"/>
                <a:cs typeface="Tahoma"/>
                <a:sym typeface="Tahoma"/>
              </a:rPr>
              <a:t>PARTITION BY HireDate</a:t>
            </a:r>
            <a:endParaRPr sz="4400">
              <a:solidFill>
                <a:srgbClr val="9999AA"/>
              </a:solidFill>
              <a:highlight>
                <a:schemeClr val="lt1"/>
              </a:highlight>
              <a:latin typeface="Tahoma"/>
              <a:ea typeface="Tahoma"/>
              <a:cs typeface="Tahoma"/>
              <a:sym typeface="Tahoma"/>
            </a:endParaRPr>
          </a:p>
          <a:p>
            <a:pPr marL="101600" lvl="0" indent="0" algn="l" rtl="0">
              <a:lnSpc>
                <a:spcPct val="135000"/>
              </a:lnSpc>
              <a:spcBef>
                <a:spcPts val="0"/>
              </a:spcBef>
              <a:spcAft>
                <a:spcPts val="0"/>
              </a:spcAft>
              <a:buNone/>
            </a:pPr>
            <a:r>
              <a:rPr lang="vi" sz="4400">
                <a:solidFill>
                  <a:srgbClr val="9999AA"/>
                </a:solidFill>
                <a:highlight>
                  <a:schemeClr val="lt1"/>
                </a:highlight>
                <a:latin typeface="Tahoma"/>
                <a:ea typeface="Tahoma"/>
                <a:cs typeface="Tahoma"/>
                <a:sym typeface="Tahoma"/>
              </a:rPr>
              <a:t>CLUSTER BY City</a:t>
            </a:r>
            <a:endParaRPr sz="4400">
              <a:solidFill>
                <a:srgbClr val="9999AA"/>
              </a:solidFill>
              <a:highlight>
                <a:schemeClr val="lt1"/>
              </a:highlight>
              <a:latin typeface="Tahoma"/>
              <a:ea typeface="Tahoma"/>
              <a:cs typeface="Tahoma"/>
              <a:sym typeface="Tahoma"/>
            </a:endParaRPr>
          </a:p>
          <a:p>
            <a:pPr marL="101600" lvl="0" indent="0" algn="l" rtl="0">
              <a:lnSpc>
                <a:spcPct val="135000"/>
              </a:lnSpc>
              <a:spcBef>
                <a:spcPts val="0"/>
              </a:spcBef>
              <a:spcAft>
                <a:spcPts val="0"/>
              </a:spcAft>
              <a:buNone/>
            </a:pPr>
            <a:r>
              <a:rPr lang="vi" sz="4400">
                <a:solidFill>
                  <a:srgbClr val="000000"/>
                </a:solidFill>
                <a:highlight>
                  <a:schemeClr val="lt1"/>
                </a:highlight>
                <a:latin typeface="Tahoma"/>
                <a:ea typeface="Tahoma"/>
                <a:cs typeface="Tahoma"/>
                <a:sym typeface="Tahoma"/>
              </a:rPr>
              <a:t>;</a:t>
            </a:r>
            <a:endParaRPr sz="4000">
              <a:solidFill>
                <a:srgbClr val="37474F"/>
              </a:solidFill>
              <a:latin typeface="Tahoma"/>
              <a:ea typeface="Tahoma"/>
              <a:cs typeface="Tahoma"/>
              <a:sym typeface="Tahoma"/>
            </a:endParaRPr>
          </a:p>
          <a:p>
            <a:pPr marL="0" lvl="0" indent="0" algn="l" rtl="0">
              <a:spcBef>
                <a:spcPts val="3800"/>
              </a:spcBef>
              <a:spcAft>
                <a:spcPts val="0"/>
              </a:spcAft>
              <a:buNone/>
            </a:pPr>
            <a:endParaRPr sz="1458">
              <a:solidFill>
                <a:srgbClr val="000000"/>
              </a:solidFill>
              <a:highlight>
                <a:srgbClr val="FFFFFF"/>
              </a:highlight>
              <a:latin typeface="Tahoma"/>
              <a:ea typeface="Tahoma"/>
              <a:cs typeface="Tahoma"/>
              <a:sym typeface="Tahoma"/>
            </a:endParaRPr>
          </a:p>
          <a:p>
            <a:pPr marL="0" lvl="0" indent="0" algn="l" rtl="0">
              <a:spcBef>
                <a:spcPts val="3800"/>
              </a:spcBef>
              <a:spcAft>
                <a:spcPts val="0"/>
              </a:spcAft>
              <a:buNone/>
            </a:pPr>
            <a:endParaRPr sz="1350">
              <a:solidFill>
                <a:srgbClr val="000000"/>
              </a:solidFill>
              <a:highlight>
                <a:srgbClr val="FFFFFF"/>
              </a:highlight>
              <a:latin typeface="Arial"/>
              <a:ea typeface="Arial"/>
              <a:cs typeface="Arial"/>
              <a:sym typeface="Arial"/>
            </a:endParaRPr>
          </a:p>
          <a:p>
            <a:pPr marL="0" lvl="0" indent="0" algn="l" rtl="0">
              <a:spcBef>
                <a:spcPts val="3000"/>
              </a:spcBef>
              <a:spcAft>
                <a:spcPts val="0"/>
              </a:spcAft>
              <a:buNone/>
            </a:pPr>
            <a:endParaRPr sz="1050">
              <a:solidFill>
                <a:srgbClr val="37474F"/>
              </a:solidFill>
              <a:latin typeface="Roboto Mono"/>
              <a:ea typeface="Roboto Mono"/>
              <a:cs typeface="Roboto Mono"/>
              <a:sym typeface="Roboto Mono"/>
            </a:endParaRPr>
          </a:p>
          <a:p>
            <a:pPr marL="0" lvl="0" indent="0" algn="l" rtl="0">
              <a:spcBef>
                <a:spcPts val="1400"/>
              </a:spcBef>
              <a:spcAft>
                <a:spcPts val="0"/>
              </a:spcAft>
              <a:buNone/>
            </a:pPr>
            <a:endParaRPr sz="1050">
              <a:solidFill>
                <a:srgbClr val="37474F"/>
              </a:solidFill>
              <a:latin typeface="Roboto Mono"/>
              <a:ea typeface="Roboto Mono"/>
              <a:cs typeface="Roboto Mono"/>
              <a:sym typeface="Roboto Mono"/>
            </a:endParaRPr>
          </a:p>
          <a:p>
            <a:pPr marL="0" lvl="0" indent="0" algn="l" rtl="0">
              <a:spcBef>
                <a:spcPts val="40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000000"/>
                </a:solidFill>
                <a:latin typeface="Arial"/>
                <a:ea typeface="Arial"/>
                <a:cs typeface="Arial"/>
                <a:sym typeface="Arial"/>
              </a:rPr>
              <a:t>CREATE VIEW</a:t>
            </a:r>
            <a:endParaRPr/>
          </a:p>
        </p:txBody>
      </p:sp>
      <p:sp>
        <p:nvSpPr>
          <p:cNvPr id="104" name="Google Shape;104;p19"/>
          <p:cNvSpPr txBox="1">
            <a:spLocks noGrp="1"/>
          </p:cNvSpPr>
          <p:nvPr>
            <p:ph type="body" idx="4294967295"/>
          </p:nvPr>
        </p:nvSpPr>
        <p:spPr>
          <a:xfrm>
            <a:off x="521425" y="771175"/>
            <a:ext cx="8222100" cy="3865200"/>
          </a:xfrm>
          <a:prstGeom prst="rect">
            <a:avLst/>
          </a:prstGeom>
        </p:spPr>
        <p:txBody>
          <a:bodyPr spcFirstLastPara="1" wrap="square" lIns="91425" tIns="91425" rIns="91425" bIns="91425" anchor="t" anchorCtr="0">
            <a:normAutofit/>
          </a:bodyPr>
          <a:lstStyle/>
          <a:p>
            <a:pPr marL="0" lvl="0" indent="0" algn="l" rtl="0">
              <a:lnSpc>
                <a:spcPct val="142857"/>
              </a:lnSpc>
              <a:spcBef>
                <a:spcPts val="0"/>
              </a:spcBef>
              <a:spcAft>
                <a:spcPts val="0"/>
              </a:spcAft>
              <a:buNone/>
            </a:pPr>
            <a:r>
              <a:rPr lang="vi" sz="1050" b="1">
                <a:solidFill>
                  <a:srgbClr val="37474F"/>
                </a:solidFill>
                <a:latin typeface="Roboto Mono"/>
                <a:ea typeface="Roboto Mono"/>
                <a:cs typeface="Roboto Mono"/>
                <a:sym typeface="Roboto Mono"/>
              </a:rPr>
              <a:t>CREATE VIEW | CREATE VIEW IF NOT EXISTS | CREATE OR REPLACE VIEW</a:t>
            </a:r>
            <a:r>
              <a:rPr lang="vi" sz="1050">
                <a:solidFill>
                  <a:srgbClr val="37474F"/>
                </a:solidFill>
                <a:latin typeface="Roboto Mono"/>
                <a:ea typeface="Roboto Mono"/>
                <a:cs typeface="Roboto Mono"/>
                <a:sym typeface="Roboto Mono"/>
              </a:rPr>
              <a:t> </a:t>
            </a:r>
            <a:endParaRPr sz="1050">
              <a:solidFill>
                <a:srgbClr val="37474F"/>
              </a:solidFill>
              <a:latin typeface="Roboto Mono"/>
              <a:ea typeface="Roboto Mono"/>
              <a:cs typeface="Roboto Mono"/>
              <a:sym typeface="Roboto Mono"/>
            </a:endParaRPr>
          </a:p>
          <a:p>
            <a:pPr marL="0" lvl="0" indent="457200" algn="l" rtl="0">
              <a:lnSpc>
                <a:spcPct val="142857"/>
              </a:lnSpc>
              <a:spcBef>
                <a:spcPts val="0"/>
              </a:spcBef>
              <a:spcAft>
                <a:spcPts val="0"/>
              </a:spcAft>
              <a:buNone/>
            </a:pPr>
            <a:r>
              <a:rPr lang="vi" sz="1050" i="1">
                <a:solidFill>
                  <a:srgbClr val="37474F"/>
                </a:solidFill>
                <a:latin typeface="Roboto Mono"/>
                <a:ea typeface="Roboto Mono"/>
                <a:cs typeface="Roboto Mono"/>
                <a:sym typeface="Roboto Mono"/>
              </a:rPr>
              <a:t>project_name.dataset_name.view_name</a:t>
            </a:r>
            <a:endParaRPr sz="1050" i="1">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7474F"/>
                </a:solidFill>
                <a:latin typeface="Roboto Mono"/>
                <a:ea typeface="Roboto Mono"/>
                <a:cs typeface="Roboto Mono"/>
                <a:sym typeface="Roboto Mono"/>
              </a:rPr>
              <a:t>OPTIONS(</a:t>
            </a:r>
            <a:r>
              <a:rPr lang="vi" sz="1050" b="1" u="sng">
                <a:solidFill>
                  <a:schemeClr val="hlink"/>
                </a:solidFill>
                <a:latin typeface="Roboto Mono"/>
                <a:ea typeface="Roboto Mono"/>
                <a:cs typeface="Roboto Mono"/>
                <a:sym typeface="Roboto Mono"/>
                <a:hlinkClick r:id="rId3"/>
              </a:rPr>
              <a:t>view_option_list</a:t>
            </a:r>
            <a:r>
              <a:rPr lang="vi" sz="1050">
                <a:solidFill>
                  <a:srgbClr val="37474F"/>
                </a:solidFill>
                <a:latin typeface="Roboto Mono"/>
                <a:ea typeface="Roboto Mono"/>
                <a:cs typeface="Roboto Mono"/>
                <a:sym typeface="Roboto Mono"/>
              </a:rPr>
              <a:t>)</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7474F"/>
                </a:solidFill>
                <a:latin typeface="Roboto Mono"/>
                <a:ea typeface="Roboto Mono"/>
                <a:cs typeface="Roboto Mono"/>
                <a:sym typeface="Roboto Mono"/>
              </a:rPr>
              <a:t>AS query_expression</a:t>
            </a:r>
            <a:endParaRPr sz="1050">
              <a:solidFill>
                <a:srgbClr val="37474F"/>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7474F"/>
              </a:solidFill>
              <a:latin typeface="Roboto Mono"/>
              <a:ea typeface="Roboto Mono"/>
              <a:cs typeface="Roboto Mono"/>
              <a:sym typeface="Roboto Mono"/>
            </a:endParaRPr>
          </a:p>
          <a:p>
            <a:pPr marL="0" lvl="0" indent="0" algn="l" rtl="0">
              <a:spcBef>
                <a:spcPts val="1400"/>
              </a:spcBef>
              <a:spcAft>
                <a:spcPts val="0"/>
              </a:spcAft>
              <a:buNone/>
            </a:pPr>
            <a:r>
              <a:rPr lang="vi" sz="1300" b="1">
                <a:solidFill>
                  <a:srgbClr val="202124"/>
                </a:solidFill>
                <a:highlight>
                  <a:srgbClr val="FFFFFF"/>
                </a:highlight>
                <a:latin typeface="Arial"/>
                <a:ea typeface="Arial"/>
                <a:cs typeface="Arial"/>
                <a:sym typeface="Arial"/>
              </a:rPr>
              <a:t>Examples</a:t>
            </a:r>
            <a:endParaRPr sz="1300" b="1">
              <a:solidFill>
                <a:srgbClr val="202124"/>
              </a:solidFill>
              <a:highlight>
                <a:srgbClr val="FFFFFF"/>
              </a:highlight>
              <a:latin typeface="Arial"/>
              <a:ea typeface="Arial"/>
              <a:cs typeface="Arial"/>
              <a:sym typeface="Arial"/>
            </a:endParaRPr>
          </a:p>
          <a:p>
            <a:pPr marL="457200" lvl="0" indent="0" algn="l" rtl="0">
              <a:lnSpc>
                <a:spcPct val="142857"/>
              </a:lnSpc>
              <a:spcBef>
                <a:spcPts val="400"/>
              </a:spcBef>
              <a:spcAft>
                <a:spcPts val="0"/>
              </a:spcAft>
              <a:buNone/>
            </a:pPr>
            <a:r>
              <a:rPr lang="vi" sz="1050">
                <a:solidFill>
                  <a:srgbClr val="3B78E7"/>
                </a:solidFill>
                <a:latin typeface="Roboto Mono"/>
                <a:ea typeface="Roboto Mono"/>
                <a:cs typeface="Roboto Mono"/>
                <a:sym typeface="Roboto Mono"/>
              </a:rPr>
              <a:t>CREATE</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VIEW</a:t>
            </a:r>
            <a:r>
              <a:rPr lang="vi" sz="1050">
                <a:solidFill>
                  <a:srgbClr val="37474F"/>
                </a:solidFill>
                <a:latin typeface="Roboto Mono"/>
                <a:ea typeface="Roboto Mono"/>
                <a:cs typeface="Roboto Mono"/>
                <a:sym typeface="Roboto Mono"/>
              </a:rPr>
              <a:t> `myproject.mydataset.newview`</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7474F"/>
                </a:solidFill>
                <a:latin typeface="Roboto Mono"/>
                <a:ea typeface="Roboto Mono"/>
                <a:cs typeface="Roboto Mono"/>
                <a:sym typeface="Roboto Mono"/>
              </a:rPr>
              <a:t>OPTIONS(</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7474F"/>
                </a:solidFill>
                <a:latin typeface="Roboto Mono"/>
                <a:ea typeface="Roboto Mono"/>
                <a:cs typeface="Roboto Mono"/>
                <a:sym typeface="Roboto Mono"/>
              </a:rPr>
              <a:t>  expiration_timestamp=TIMESTAMP_ADD(</a:t>
            </a:r>
            <a:r>
              <a:rPr lang="vi" sz="1050">
                <a:solidFill>
                  <a:srgbClr val="3B78E7"/>
                </a:solidFill>
                <a:latin typeface="Roboto Mono"/>
                <a:ea typeface="Roboto Mono"/>
                <a:cs typeface="Roboto Mono"/>
                <a:sym typeface="Roboto Mono"/>
              </a:rPr>
              <a:t>CURRENT_TIMESTAMP</a:t>
            </a:r>
            <a:r>
              <a:rPr lang="vi" sz="1050">
                <a:solidFill>
                  <a:srgbClr val="37474F"/>
                </a:solidFill>
                <a:latin typeface="Roboto Mono"/>
                <a:ea typeface="Roboto Mono"/>
                <a:cs typeface="Roboto Mono"/>
                <a:sym typeface="Roboto Mono"/>
              </a:rPr>
              <a:t>(), INTERVAL </a:t>
            </a:r>
            <a:r>
              <a:rPr lang="vi" sz="1050">
                <a:solidFill>
                  <a:srgbClr val="C53929"/>
                </a:solidFill>
                <a:latin typeface="Roboto Mono"/>
                <a:ea typeface="Roboto Mono"/>
                <a:cs typeface="Roboto Mono"/>
                <a:sym typeface="Roboto Mono"/>
              </a:rPr>
              <a:t>48</a:t>
            </a:r>
            <a:r>
              <a:rPr lang="vi" sz="1050">
                <a:solidFill>
                  <a:srgbClr val="37474F"/>
                </a:solidFill>
                <a:latin typeface="Roboto Mono"/>
                <a:ea typeface="Roboto Mono"/>
                <a:cs typeface="Roboto Mono"/>
                <a:sym typeface="Roboto Mono"/>
              </a:rPr>
              <a:t> HOUR),</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7474F"/>
                </a:solidFill>
                <a:latin typeface="Roboto Mono"/>
                <a:ea typeface="Roboto Mono"/>
                <a:cs typeface="Roboto Mono"/>
                <a:sym typeface="Roboto Mono"/>
              </a:rPr>
              <a:t>  friendly_name=</a:t>
            </a:r>
            <a:r>
              <a:rPr lang="vi" sz="1050">
                <a:solidFill>
                  <a:srgbClr val="0D904F"/>
                </a:solidFill>
                <a:latin typeface="Roboto Mono"/>
                <a:ea typeface="Roboto Mono"/>
                <a:cs typeface="Roboto Mono"/>
                <a:sym typeface="Roboto Mono"/>
              </a:rPr>
              <a:t>"newview"</a:t>
            </a:r>
            <a:r>
              <a:rPr lang="vi" sz="1050">
                <a:solidFill>
                  <a:srgbClr val="37474F"/>
                </a:solidFill>
                <a:latin typeface="Roboto Mono"/>
                <a:ea typeface="Roboto Mono"/>
                <a:cs typeface="Roboto Mono"/>
                <a:sym typeface="Roboto Mono"/>
              </a:rPr>
              <a:t>,</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7474F"/>
                </a:solidFill>
                <a:latin typeface="Roboto Mono"/>
                <a:ea typeface="Roboto Mono"/>
                <a:cs typeface="Roboto Mono"/>
                <a:sym typeface="Roboto Mono"/>
              </a:rPr>
              <a:t>  description=</a:t>
            </a:r>
            <a:r>
              <a:rPr lang="vi" sz="1050">
                <a:solidFill>
                  <a:srgbClr val="0D904F"/>
                </a:solidFill>
                <a:latin typeface="Roboto Mono"/>
                <a:ea typeface="Roboto Mono"/>
                <a:cs typeface="Roboto Mono"/>
                <a:sym typeface="Roboto Mono"/>
              </a:rPr>
              <a:t>"a view that expires in 2 days"</a:t>
            </a:r>
            <a:r>
              <a:rPr lang="vi" sz="1050">
                <a:solidFill>
                  <a:srgbClr val="37474F"/>
                </a:solidFill>
                <a:latin typeface="Roboto Mono"/>
                <a:ea typeface="Roboto Mono"/>
                <a:cs typeface="Roboto Mono"/>
                <a:sym typeface="Roboto Mono"/>
              </a:rPr>
              <a:t>,</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7474F"/>
                </a:solidFill>
                <a:latin typeface="Roboto Mono"/>
                <a:ea typeface="Roboto Mono"/>
                <a:cs typeface="Roboto Mono"/>
                <a:sym typeface="Roboto Mono"/>
              </a:rPr>
              <a:t>  labels=[(</a:t>
            </a:r>
            <a:r>
              <a:rPr lang="vi" sz="1050">
                <a:solidFill>
                  <a:srgbClr val="0D904F"/>
                </a:solidFill>
                <a:latin typeface="Roboto Mono"/>
                <a:ea typeface="Roboto Mono"/>
                <a:cs typeface="Roboto Mono"/>
                <a:sym typeface="Roboto Mono"/>
              </a:rPr>
              <a:t>"org_unit"</a:t>
            </a:r>
            <a:r>
              <a:rPr lang="vi" sz="1050">
                <a:solidFill>
                  <a:srgbClr val="37474F"/>
                </a:solidFill>
                <a:latin typeface="Roboto Mono"/>
                <a:ea typeface="Roboto Mono"/>
                <a:cs typeface="Roboto Mono"/>
                <a:sym typeface="Roboto Mono"/>
              </a:rPr>
              <a:t>, </a:t>
            </a:r>
            <a:r>
              <a:rPr lang="vi" sz="1050">
                <a:solidFill>
                  <a:srgbClr val="0D904F"/>
                </a:solidFill>
                <a:latin typeface="Roboto Mono"/>
                <a:ea typeface="Roboto Mono"/>
                <a:cs typeface="Roboto Mono"/>
                <a:sym typeface="Roboto Mono"/>
              </a:rPr>
              <a:t>"development"</a:t>
            </a:r>
            <a:r>
              <a:rPr lang="vi" sz="1050">
                <a:solidFill>
                  <a:srgbClr val="37474F"/>
                </a:solidFill>
                <a:latin typeface="Roboto Mono"/>
                <a:ea typeface="Roboto Mono"/>
                <a:cs typeface="Roboto Mono"/>
                <a:sym typeface="Roboto Mono"/>
              </a:rPr>
              <a:t>)]</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7474F"/>
                </a:solidFill>
                <a:latin typeface="Roboto Mono"/>
                <a:ea typeface="Roboto Mono"/>
                <a:cs typeface="Roboto Mono"/>
                <a:sym typeface="Roboto Mono"/>
              </a:rPr>
              <a:t>)</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AS</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SELECT</a:t>
            </a:r>
            <a:r>
              <a:rPr lang="vi" sz="1050">
                <a:solidFill>
                  <a:srgbClr val="37474F"/>
                </a:solidFill>
                <a:latin typeface="Roboto Mono"/>
                <a:ea typeface="Roboto Mono"/>
                <a:cs typeface="Roboto Mono"/>
                <a:sym typeface="Roboto Mono"/>
              </a:rPr>
              <a:t> column_1, column_2, column_3 </a:t>
            </a:r>
            <a:r>
              <a:rPr lang="vi" sz="1050">
                <a:solidFill>
                  <a:srgbClr val="3B78E7"/>
                </a:solidFill>
                <a:latin typeface="Roboto Mono"/>
                <a:ea typeface="Roboto Mono"/>
                <a:cs typeface="Roboto Mono"/>
                <a:sym typeface="Roboto Mono"/>
              </a:rPr>
              <a:t>FROM</a:t>
            </a:r>
            <a:r>
              <a:rPr lang="vi" sz="1050">
                <a:solidFill>
                  <a:srgbClr val="37474F"/>
                </a:solidFill>
                <a:latin typeface="Roboto Mono"/>
                <a:ea typeface="Roboto Mono"/>
                <a:cs typeface="Roboto Mono"/>
                <a:sym typeface="Roboto Mono"/>
              </a:rPr>
              <a:t> `myproject.mydataset.mytable`</a:t>
            </a:r>
            <a:endParaRPr sz="1050">
              <a:solidFill>
                <a:srgbClr val="37474F"/>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endParaRPr sz="1050">
              <a:solidFill>
                <a:srgbClr val="37474F"/>
              </a:solidFill>
              <a:latin typeface="Roboto Mono"/>
              <a:ea typeface="Roboto Mono"/>
              <a:cs typeface="Roboto Mono"/>
              <a:sym typeface="Roboto Mono"/>
            </a:endParaRPr>
          </a:p>
          <a:p>
            <a:pPr marL="0" lvl="0" indent="0" algn="l" rtl="0">
              <a:spcBef>
                <a:spcPts val="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000000"/>
                </a:solidFill>
                <a:latin typeface="Arial"/>
                <a:ea typeface="Arial"/>
                <a:cs typeface="Arial"/>
                <a:sym typeface="Arial"/>
              </a:rPr>
              <a:t>CREATE FUNCTION</a:t>
            </a:r>
            <a:endParaRPr/>
          </a:p>
        </p:txBody>
      </p:sp>
      <p:sp>
        <p:nvSpPr>
          <p:cNvPr id="110" name="Google Shape;110;p20"/>
          <p:cNvSpPr txBox="1">
            <a:spLocks noGrp="1"/>
          </p:cNvSpPr>
          <p:nvPr>
            <p:ph type="body" idx="4294967295"/>
          </p:nvPr>
        </p:nvSpPr>
        <p:spPr>
          <a:xfrm>
            <a:off x="521425" y="771175"/>
            <a:ext cx="8222100" cy="3865200"/>
          </a:xfrm>
          <a:prstGeom prst="rect">
            <a:avLst/>
          </a:prstGeom>
        </p:spPr>
        <p:txBody>
          <a:bodyPr spcFirstLastPara="1" wrap="square" lIns="91425" tIns="91425" rIns="91425" bIns="91425" anchor="t" anchorCtr="0">
            <a:normAutofit fontScale="92500" lnSpcReduction="10000"/>
          </a:bodyPr>
          <a:lstStyle/>
          <a:p>
            <a:pPr marL="0" lvl="0" indent="0" algn="l" rtl="0">
              <a:lnSpc>
                <a:spcPct val="142857"/>
              </a:lnSpc>
              <a:spcBef>
                <a:spcPts val="0"/>
              </a:spcBef>
              <a:spcAft>
                <a:spcPts val="0"/>
              </a:spcAft>
              <a:buNone/>
            </a:pPr>
            <a:r>
              <a:rPr lang="vi" sz="1050">
                <a:solidFill>
                  <a:srgbClr val="3B78E7"/>
                </a:solidFill>
                <a:latin typeface="Tahoma"/>
                <a:ea typeface="Tahoma"/>
                <a:cs typeface="Tahoma"/>
                <a:sym typeface="Tahoma"/>
              </a:rPr>
              <a:t>CREATE</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OR</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REPLACE</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FUNCTION</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IF</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NOT</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EXISTS</a:t>
            </a:r>
            <a:r>
              <a:rPr lang="vi" sz="1050">
                <a:solidFill>
                  <a:srgbClr val="37474F"/>
                </a:solidFill>
                <a:latin typeface="Tahoma"/>
                <a:ea typeface="Tahoma"/>
                <a:cs typeface="Tahoma"/>
                <a:sym typeface="Tahoma"/>
              </a:rPr>
              <a:t>]</a:t>
            </a:r>
            <a:endParaRPr sz="105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050">
                <a:solidFill>
                  <a:srgbClr val="37474F"/>
                </a:solidFill>
                <a:latin typeface="Tahoma"/>
                <a:ea typeface="Tahoma"/>
                <a:cs typeface="Tahoma"/>
                <a:sym typeface="Tahoma"/>
              </a:rPr>
              <a:t>    </a:t>
            </a:r>
            <a:r>
              <a:rPr lang="vi" sz="1050" b="1" i="1">
                <a:solidFill>
                  <a:srgbClr val="37474F"/>
                </a:solidFill>
                <a:latin typeface="Tahoma"/>
                <a:ea typeface="Tahoma"/>
                <a:cs typeface="Tahoma"/>
                <a:sym typeface="Tahoma"/>
              </a:rPr>
              <a:t>project_name</a:t>
            </a:r>
            <a:r>
              <a:rPr lang="vi" sz="1050">
                <a:solidFill>
                  <a:srgbClr val="37474F"/>
                </a:solidFill>
                <a:latin typeface="Tahoma"/>
                <a:ea typeface="Tahoma"/>
                <a:cs typeface="Tahoma"/>
                <a:sym typeface="Tahoma"/>
              </a:rPr>
              <a:t>.</a:t>
            </a:r>
            <a:r>
              <a:rPr lang="vi" sz="1050" b="1" i="1">
                <a:solidFill>
                  <a:srgbClr val="37474F"/>
                </a:solidFill>
                <a:latin typeface="Tahoma"/>
                <a:ea typeface="Tahoma"/>
                <a:cs typeface="Tahoma"/>
                <a:sym typeface="Tahoma"/>
              </a:rPr>
              <a:t>dataset_name</a:t>
            </a:r>
            <a:r>
              <a:rPr lang="vi" sz="1050">
                <a:solidFill>
                  <a:srgbClr val="37474F"/>
                </a:solidFill>
                <a:latin typeface="Tahoma"/>
                <a:ea typeface="Tahoma"/>
                <a:cs typeface="Tahoma"/>
                <a:sym typeface="Tahoma"/>
              </a:rPr>
              <a:t>.</a:t>
            </a:r>
            <a:r>
              <a:rPr lang="vi" sz="1050" b="1" i="1">
                <a:solidFill>
                  <a:srgbClr val="37474F"/>
                </a:solidFill>
                <a:latin typeface="Tahoma"/>
                <a:ea typeface="Tahoma"/>
                <a:cs typeface="Tahoma"/>
                <a:sym typeface="Tahoma"/>
              </a:rPr>
              <a:t>function_name</a:t>
            </a:r>
            <a:endParaRPr sz="1050" b="1" i="1">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050">
                <a:solidFill>
                  <a:srgbClr val="37474F"/>
                </a:solidFill>
                <a:latin typeface="Tahoma"/>
                <a:ea typeface="Tahoma"/>
                <a:cs typeface="Tahoma"/>
                <a:sym typeface="Tahoma"/>
              </a:rPr>
              <a:t>    (</a:t>
            </a:r>
            <a:r>
              <a:rPr lang="vi" sz="1050" b="1" i="1">
                <a:solidFill>
                  <a:srgbClr val="37474F"/>
                </a:solidFill>
                <a:latin typeface="Tahoma"/>
                <a:ea typeface="Tahoma"/>
                <a:cs typeface="Tahoma"/>
                <a:sym typeface="Tahoma"/>
              </a:rPr>
              <a:t>named_parameter</a:t>
            </a:r>
            <a:r>
              <a:rPr lang="vi" sz="1050">
                <a:solidFill>
                  <a:srgbClr val="37474F"/>
                </a:solidFill>
                <a:latin typeface="Tahoma"/>
                <a:ea typeface="Tahoma"/>
                <a:cs typeface="Tahoma"/>
                <a:sym typeface="Tahoma"/>
              </a:rPr>
              <a:t>[, ...])</a:t>
            </a:r>
            <a:endParaRPr sz="105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RETURNS</a:t>
            </a:r>
            <a:r>
              <a:rPr lang="vi" sz="1050">
                <a:solidFill>
                  <a:srgbClr val="37474F"/>
                </a:solidFill>
                <a:latin typeface="Tahoma"/>
                <a:ea typeface="Tahoma"/>
                <a:cs typeface="Tahoma"/>
                <a:sym typeface="Tahoma"/>
              </a:rPr>
              <a:t> </a:t>
            </a:r>
            <a:r>
              <a:rPr lang="vi" sz="1050" b="1" i="1">
                <a:solidFill>
                  <a:srgbClr val="37474F"/>
                </a:solidFill>
                <a:latin typeface="Tahoma"/>
                <a:ea typeface="Tahoma"/>
                <a:cs typeface="Tahoma"/>
                <a:sym typeface="Tahoma"/>
              </a:rPr>
              <a:t>data_type</a:t>
            </a:r>
            <a:endParaRPr sz="105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050">
                <a:solidFill>
                  <a:srgbClr val="37474F"/>
                </a:solidFill>
                <a:latin typeface="Tahoma"/>
                <a:ea typeface="Tahoma"/>
                <a:cs typeface="Tahoma"/>
                <a:sym typeface="Tahoma"/>
              </a:rPr>
              <a:t>  { </a:t>
            </a:r>
            <a:r>
              <a:rPr lang="vi" sz="1050" b="1" i="1">
                <a:solidFill>
                  <a:srgbClr val="37474F"/>
                </a:solidFill>
                <a:latin typeface="Tahoma"/>
                <a:ea typeface="Tahoma"/>
                <a:cs typeface="Tahoma"/>
                <a:sym typeface="Tahoma"/>
              </a:rPr>
              <a:t>sql_function_definition</a:t>
            </a:r>
            <a:r>
              <a:rPr lang="vi" sz="1050">
                <a:solidFill>
                  <a:srgbClr val="37474F"/>
                </a:solidFill>
                <a:latin typeface="Tahoma"/>
                <a:ea typeface="Tahoma"/>
                <a:cs typeface="Tahoma"/>
                <a:sym typeface="Tahoma"/>
              </a:rPr>
              <a:t> | </a:t>
            </a:r>
            <a:r>
              <a:rPr lang="vi" sz="1050" b="1" i="1">
                <a:solidFill>
                  <a:srgbClr val="37474F"/>
                </a:solidFill>
                <a:latin typeface="Tahoma"/>
                <a:ea typeface="Tahoma"/>
                <a:cs typeface="Tahoma"/>
                <a:sym typeface="Tahoma"/>
              </a:rPr>
              <a:t>javascript_function_definition</a:t>
            </a:r>
            <a:r>
              <a:rPr lang="vi" sz="1050">
                <a:solidFill>
                  <a:srgbClr val="37474F"/>
                </a:solidFill>
                <a:latin typeface="Tahoma"/>
                <a:ea typeface="Tahoma"/>
                <a:cs typeface="Tahoma"/>
                <a:sym typeface="Tahoma"/>
              </a:rPr>
              <a:t> }</a:t>
            </a:r>
            <a:endParaRPr sz="1050">
              <a:solidFill>
                <a:srgbClr val="37474F"/>
              </a:solidFill>
              <a:latin typeface="Tahoma"/>
              <a:ea typeface="Tahoma"/>
              <a:cs typeface="Tahoma"/>
              <a:sym typeface="Tahoma"/>
            </a:endParaRPr>
          </a:p>
          <a:p>
            <a:pPr marL="0" lvl="0" indent="0" algn="l" rtl="0">
              <a:spcBef>
                <a:spcPts val="1400"/>
              </a:spcBef>
              <a:spcAft>
                <a:spcPts val="0"/>
              </a:spcAft>
              <a:buNone/>
            </a:pPr>
            <a:r>
              <a:rPr lang="vi" sz="1300" b="1">
                <a:solidFill>
                  <a:srgbClr val="202124"/>
                </a:solidFill>
                <a:highlight>
                  <a:srgbClr val="FFFFFF"/>
                </a:highlight>
                <a:latin typeface="Arial"/>
                <a:ea typeface="Arial"/>
                <a:cs typeface="Arial"/>
                <a:sym typeface="Arial"/>
              </a:rPr>
              <a:t>Examples: </a:t>
            </a:r>
            <a:endParaRPr sz="1300" b="1">
              <a:solidFill>
                <a:srgbClr val="202124"/>
              </a:solidFill>
              <a:highlight>
                <a:srgbClr val="FFFFFF"/>
              </a:highlight>
              <a:latin typeface="Tahoma"/>
              <a:ea typeface="Tahoma"/>
              <a:cs typeface="Tahoma"/>
              <a:sym typeface="Tahoma"/>
            </a:endParaRPr>
          </a:p>
          <a:p>
            <a:pPr marL="0" lvl="0" indent="0" algn="l" rtl="0">
              <a:lnSpc>
                <a:spcPct val="100000"/>
              </a:lnSpc>
              <a:spcBef>
                <a:spcPts val="400"/>
              </a:spcBef>
              <a:spcAft>
                <a:spcPts val="0"/>
              </a:spcAft>
              <a:buNone/>
            </a:pPr>
            <a:r>
              <a:rPr lang="vi" sz="1050">
                <a:solidFill>
                  <a:srgbClr val="3B78E7"/>
                </a:solidFill>
                <a:latin typeface="Tahoma"/>
                <a:ea typeface="Tahoma"/>
                <a:cs typeface="Tahoma"/>
                <a:sym typeface="Tahoma"/>
              </a:rPr>
              <a:t>CREATE</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FUNCTION</a:t>
            </a:r>
            <a:r>
              <a:rPr lang="vi" sz="1050">
                <a:solidFill>
                  <a:srgbClr val="37474F"/>
                </a:solidFill>
                <a:latin typeface="Tahoma"/>
                <a:ea typeface="Tahoma"/>
                <a:cs typeface="Tahoma"/>
                <a:sym typeface="Tahoma"/>
              </a:rPr>
              <a:t> mydataset.multiplyInputs(x FLOAT64, y FLOAT64)</a:t>
            </a:r>
            <a:endParaRPr sz="1050">
              <a:solidFill>
                <a:srgbClr val="37474F"/>
              </a:solidFill>
              <a:latin typeface="Tahoma"/>
              <a:ea typeface="Tahoma"/>
              <a:cs typeface="Tahoma"/>
              <a:sym typeface="Tahoma"/>
            </a:endParaRPr>
          </a:p>
          <a:p>
            <a:pPr marL="0" lvl="0" indent="0" algn="l" rtl="0">
              <a:lnSpc>
                <a:spcPct val="100000"/>
              </a:lnSpc>
              <a:spcBef>
                <a:spcPts val="0"/>
              </a:spcBef>
              <a:spcAft>
                <a:spcPts val="0"/>
              </a:spcAft>
              <a:buNone/>
            </a:pPr>
            <a:r>
              <a:rPr lang="vi" sz="1050">
                <a:solidFill>
                  <a:srgbClr val="37474F"/>
                </a:solidFill>
                <a:latin typeface="Tahoma"/>
                <a:ea typeface="Tahoma"/>
                <a:cs typeface="Tahoma"/>
                <a:sym typeface="Tahoma"/>
              </a:rPr>
              <a:t>RETURNS FLOAT64</a:t>
            </a:r>
            <a:endParaRPr sz="105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050">
                <a:solidFill>
                  <a:srgbClr val="3B78E7"/>
                </a:solidFill>
                <a:latin typeface="Tahoma"/>
                <a:ea typeface="Tahoma"/>
                <a:cs typeface="Tahoma"/>
                <a:sym typeface="Tahoma"/>
              </a:rPr>
              <a:t>AS</a:t>
            </a:r>
            <a:r>
              <a:rPr lang="vi" sz="1050">
                <a:solidFill>
                  <a:srgbClr val="37474F"/>
                </a:solidFill>
                <a:latin typeface="Tahoma"/>
                <a:ea typeface="Tahoma"/>
                <a:cs typeface="Tahoma"/>
                <a:sym typeface="Tahoma"/>
              </a:rPr>
              <a:t> (x * y);</a:t>
            </a:r>
            <a:endParaRPr sz="105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endParaRPr sz="105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050" b="1">
                <a:solidFill>
                  <a:srgbClr val="37474F"/>
                </a:solidFill>
                <a:latin typeface="Tahoma"/>
                <a:ea typeface="Tahoma"/>
                <a:cs typeface="Tahoma"/>
                <a:sym typeface="Tahoma"/>
              </a:rPr>
              <a:t>Using: </a:t>
            </a:r>
            <a:endParaRPr sz="1050" b="1">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050" b="1">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WITH</a:t>
            </a:r>
            <a:r>
              <a:rPr lang="vi" sz="1050">
                <a:solidFill>
                  <a:srgbClr val="37474F"/>
                </a:solidFill>
                <a:latin typeface="Tahoma"/>
                <a:ea typeface="Tahoma"/>
                <a:cs typeface="Tahoma"/>
                <a:sym typeface="Tahoma"/>
              </a:rPr>
              <a:t> numbers </a:t>
            </a:r>
            <a:r>
              <a:rPr lang="vi" sz="1050">
                <a:solidFill>
                  <a:srgbClr val="3B78E7"/>
                </a:solidFill>
                <a:latin typeface="Tahoma"/>
                <a:ea typeface="Tahoma"/>
                <a:cs typeface="Tahoma"/>
                <a:sym typeface="Tahoma"/>
              </a:rPr>
              <a:t>AS</a:t>
            </a:r>
            <a:endParaRPr sz="1050">
              <a:solidFill>
                <a:srgbClr val="3B78E7"/>
              </a:solidFill>
              <a:latin typeface="Tahoma"/>
              <a:ea typeface="Tahoma"/>
              <a:cs typeface="Tahoma"/>
              <a:sym typeface="Tahoma"/>
            </a:endParaRPr>
          </a:p>
          <a:p>
            <a:pPr marL="457200" lvl="0" indent="0" algn="l" rtl="0">
              <a:lnSpc>
                <a:spcPct val="100000"/>
              </a:lnSpc>
              <a:spcBef>
                <a:spcPts val="0"/>
              </a:spcBef>
              <a:spcAft>
                <a:spcPts val="0"/>
              </a:spcAft>
              <a:buNone/>
            </a:pP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SELECT</a:t>
            </a:r>
            <a:r>
              <a:rPr lang="vi" sz="1050">
                <a:solidFill>
                  <a:srgbClr val="37474F"/>
                </a:solidFill>
                <a:latin typeface="Tahoma"/>
                <a:ea typeface="Tahoma"/>
                <a:cs typeface="Tahoma"/>
                <a:sym typeface="Tahoma"/>
              </a:rPr>
              <a:t> </a:t>
            </a:r>
            <a:r>
              <a:rPr lang="vi" sz="1050">
                <a:solidFill>
                  <a:srgbClr val="C53929"/>
                </a:solidFill>
                <a:latin typeface="Tahoma"/>
                <a:ea typeface="Tahoma"/>
                <a:cs typeface="Tahoma"/>
                <a:sym typeface="Tahoma"/>
              </a:rPr>
              <a:t>1</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AS</a:t>
            </a:r>
            <a:r>
              <a:rPr lang="vi" sz="1050">
                <a:solidFill>
                  <a:srgbClr val="37474F"/>
                </a:solidFill>
                <a:latin typeface="Tahoma"/>
                <a:ea typeface="Tahoma"/>
                <a:cs typeface="Tahoma"/>
                <a:sym typeface="Tahoma"/>
              </a:rPr>
              <a:t> x, </a:t>
            </a:r>
            <a:r>
              <a:rPr lang="vi" sz="1050">
                <a:solidFill>
                  <a:srgbClr val="C53929"/>
                </a:solidFill>
                <a:latin typeface="Tahoma"/>
                <a:ea typeface="Tahoma"/>
                <a:cs typeface="Tahoma"/>
                <a:sym typeface="Tahoma"/>
              </a:rPr>
              <a:t>5</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as</a:t>
            </a:r>
            <a:r>
              <a:rPr lang="vi" sz="1050">
                <a:solidFill>
                  <a:srgbClr val="37474F"/>
                </a:solidFill>
                <a:latin typeface="Tahoma"/>
                <a:ea typeface="Tahoma"/>
                <a:cs typeface="Tahoma"/>
                <a:sym typeface="Tahoma"/>
              </a:rPr>
              <a:t> y</a:t>
            </a:r>
            <a:endParaRPr sz="1050">
              <a:solidFill>
                <a:srgbClr val="37474F"/>
              </a:solidFill>
              <a:latin typeface="Tahoma"/>
              <a:ea typeface="Tahoma"/>
              <a:cs typeface="Tahoma"/>
              <a:sym typeface="Tahoma"/>
            </a:endParaRPr>
          </a:p>
          <a:p>
            <a:pPr marL="457200" lvl="0" indent="0" algn="l" rtl="0">
              <a:lnSpc>
                <a:spcPct val="100000"/>
              </a:lnSpc>
              <a:spcBef>
                <a:spcPts val="0"/>
              </a:spcBef>
              <a:spcAft>
                <a:spcPts val="0"/>
              </a:spcAft>
              <a:buNone/>
            </a:pP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UNION</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ALL</a:t>
            </a:r>
            <a:endParaRPr sz="1050">
              <a:solidFill>
                <a:srgbClr val="3B78E7"/>
              </a:solidFill>
              <a:latin typeface="Tahoma"/>
              <a:ea typeface="Tahoma"/>
              <a:cs typeface="Tahoma"/>
              <a:sym typeface="Tahoma"/>
            </a:endParaRPr>
          </a:p>
          <a:p>
            <a:pPr marL="457200" lvl="0" indent="0" algn="l" rtl="0">
              <a:lnSpc>
                <a:spcPct val="100000"/>
              </a:lnSpc>
              <a:spcBef>
                <a:spcPts val="0"/>
              </a:spcBef>
              <a:spcAft>
                <a:spcPts val="0"/>
              </a:spcAft>
              <a:buNone/>
            </a:pP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SELECT</a:t>
            </a:r>
            <a:r>
              <a:rPr lang="vi" sz="1050">
                <a:solidFill>
                  <a:srgbClr val="37474F"/>
                </a:solidFill>
                <a:latin typeface="Tahoma"/>
                <a:ea typeface="Tahoma"/>
                <a:cs typeface="Tahoma"/>
                <a:sym typeface="Tahoma"/>
              </a:rPr>
              <a:t> </a:t>
            </a:r>
            <a:r>
              <a:rPr lang="vi" sz="1050">
                <a:solidFill>
                  <a:srgbClr val="C53929"/>
                </a:solidFill>
                <a:latin typeface="Tahoma"/>
                <a:ea typeface="Tahoma"/>
                <a:cs typeface="Tahoma"/>
                <a:sym typeface="Tahoma"/>
              </a:rPr>
              <a:t>2</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AS</a:t>
            </a:r>
            <a:r>
              <a:rPr lang="vi" sz="1050">
                <a:solidFill>
                  <a:srgbClr val="37474F"/>
                </a:solidFill>
                <a:latin typeface="Tahoma"/>
                <a:ea typeface="Tahoma"/>
                <a:cs typeface="Tahoma"/>
                <a:sym typeface="Tahoma"/>
              </a:rPr>
              <a:t> x, </a:t>
            </a:r>
            <a:r>
              <a:rPr lang="vi" sz="1050">
                <a:solidFill>
                  <a:srgbClr val="C53929"/>
                </a:solidFill>
                <a:latin typeface="Tahoma"/>
                <a:ea typeface="Tahoma"/>
                <a:cs typeface="Tahoma"/>
                <a:sym typeface="Tahoma"/>
              </a:rPr>
              <a:t>10</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as</a:t>
            </a:r>
            <a:r>
              <a:rPr lang="vi" sz="1050">
                <a:solidFill>
                  <a:srgbClr val="37474F"/>
                </a:solidFill>
                <a:latin typeface="Tahoma"/>
                <a:ea typeface="Tahoma"/>
                <a:cs typeface="Tahoma"/>
                <a:sym typeface="Tahoma"/>
              </a:rPr>
              <a:t> y</a:t>
            </a:r>
            <a:endParaRPr sz="1050">
              <a:solidFill>
                <a:srgbClr val="37474F"/>
              </a:solidFill>
              <a:latin typeface="Tahoma"/>
              <a:ea typeface="Tahoma"/>
              <a:cs typeface="Tahoma"/>
              <a:sym typeface="Tahoma"/>
            </a:endParaRPr>
          </a:p>
          <a:p>
            <a:pPr marL="457200" lvl="0" indent="0" algn="l" rtl="0">
              <a:lnSpc>
                <a:spcPct val="100000"/>
              </a:lnSpc>
              <a:spcBef>
                <a:spcPts val="0"/>
              </a:spcBef>
              <a:spcAft>
                <a:spcPts val="0"/>
              </a:spcAft>
              <a:buNone/>
            </a:pP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UNION</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ALL</a:t>
            </a:r>
            <a:endParaRPr sz="1050">
              <a:solidFill>
                <a:srgbClr val="3B78E7"/>
              </a:solidFill>
              <a:latin typeface="Tahoma"/>
              <a:ea typeface="Tahoma"/>
              <a:cs typeface="Tahoma"/>
              <a:sym typeface="Tahoma"/>
            </a:endParaRPr>
          </a:p>
          <a:p>
            <a:pPr marL="457200" lvl="0" indent="0" algn="l" rtl="0">
              <a:lnSpc>
                <a:spcPct val="100000"/>
              </a:lnSpc>
              <a:spcBef>
                <a:spcPts val="0"/>
              </a:spcBef>
              <a:spcAft>
                <a:spcPts val="0"/>
              </a:spcAft>
              <a:buNone/>
            </a:pP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SELECT</a:t>
            </a:r>
            <a:r>
              <a:rPr lang="vi" sz="1050">
                <a:solidFill>
                  <a:srgbClr val="37474F"/>
                </a:solidFill>
                <a:latin typeface="Tahoma"/>
                <a:ea typeface="Tahoma"/>
                <a:cs typeface="Tahoma"/>
                <a:sym typeface="Tahoma"/>
              </a:rPr>
              <a:t> </a:t>
            </a:r>
            <a:r>
              <a:rPr lang="vi" sz="1050">
                <a:solidFill>
                  <a:srgbClr val="C53929"/>
                </a:solidFill>
                <a:latin typeface="Tahoma"/>
                <a:ea typeface="Tahoma"/>
                <a:cs typeface="Tahoma"/>
                <a:sym typeface="Tahoma"/>
              </a:rPr>
              <a:t>3</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as</a:t>
            </a:r>
            <a:r>
              <a:rPr lang="vi" sz="1050">
                <a:solidFill>
                  <a:srgbClr val="37474F"/>
                </a:solidFill>
                <a:latin typeface="Tahoma"/>
                <a:ea typeface="Tahoma"/>
                <a:cs typeface="Tahoma"/>
                <a:sym typeface="Tahoma"/>
              </a:rPr>
              <a:t> x, </a:t>
            </a:r>
            <a:r>
              <a:rPr lang="vi" sz="1050">
                <a:solidFill>
                  <a:srgbClr val="C53929"/>
                </a:solidFill>
                <a:latin typeface="Tahoma"/>
                <a:ea typeface="Tahoma"/>
                <a:cs typeface="Tahoma"/>
                <a:sym typeface="Tahoma"/>
              </a:rPr>
              <a:t>15</a:t>
            </a:r>
            <a:r>
              <a:rPr lang="vi" sz="1050">
                <a:solidFill>
                  <a:srgbClr val="37474F"/>
                </a:solidFill>
                <a:latin typeface="Tahoma"/>
                <a:ea typeface="Tahoma"/>
                <a:cs typeface="Tahoma"/>
                <a:sym typeface="Tahoma"/>
              </a:rPr>
              <a:t> </a:t>
            </a:r>
            <a:r>
              <a:rPr lang="vi" sz="1050">
                <a:solidFill>
                  <a:srgbClr val="3B78E7"/>
                </a:solidFill>
                <a:latin typeface="Tahoma"/>
                <a:ea typeface="Tahoma"/>
                <a:cs typeface="Tahoma"/>
                <a:sym typeface="Tahoma"/>
              </a:rPr>
              <a:t>as</a:t>
            </a:r>
            <a:r>
              <a:rPr lang="vi" sz="1050">
                <a:solidFill>
                  <a:srgbClr val="37474F"/>
                </a:solidFill>
                <a:latin typeface="Tahoma"/>
                <a:ea typeface="Tahoma"/>
                <a:cs typeface="Tahoma"/>
                <a:sym typeface="Tahoma"/>
              </a:rPr>
              <a:t> y)</a:t>
            </a:r>
            <a:endParaRPr sz="1050">
              <a:solidFill>
                <a:srgbClr val="37474F"/>
              </a:solidFill>
              <a:latin typeface="Tahoma"/>
              <a:ea typeface="Tahoma"/>
              <a:cs typeface="Tahoma"/>
              <a:sym typeface="Tahoma"/>
            </a:endParaRPr>
          </a:p>
          <a:p>
            <a:pPr marL="457200" lvl="0" indent="0" algn="l" rtl="0">
              <a:lnSpc>
                <a:spcPct val="100000"/>
              </a:lnSpc>
              <a:spcBef>
                <a:spcPts val="0"/>
              </a:spcBef>
              <a:spcAft>
                <a:spcPts val="0"/>
              </a:spcAft>
              <a:buNone/>
            </a:pPr>
            <a:r>
              <a:rPr lang="vi" sz="1050">
                <a:solidFill>
                  <a:srgbClr val="3B78E7"/>
                </a:solidFill>
                <a:latin typeface="Tahoma"/>
                <a:ea typeface="Tahoma"/>
                <a:cs typeface="Tahoma"/>
                <a:sym typeface="Tahoma"/>
              </a:rPr>
              <a:t>SELECT</a:t>
            </a:r>
            <a:r>
              <a:rPr lang="vi" sz="1050">
                <a:solidFill>
                  <a:srgbClr val="37474F"/>
                </a:solidFill>
                <a:latin typeface="Tahoma"/>
                <a:ea typeface="Tahoma"/>
                <a:cs typeface="Tahoma"/>
                <a:sym typeface="Tahoma"/>
              </a:rPr>
              <a:t> x, y, mydataset.multiplyInputs(x, y) </a:t>
            </a:r>
            <a:r>
              <a:rPr lang="vi" sz="1050">
                <a:solidFill>
                  <a:srgbClr val="3B78E7"/>
                </a:solidFill>
                <a:latin typeface="Tahoma"/>
                <a:ea typeface="Tahoma"/>
                <a:cs typeface="Tahoma"/>
                <a:sym typeface="Tahoma"/>
              </a:rPr>
              <a:t>as</a:t>
            </a:r>
            <a:r>
              <a:rPr lang="vi" sz="1050">
                <a:solidFill>
                  <a:srgbClr val="37474F"/>
                </a:solidFill>
                <a:latin typeface="Tahoma"/>
                <a:ea typeface="Tahoma"/>
                <a:cs typeface="Tahoma"/>
                <a:sym typeface="Tahoma"/>
              </a:rPr>
              <a:t> product</a:t>
            </a:r>
            <a:endParaRPr sz="1050">
              <a:solidFill>
                <a:srgbClr val="37474F"/>
              </a:solidFill>
              <a:latin typeface="Tahoma"/>
              <a:ea typeface="Tahoma"/>
              <a:cs typeface="Tahoma"/>
              <a:sym typeface="Tahoma"/>
            </a:endParaRPr>
          </a:p>
          <a:p>
            <a:pPr marL="457200" lvl="0" indent="0" algn="l" rtl="0">
              <a:lnSpc>
                <a:spcPct val="142857"/>
              </a:lnSpc>
              <a:spcBef>
                <a:spcPts val="0"/>
              </a:spcBef>
              <a:spcAft>
                <a:spcPts val="0"/>
              </a:spcAft>
              <a:buNone/>
            </a:pPr>
            <a:r>
              <a:rPr lang="vi" sz="1050">
                <a:solidFill>
                  <a:srgbClr val="3B78E7"/>
                </a:solidFill>
                <a:latin typeface="Tahoma"/>
                <a:ea typeface="Tahoma"/>
                <a:cs typeface="Tahoma"/>
                <a:sym typeface="Tahoma"/>
              </a:rPr>
              <a:t>FROM</a:t>
            </a:r>
            <a:r>
              <a:rPr lang="vi" sz="1050">
                <a:solidFill>
                  <a:srgbClr val="37474F"/>
                </a:solidFill>
                <a:latin typeface="Tahoma"/>
                <a:ea typeface="Tahoma"/>
                <a:cs typeface="Tahoma"/>
                <a:sym typeface="Tahoma"/>
              </a:rPr>
              <a:t> numbers;</a:t>
            </a:r>
            <a:endParaRPr sz="105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endParaRPr sz="1050" b="1">
              <a:solidFill>
                <a:srgbClr val="37474F"/>
              </a:solidFill>
              <a:latin typeface="Tahoma"/>
              <a:ea typeface="Tahoma"/>
              <a:cs typeface="Tahoma"/>
              <a:sym typeface="Tahoma"/>
            </a:endParaRPr>
          </a:p>
          <a:p>
            <a:pPr marL="0" lvl="0" indent="0" algn="l" rtl="0">
              <a:lnSpc>
                <a:spcPct val="142857"/>
              </a:lnSpc>
              <a:spcBef>
                <a:spcPts val="0"/>
              </a:spcBef>
              <a:spcAft>
                <a:spcPts val="0"/>
              </a:spcAft>
              <a:buNone/>
            </a:pPr>
            <a:endParaRPr sz="1050">
              <a:solidFill>
                <a:srgbClr val="37474F"/>
              </a:solidFill>
              <a:latin typeface="Tahoma"/>
              <a:ea typeface="Tahoma"/>
              <a:cs typeface="Tahoma"/>
              <a:sym typeface="Tahoma"/>
            </a:endParaRPr>
          </a:p>
          <a:p>
            <a:pPr marL="0" lvl="0" indent="0" algn="l" rtl="0">
              <a:spcBef>
                <a:spcPts val="0"/>
              </a:spcBef>
              <a:spcAft>
                <a:spcPts val="1200"/>
              </a:spcAft>
              <a:buNone/>
            </a:pPr>
            <a:endParaRPr sz="1050" b="1">
              <a:solidFill>
                <a:srgbClr val="37474F"/>
              </a:solidFill>
              <a:latin typeface="Tahoma"/>
              <a:ea typeface="Tahoma"/>
              <a:cs typeface="Tahoma"/>
              <a:sym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000000"/>
                </a:solidFill>
                <a:latin typeface="Arial"/>
                <a:ea typeface="Arial"/>
                <a:cs typeface="Arial"/>
                <a:sym typeface="Arial"/>
              </a:rPr>
              <a:t>CREATE PROCEDURE</a:t>
            </a:r>
            <a:endParaRPr/>
          </a:p>
        </p:txBody>
      </p:sp>
      <p:sp>
        <p:nvSpPr>
          <p:cNvPr id="116" name="Google Shape;116;p21"/>
          <p:cNvSpPr txBox="1">
            <a:spLocks noGrp="1"/>
          </p:cNvSpPr>
          <p:nvPr>
            <p:ph type="body" idx="4294967295"/>
          </p:nvPr>
        </p:nvSpPr>
        <p:spPr>
          <a:xfrm>
            <a:off x="521425" y="771175"/>
            <a:ext cx="8222100" cy="3865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SzPts val="688"/>
              <a:buNone/>
            </a:pPr>
            <a:r>
              <a:rPr lang="vi" sz="800">
                <a:solidFill>
                  <a:srgbClr val="37474F"/>
                </a:solidFill>
                <a:latin typeface="Tahoma"/>
                <a:ea typeface="Tahoma"/>
                <a:cs typeface="Tahoma"/>
                <a:sym typeface="Tahoma"/>
              </a:rPr>
              <a:t>CREATE [OR REPLACE] PROCEDURE [IF NOT EXISTS]</a:t>
            </a:r>
            <a:endParaRPr sz="800">
              <a:solidFill>
                <a:srgbClr val="37474F"/>
              </a:solidFill>
              <a:latin typeface="Tahoma"/>
              <a:ea typeface="Tahoma"/>
              <a:cs typeface="Tahoma"/>
              <a:sym typeface="Tahoma"/>
            </a:endParaRPr>
          </a:p>
          <a:p>
            <a:pPr marL="0" lvl="0" indent="0" algn="l" rtl="0">
              <a:lnSpc>
                <a:spcPct val="80000"/>
              </a:lnSpc>
              <a:spcBef>
                <a:spcPts val="1200"/>
              </a:spcBef>
              <a:spcAft>
                <a:spcPts val="0"/>
              </a:spcAft>
              <a:buSzPts val="688"/>
              <a:buNone/>
            </a:pPr>
            <a:r>
              <a:rPr lang="vi" sz="800" b="1">
                <a:solidFill>
                  <a:srgbClr val="37474F"/>
                </a:solidFill>
                <a:latin typeface="Tahoma"/>
                <a:ea typeface="Tahoma"/>
                <a:cs typeface="Tahoma"/>
                <a:sym typeface="Tahoma"/>
              </a:rPr>
              <a:t>project_name</a:t>
            </a:r>
            <a:r>
              <a:rPr lang="vi" sz="800">
                <a:solidFill>
                  <a:srgbClr val="37474F"/>
                </a:solidFill>
                <a:latin typeface="Tahoma"/>
                <a:ea typeface="Tahoma"/>
                <a:cs typeface="Tahoma"/>
                <a:sym typeface="Tahoma"/>
              </a:rPr>
              <a:t>.</a:t>
            </a:r>
            <a:r>
              <a:rPr lang="vi" sz="800" b="1">
                <a:solidFill>
                  <a:srgbClr val="37474F"/>
                </a:solidFill>
                <a:latin typeface="Tahoma"/>
                <a:ea typeface="Tahoma"/>
                <a:cs typeface="Tahoma"/>
                <a:sym typeface="Tahoma"/>
              </a:rPr>
              <a:t>dataset_name</a:t>
            </a:r>
            <a:r>
              <a:rPr lang="vi" sz="800">
                <a:solidFill>
                  <a:srgbClr val="37474F"/>
                </a:solidFill>
                <a:latin typeface="Tahoma"/>
                <a:ea typeface="Tahoma"/>
                <a:cs typeface="Tahoma"/>
                <a:sym typeface="Tahoma"/>
              </a:rPr>
              <a:t>.</a:t>
            </a:r>
            <a:r>
              <a:rPr lang="vi" sz="800" b="1">
                <a:solidFill>
                  <a:srgbClr val="37474F"/>
                </a:solidFill>
                <a:latin typeface="Tahoma"/>
                <a:ea typeface="Tahoma"/>
                <a:cs typeface="Tahoma"/>
                <a:sym typeface="Tahoma"/>
              </a:rPr>
              <a:t>procedure_name</a:t>
            </a:r>
            <a:r>
              <a:rPr lang="vi" sz="800">
                <a:solidFill>
                  <a:srgbClr val="37474F"/>
                </a:solidFill>
                <a:latin typeface="Tahoma"/>
                <a:ea typeface="Tahoma"/>
                <a:cs typeface="Tahoma"/>
                <a:sym typeface="Tahoma"/>
              </a:rPr>
              <a:t> (</a:t>
            </a:r>
            <a:r>
              <a:rPr lang="vi" sz="800" b="1" u="sng">
                <a:solidFill>
                  <a:schemeClr val="hlink"/>
                </a:solidFill>
                <a:latin typeface="Tahoma"/>
                <a:ea typeface="Tahoma"/>
                <a:cs typeface="Tahoma"/>
                <a:sym typeface="Tahoma"/>
                <a:hlinkClick r:id="rId3"/>
              </a:rPr>
              <a:t>procedure_argument</a:t>
            </a:r>
            <a:r>
              <a:rPr lang="vi" sz="800">
                <a:solidFill>
                  <a:srgbClr val="37474F"/>
                </a:solidFill>
                <a:latin typeface="Tahoma"/>
                <a:ea typeface="Tahoma"/>
                <a:cs typeface="Tahoma"/>
                <a:sym typeface="Tahoma"/>
              </a:rPr>
              <a:t>[, ...] )</a:t>
            </a:r>
            <a:endParaRPr sz="800">
              <a:solidFill>
                <a:srgbClr val="37474F"/>
              </a:solidFill>
              <a:latin typeface="Tahoma"/>
              <a:ea typeface="Tahoma"/>
              <a:cs typeface="Tahoma"/>
              <a:sym typeface="Tahoma"/>
            </a:endParaRPr>
          </a:p>
          <a:p>
            <a:pPr marL="0" lvl="0" indent="0" algn="l" rtl="0">
              <a:lnSpc>
                <a:spcPct val="80000"/>
              </a:lnSpc>
              <a:spcBef>
                <a:spcPts val="1200"/>
              </a:spcBef>
              <a:spcAft>
                <a:spcPts val="0"/>
              </a:spcAft>
              <a:buSzPts val="688"/>
              <a:buNone/>
            </a:pPr>
            <a:r>
              <a:rPr lang="vi" sz="800">
                <a:solidFill>
                  <a:srgbClr val="37474F"/>
                </a:solidFill>
                <a:latin typeface="Tahoma"/>
                <a:ea typeface="Tahoma"/>
                <a:cs typeface="Tahoma"/>
                <a:sym typeface="Tahoma"/>
              </a:rPr>
              <a:t>OPTIONS(</a:t>
            </a:r>
            <a:r>
              <a:rPr lang="vi" sz="800" b="1" u="sng">
                <a:solidFill>
                  <a:schemeClr val="hlink"/>
                </a:solidFill>
                <a:latin typeface="Tahoma"/>
                <a:ea typeface="Tahoma"/>
                <a:cs typeface="Tahoma"/>
                <a:sym typeface="Tahoma"/>
                <a:hlinkClick r:id="rId4"/>
              </a:rPr>
              <a:t>procedure_option_list</a:t>
            </a:r>
            <a:r>
              <a:rPr lang="vi" sz="800">
                <a:solidFill>
                  <a:srgbClr val="37474F"/>
                </a:solidFill>
                <a:latin typeface="Tahoma"/>
                <a:ea typeface="Tahoma"/>
                <a:cs typeface="Tahoma"/>
                <a:sym typeface="Tahoma"/>
              </a:rPr>
              <a:t>)</a:t>
            </a:r>
            <a:endParaRPr sz="800">
              <a:solidFill>
                <a:srgbClr val="37474F"/>
              </a:solidFill>
              <a:latin typeface="Tahoma"/>
              <a:ea typeface="Tahoma"/>
              <a:cs typeface="Tahoma"/>
              <a:sym typeface="Tahoma"/>
            </a:endParaRPr>
          </a:p>
          <a:p>
            <a:pPr marL="0" lvl="0" indent="0" algn="l" rtl="0">
              <a:lnSpc>
                <a:spcPct val="80000"/>
              </a:lnSpc>
              <a:spcBef>
                <a:spcPts val="1200"/>
              </a:spcBef>
              <a:spcAft>
                <a:spcPts val="0"/>
              </a:spcAft>
              <a:buSzPts val="688"/>
              <a:buNone/>
            </a:pPr>
            <a:r>
              <a:rPr lang="vi" sz="800">
                <a:solidFill>
                  <a:srgbClr val="37474F"/>
                </a:solidFill>
                <a:latin typeface="Tahoma"/>
                <a:ea typeface="Tahoma"/>
                <a:cs typeface="Tahoma"/>
                <a:sym typeface="Tahoma"/>
              </a:rPr>
              <a:t>BEGIN</a:t>
            </a:r>
            <a:endParaRPr sz="800">
              <a:solidFill>
                <a:srgbClr val="37474F"/>
              </a:solidFill>
              <a:latin typeface="Tahoma"/>
              <a:ea typeface="Tahoma"/>
              <a:cs typeface="Tahoma"/>
              <a:sym typeface="Tahoma"/>
            </a:endParaRPr>
          </a:p>
          <a:p>
            <a:pPr marL="0" lvl="0" indent="0" algn="l" rtl="0">
              <a:lnSpc>
                <a:spcPct val="80000"/>
              </a:lnSpc>
              <a:spcBef>
                <a:spcPts val="1200"/>
              </a:spcBef>
              <a:spcAft>
                <a:spcPts val="0"/>
              </a:spcAft>
              <a:buSzPts val="688"/>
              <a:buNone/>
            </a:pPr>
            <a:r>
              <a:rPr lang="vi" sz="800" b="1">
                <a:solidFill>
                  <a:srgbClr val="37474F"/>
                </a:solidFill>
                <a:latin typeface="Tahoma"/>
                <a:ea typeface="Tahoma"/>
                <a:cs typeface="Tahoma"/>
                <a:sym typeface="Tahoma"/>
              </a:rPr>
              <a:t>statement_list</a:t>
            </a:r>
            <a:endParaRPr sz="800">
              <a:solidFill>
                <a:srgbClr val="37474F"/>
              </a:solidFill>
              <a:latin typeface="Tahoma"/>
              <a:ea typeface="Tahoma"/>
              <a:cs typeface="Tahoma"/>
              <a:sym typeface="Tahoma"/>
            </a:endParaRPr>
          </a:p>
          <a:p>
            <a:pPr marL="0" lvl="0" indent="0" algn="l" rtl="0">
              <a:lnSpc>
                <a:spcPct val="80000"/>
              </a:lnSpc>
              <a:spcBef>
                <a:spcPts val="1200"/>
              </a:spcBef>
              <a:spcAft>
                <a:spcPts val="0"/>
              </a:spcAft>
              <a:buSzPts val="688"/>
              <a:buNone/>
            </a:pPr>
            <a:r>
              <a:rPr lang="vi" sz="800">
                <a:solidFill>
                  <a:srgbClr val="37474F"/>
                </a:solidFill>
                <a:latin typeface="Tahoma"/>
                <a:ea typeface="Tahoma"/>
                <a:cs typeface="Tahoma"/>
                <a:sym typeface="Tahoma"/>
              </a:rPr>
              <a:t>END;</a:t>
            </a:r>
            <a:endParaRPr sz="800">
              <a:solidFill>
                <a:srgbClr val="37474F"/>
              </a:solidFill>
              <a:latin typeface="Tahoma"/>
              <a:ea typeface="Tahoma"/>
              <a:cs typeface="Tahoma"/>
              <a:sym typeface="Tahoma"/>
            </a:endParaRPr>
          </a:p>
          <a:p>
            <a:pPr marL="0" lvl="0" indent="0" algn="l" rtl="0">
              <a:lnSpc>
                <a:spcPct val="80000"/>
              </a:lnSpc>
              <a:spcBef>
                <a:spcPts val="1200"/>
              </a:spcBef>
              <a:spcAft>
                <a:spcPts val="0"/>
              </a:spcAft>
              <a:buSzPts val="688"/>
              <a:buNone/>
            </a:pPr>
            <a:r>
              <a:rPr lang="vi" sz="800" b="1">
                <a:solidFill>
                  <a:srgbClr val="1A73E8"/>
                </a:solidFill>
                <a:latin typeface="Tahoma"/>
                <a:ea typeface="Tahoma"/>
                <a:cs typeface="Tahoma"/>
                <a:sym typeface="Tahoma"/>
              </a:rPr>
              <a:t>procedure_argument</a:t>
            </a:r>
            <a:r>
              <a:rPr lang="vi" sz="800">
                <a:solidFill>
                  <a:srgbClr val="37474F"/>
                </a:solidFill>
                <a:latin typeface="Tahoma"/>
                <a:ea typeface="Tahoma"/>
                <a:cs typeface="Tahoma"/>
                <a:sym typeface="Tahoma"/>
              </a:rPr>
              <a:t>: [</a:t>
            </a:r>
            <a:r>
              <a:rPr lang="vi" sz="800" b="1" u="sng">
                <a:solidFill>
                  <a:schemeClr val="hlink"/>
                </a:solidFill>
                <a:latin typeface="Tahoma"/>
                <a:ea typeface="Tahoma"/>
                <a:cs typeface="Tahoma"/>
                <a:sym typeface="Tahoma"/>
                <a:hlinkClick r:id="rId5"/>
              </a:rPr>
              <a:t>procedure_argument_mode</a:t>
            </a:r>
            <a:r>
              <a:rPr lang="vi" sz="800">
                <a:solidFill>
                  <a:srgbClr val="37474F"/>
                </a:solidFill>
                <a:latin typeface="Tahoma"/>
                <a:ea typeface="Tahoma"/>
                <a:cs typeface="Tahoma"/>
                <a:sym typeface="Tahoma"/>
              </a:rPr>
              <a:t>] </a:t>
            </a:r>
            <a:r>
              <a:rPr lang="vi" sz="800" b="1">
                <a:solidFill>
                  <a:srgbClr val="37474F"/>
                </a:solidFill>
                <a:latin typeface="Tahoma"/>
                <a:ea typeface="Tahoma"/>
                <a:cs typeface="Tahoma"/>
                <a:sym typeface="Tahoma"/>
              </a:rPr>
              <a:t>argument_name</a:t>
            </a:r>
            <a:r>
              <a:rPr lang="vi" sz="800">
                <a:solidFill>
                  <a:srgbClr val="37474F"/>
                </a:solidFill>
                <a:latin typeface="Tahoma"/>
                <a:ea typeface="Tahoma"/>
                <a:cs typeface="Tahoma"/>
                <a:sym typeface="Tahoma"/>
              </a:rPr>
              <a:t> </a:t>
            </a:r>
            <a:r>
              <a:rPr lang="vi" sz="800" b="1">
                <a:solidFill>
                  <a:srgbClr val="37474F"/>
                </a:solidFill>
                <a:latin typeface="Tahoma"/>
                <a:ea typeface="Tahoma"/>
                <a:cs typeface="Tahoma"/>
                <a:sym typeface="Tahoma"/>
              </a:rPr>
              <a:t>argument_type</a:t>
            </a:r>
            <a:endParaRPr sz="800">
              <a:solidFill>
                <a:srgbClr val="37474F"/>
              </a:solidFill>
              <a:latin typeface="Tahoma"/>
              <a:ea typeface="Tahoma"/>
              <a:cs typeface="Tahoma"/>
              <a:sym typeface="Tahoma"/>
            </a:endParaRPr>
          </a:p>
          <a:p>
            <a:pPr marL="0" lvl="0" indent="0" algn="l" rtl="0">
              <a:lnSpc>
                <a:spcPct val="80000"/>
              </a:lnSpc>
              <a:spcBef>
                <a:spcPts val="1200"/>
              </a:spcBef>
              <a:spcAft>
                <a:spcPts val="0"/>
              </a:spcAft>
              <a:buSzPts val="688"/>
              <a:buNone/>
            </a:pPr>
            <a:r>
              <a:rPr lang="vi" sz="800" b="1">
                <a:solidFill>
                  <a:srgbClr val="1A73E8"/>
                </a:solidFill>
                <a:latin typeface="Tahoma"/>
                <a:ea typeface="Tahoma"/>
                <a:cs typeface="Tahoma"/>
                <a:sym typeface="Tahoma"/>
              </a:rPr>
              <a:t>procedure_argument_mode</a:t>
            </a:r>
            <a:r>
              <a:rPr lang="vi" sz="800">
                <a:solidFill>
                  <a:srgbClr val="37474F"/>
                </a:solidFill>
                <a:latin typeface="Tahoma"/>
                <a:ea typeface="Tahoma"/>
                <a:cs typeface="Tahoma"/>
                <a:sym typeface="Tahoma"/>
              </a:rPr>
              <a:t>: IN | OUT | INOUT</a:t>
            </a:r>
            <a:endParaRPr sz="800">
              <a:solidFill>
                <a:srgbClr val="37474F"/>
              </a:solidFill>
              <a:latin typeface="Tahoma"/>
              <a:ea typeface="Tahoma"/>
              <a:cs typeface="Tahoma"/>
              <a:sym typeface="Tahoma"/>
            </a:endParaRPr>
          </a:p>
          <a:p>
            <a:pPr marL="0" lvl="0" indent="0" algn="l" rtl="0">
              <a:lnSpc>
                <a:spcPct val="95000"/>
              </a:lnSpc>
              <a:spcBef>
                <a:spcPts val="0"/>
              </a:spcBef>
              <a:spcAft>
                <a:spcPts val="0"/>
              </a:spcAft>
              <a:buSzPts val="688"/>
              <a:buNone/>
            </a:pPr>
            <a:endParaRPr sz="800">
              <a:solidFill>
                <a:srgbClr val="3B78E7"/>
              </a:solidFill>
              <a:latin typeface="Tahoma"/>
              <a:ea typeface="Tahoma"/>
              <a:cs typeface="Tahoma"/>
              <a:sym typeface="Tahoma"/>
            </a:endParaRPr>
          </a:p>
          <a:p>
            <a:pPr marL="0" lvl="0" indent="0" algn="l" rtl="0">
              <a:lnSpc>
                <a:spcPct val="95000"/>
              </a:lnSpc>
              <a:spcBef>
                <a:spcPts val="1400"/>
              </a:spcBef>
              <a:spcAft>
                <a:spcPts val="0"/>
              </a:spcAft>
              <a:buSzPts val="688"/>
              <a:buNone/>
            </a:pPr>
            <a:r>
              <a:rPr lang="vi" sz="800" b="1">
                <a:solidFill>
                  <a:srgbClr val="202124"/>
                </a:solidFill>
                <a:highlight>
                  <a:srgbClr val="FFFFFF"/>
                </a:highlight>
                <a:latin typeface="Tahoma"/>
                <a:ea typeface="Tahoma"/>
                <a:cs typeface="Tahoma"/>
                <a:sym typeface="Tahoma"/>
              </a:rPr>
              <a:t>Examples:</a:t>
            </a:r>
            <a:endParaRPr sz="800" b="1">
              <a:solidFill>
                <a:srgbClr val="202124"/>
              </a:solidFill>
              <a:highlight>
                <a:srgbClr val="FFFFFF"/>
              </a:highlight>
              <a:latin typeface="Tahoma"/>
              <a:ea typeface="Tahoma"/>
              <a:cs typeface="Tahoma"/>
              <a:sym typeface="Tahoma"/>
            </a:endParaRPr>
          </a:p>
          <a:p>
            <a:pPr marL="0" lvl="0" indent="0" algn="l" rtl="0">
              <a:lnSpc>
                <a:spcPct val="80000"/>
              </a:lnSpc>
              <a:spcBef>
                <a:spcPts val="400"/>
              </a:spcBef>
              <a:spcAft>
                <a:spcPts val="0"/>
              </a:spcAft>
              <a:buSzPts val="688"/>
              <a:buNone/>
            </a:pPr>
            <a:r>
              <a:rPr lang="vi" sz="800">
                <a:solidFill>
                  <a:srgbClr val="3B78E7"/>
                </a:solidFill>
                <a:latin typeface="Tahoma"/>
                <a:ea typeface="Tahoma"/>
                <a:cs typeface="Tahoma"/>
                <a:sym typeface="Tahoma"/>
              </a:rPr>
              <a:t>CREATE</a:t>
            </a:r>
            <a:r>
              <a:rPr lang="vi" sz="800">
                <a:solidFill>
                  <a:srgbClr val="37474F"/>
                </a:solidFill>
                <a:latin typeface="Tahoma"/>
                <a:ea typeface="Tahoma"/>
                <a:cs typeface="Tahoma"/>
                <a:sym typeface="Tahoma"/>
              </a:rPr>
              <a:t> </a:t>
            </a:r>
            <a:r>
              <a:rPr lang="vi" sz="800">
                <a:solidFill>
                  <a:srgbClr val="3B78E7"/>
                </a:solidFill>
                <a:latin typeface="Tahoma"/>
                <a:ea typeface="Tahoma"/>
                <a:cs typeface="Tahoma"/>
                <a:sym typeface="Tahoma"/>
              </a:rPr>
              <a:t>PROCEDURE</a:t>
            </a:r>
            <a:r>
              <a:rPr lang="vi" sz="800">
                <a:solidFill>
                  <a:srgbClr val="37474F"/>
                </a:solidFill>
                <a:latin typeface="Tahoma"/>
                <a:ea typeface="Tahoma"/>
                <a:cs typeface="Tahoma"/>
                <a:sym typeface="Tahoma"/>
              </a:rPr>
              <a:t> mydataset.AddDelta(INOUT x INT64, delta INT64)</a:t>
            </a:r>
            <a:endParaRPr sz="800">
              <a:solidFill>
                <a:srgbClr val="37474F"/>
              </a:solidFill>
              <a:latin typeface="Tahoma"/>
              <a:ea typeface="Tahoma"/>
              <a:cs typeface="Tahoma"/>
              <a:sym typeface="Tahoma"/>
            </a:endParaRPr>
          </a:p>
          <a:p>
            <a:pPr marL="0" lvl="0" indent="0" algn="l" rtl="0">
              <a:lnSpc>
                <a:spcPct val="80000"/>
              </a:lnSpc>
              <a:spcBef>
                <a:spcPts val="0"/>
              </a:spcBef>
              <a:spcAft>
                <a:spcPts val="0"/>
              </a:spcAft>
              <a:buSzPts val="688"/>
              <a:buNone/>
            </a:pPr>
            <a:r>
              <a:rPr lang="vi" sz="800">
                <a:solidFill>
                  <a:srgbClr val="3B78E7"/>
                </a:solidFill>
                <a:latin typeface="Tahoma"/>
                <a:ea typeface="Tahoma"/>
                <a:cs typeface="Tahoma"/>
                <a:sym typeface="Tahoma"/>
              </a:rPr>
              <a:t>BEGIN</a:t>
            </a:r>
            <a:endParaRPr sz="800">
              <a:solidFill>
                <a:srgbClr val="3B78E7"/>
              </a:solidFill>
              <a:latin typeface="Tahoma"/>
              <a:ea typeface="Tahoma"/>
              <a:cs typeface="Tahoma"/>
              <a:sym typeface="Tahoma"/>
            </a:endParaRPr>
          </a:p>
          <a:p>
            <a:pPr marL="0" lvl="0" indent="0" algn="l" rtl="0">
              <a:lnSpc>
                <a:spcPct val="80000"/>
              </a:lnSpc>
              <a:spcBef>
                <a:spcPts val="0"/>
              </a:spcBef>
              <a:spcAft>
                <a:spcPts val="0"/>
              </a:spcAft>
              <a:buSzPts val="688"/>
              <a:buNone/>
            </a:pPr>
            <a:r>
              <a:rPr lang="vi" sz="800">
                <a:solidFill>
                  <a:srgbClr val="37474F"/>
                </a:solidFill>
                <a:latin typeface="Tahoma"/>
                <a:ea typeface="Tahoma"/>
                <a:cs typeface="Tahoma"/>
                <a:sym typeface="Tahoma"/>
              </a:rPr>
              <a:t>  </a:t>
            </a:r>
            <a:r>
              <a:rPr lang="vi" sz="800">
                <a:solidFill>
                  <a:srgbClr val="3B78E7"/>
                </a:solidFill>
                <a:latin typeface="Tahoma"/>
                <a:ea typeface="Tahoma"/>
                <a:cs typeface="Tahoma"/>
                <a:sym typeface="Tahoma"/>
              </a:rPr>
              <a:t>SET</a:t>
            </a:r>
            <a:r>
              <a:rPr lang="vi" sz="800">
                <a:solidFill>
                  <a:srgbClr val="37474F"/>
                </a:solidFill>
                <a:latin typeface="Tahoma"/>
                <a:ea typeface="Tahoma"/>
                <a:cs typeface="Tahoma"/>
                <a:sym typeface="Tahoma"/>
              </a:rPr>
              <a:t> x = x + delta;</a:t>
            </a:r>
            <a:endParaRPr sz="800">
              <a:solidFill>
                <a:srgbClr val="37474F"/>
              </a:solidFill>
              <a:latin typeface="Tahoma"/>
              <a:ea typeface="Tahoma"/>
              <a:cs typeface="Tahoma"/>
              <a:sym typeface="Tahoma"/>
            </a:endParaRPr>
          </a:p>
          <a:p>
            <a:pPr marL="0" lvl="0" indent="0" algn="l" rtl="0">
              <a:lnSpc>
                <a:spcPct val="122857"/>
              </a:lnSpc>
              <a:spcBef>
                <a:spcPts val="0"/>
              </a:spcBef>
              <a:spcAft>
                <a:spcPts val="0"/>
              </a:spcAft>
              <a:buSzPts val="688"/>
              <a:buNone/>
            </a:pPr>
            <a:r>
              <a:rPr lang="vi" sz="800">
                <a:solidFill>
                  <a:srgbClr val="3B78E7"/>
                </a:solidFill>
                <a:latin typeface="Tahoma"/>
                <a:ea typeface="Tahoma"/>
                <a:cs typeface="Tahoma"/>
                <a:sym typeface="Tahoma"/>
              </a:rPr>
              <a:t>END</a:t>
            </a:r>
            <a:r>
              <a:rPr lang="vi" sz="800">
                <a:solidFill>
                  <a:srgbClr val="37474F"/>
                </a:solidFill>
                <a:latin typeface="Tahoma"/>
                <a:ea typeface="Tahoma"/>
                <a:cs typeface="Tahoma"/>
                <a:sym typeface="Tahoma"/>
              </a:rPr>
              <a:t>;</a:t>
            </a:r>
            <a:endParaRPr sz="800">
              <a:solidFill>
                <a:srgbClr val="37474F"/>
              </a:solidFill>
              <a:latin typeface="Tahoma"/>
              <a:ea typeface="Tahoma"/>
              <a:cs typeface="Tahoma"/>
              <a:sym typeface="Tahoma"/>
            </a:endParaRPr>
          </a:p>
          <a:p>
            <a:pPr marL="0" lvl="0" indent="0" algn="l" rtl="0">
              <a:lnSpc>
                <a:spcPct val="95000"/>
              </a:lnSpc>
              <a:spcBef>
                <a:spcPts val="1400"/>
              </a:spcBef>
              <a:spcAft>
                <a:spcPts val="0"/>
              </a:spcAft>
              <a:buSzPts val="688"/>
              <a:buNone/>
            </a:pPr>
            <a:r>
              <a:rPr lang="vi" sz="800" b="1">
                <a:solidFill>
                  <a:srgbClr val="202124"/>
                </a:solidFill>
                <a:highlight>
                  <a:srgbClr val="FFFFFF"/>
                </a:highlight>
                <a:latin typeface="Tahoma"/>
                <a:ea typeface="Tahoma"/>
                <a:cs typeface="Tahoma"/>
                <a:sym typeface="Tahoma"/>
              </a:rPr>
              <a:t>Using:</a:t>
            </a:r>
            <a:endParaRPr sz="800" b="1">
              <a:solidFill>
                <a:srgbClr val="202124"/>
              </a:solidFill>
              <a:highlight>
                <a:srgbClr val="FFFFFF"/>
              </a:highlight>
              <a:latin typeface="Tahoma"/>
              <a:ea typeface="Tahoma"/>
              <a:cs typeface="Tahoma"/>
              <a:sym typeface="Tahoma"/>
            </a:endParaRPr>
          </a:p>
          <a:p>
            <a:pPr marL="0" lvl="0" indent="0" algn="l" rtl="0">
              <a:lnSpc>
                <a:spcPct val="80000"/>
              </a:lnSpc>
              <a:spcBef>
                <a:spcPts val="400"/>
              </a:spcBef>
              <a:spcAft>
                <a:spcPts val="0"/>
              </a:spcAft>
              <a:buSzPts val="688"/>
              <a:buNone/>
            </a:pPr>
            <a:r>
              <a:rPr lang="vi" sz="800">
                <a:solidFill>
                  <a:srgbClr val="3B78E7"/>
                </a:solidFill>
                <a:latin typeface="Tahoma"/>
                <a:ea typeface="Tahoma"/>
                <a:cs typeface="Tahoma"/>
                <a:sym typeface="Tahoma"/>
              </a:rPr>
              <a:t>DECLARE</a:t>
            </a:r>
            <a:r>
              <a:rPr lang="vi" sz="800">
                <a:solidFill>
                  <a:srgbClr val="37474F"/>
                </a:solidFill>
                <a:latin typeface="Tahoma"/>
                <a:ea typeface="Tahoma"/>
                <a:cs typeface="Tahoma"/>
                <a:sym typeface="Tahoma"/>
              </a:rPr>
              <a:t> accumulator INT64 </a:t>
            </a:r>
            <a:r>
              <a:rPr lang="vi" sz="800">
                <a:solidFill>
                  <a:srgbClr val="3B78E7"/>
                </a:solidFill>
                <a:latin typeface="Tahoma"/>
                <a:ea typeface="Tahoma"/>
                <a:cs typeface="Tahoma"/>
                <a:sym typeface="Tahoma"/>
              </a:rPr>
              <a:t>DEFAULT</a:t>
            </a:r>
            <a:r>
              <a:rPr lang="vi" sz="800">
                <a:solidFill>
                  <a:srgbClr val="37474F"/>
                </a:solidFill>
                <a:latin typeface="Tahoma"/>
                <a:ea typeface="Tahoma"/>
                <a:cs typeface="Tahoma"/>
                <a:sym typeface="Tahoma"/>
              </a:rPr>
              <a:t> </a:t>
            </a:r>
            <a:r>
              <a:rPr lang="vi" sz="800">
                <a:solidFill>
                  <a:srgbClr val="C53929"/>
                </a:solidFill>
                <a:latin typeface="Tahoma"/>
                <a:ea typeface="Tahoma"/>
                <a:cs typeface="Tahoma"/>
                <a:sym typeface="Tahoma"/>
              </a:rPr>
              <a:t>0</a:t>
            </a:r>
            <a:r>
              <a:rPr lang="vi" sz="800">
                <a:solidFill>
                  <a:srgbClr val="37474F"/>
                </a:solidFill>
                <a:latin typeface="Tahoma"/>
                <a:ea typeface="Tahoma"/>
                <a:cs typeface="Tahoma"/>
                <a:sym typeface="Tahoma"/>
              </a:rPr>
              <a:t>;</a:t>
            </a:r>
            <a:endParaRPr sz="800">
              <a:solidFill>
                <a:srgbClr val="37474F"/>
              </a:solidFill>
              <a:latin typeface="Tahoma"/>
              <a:ea typeface="Tahoma"/>
              <a:cs typeface="Tahoma"/>
              <a:sym typeface="Tahoma"/>
            </a:endParaRPr>
          </a:p>
          <a:p>
            <a:pPr marL="0" lvl="0" indent="0" algn="l" rtl="0">
              <a:lnSpc>
                <a:spcPct val="80000"/>
              </a:lnSpc>
              <a:spcBef>
                <a:spcPts val="0"/>
              </a:spcBef>
              <a:spcAft>
                <a:spcPts val="0"/>
              </a:spcAft>
              <a:buSzPts val="688"/>
              <a:buNone/>
            </a:pPr>
            <a:r>
              <a:rPr lang="vi" sz="800">
                <a:solidFill>
                  <a:srgbClr val="37474F"/>
                </a:solidFill>
                <a:latin typeface="Tahoma"/>
                <a:ea typeface="Tahoma"/>
                <a:cs typeface="Tahoma"/>
                <a:sym typeface="Tahoma"/>
              </a:rPr>
              <a:t>CALL mydataset.AddDelta(accumulator, </a:t>
            </a:r>
            <a:r>
              <a:rPr lang="vi" sz="800">
                <a:solidFill>
                  <a:srgbClr val="C53929"/>
                </a:solidFill>
                <a:latin typeface="Tahoma"/>
                <a:ea typeface="Tahoma"/>
                <a:cs typeface="Tahoma"/>
                <a:sym typeface="Tahoma"/>
              </a:rPr>
              <a:t>5</a:t>
            </a:r>
            <a:r>
              <a:rPr lang="vi" sz="800">
                <a:solidFill>
                  <a:srgbClr val="37474F"/>
                </a:solidFill>
                <a:latin typeface="Tahoma"/>
                <a:ea typeface="Tahoma"/>
                <a:cs typeface="Tahoma"/>
                <a:sym typeface="Tahoma"/>
              </a:rPr>
              <a:t>);</a:t>
            </a:r>
            <a:endParaRPr sz="800">
              <a:solidFill>
                <a:srgbClr val="37474F"/>
              </a:solidFill>
              <a:latin typeface="Tahoma"/>
              <a:ea typeface="Tahoma"/>
              <a:cs typeface="Tahoma"/>
              <a:sym typeface="Tahoma"/>
            </a:endParaRPr>
          </a:p>
          <a:p>
            <a:pPr marL="0" lvl="0" indent="0" algn="l" rtl="0">
              <a:lnSpc>
                <a:spcPct val="80000"/>
              </a:lnSpc>
              <a:spcBef>
                <a:spcPts val="0"/>
              </a:spcBef>
              <a:spcAft>
                <a:spcPts val="0"/>
              </a:spcAft>
              <a:buSzPts val="688"/>
              <a:buNone/>
            </a:pPr>
            <a:r>
              <a:rPr lang="vi" sz="800">
                <a:solidFill>
                  <a:srgbClr val="37474F"/>
                </a:solidFill>
                <a:latin typeface="Tahoma"/>
                <a:ea typeface="Tahoma"/>
                <a:cs typeface="Tahoma"/>
                <a:sym typeface="Tahoma"/>
              </a:rPr>
              <a:t>CALL mydataset.AddDelta(accumulator, </a:t>
            </a:r>
            <a:r>
              <a:rPr lang="vi" sz="800">
                <a:solidFill>
                  <a:srgbClr val="C53929"/>
                </a:solidFill>
                <a:latin typeface="Tahoma"/>
                <a:ea typeface="Tahoma"/>
                <a:cs typeface="Tahoma"/>
                <a:sym typeface="Tahoma"/>
              </a:rPr>
              <a:t>3</a:t>
            </a:r>
            <a:r>
              <a:rPr lang="vi" sz="800">
                <a:solidFill>
                  <a:srgbClr val="37474F"/>
                </a:solidFill>
                <a:latin typeface="Tahoma"/>
                <a:ea typeface="Tahoma"/>
                <a:cs typeface="Tahoma"/>
                <a:sym typeface="Tahoma"/>
              </a:rPr>
              <a:t>);</a:t>
            </a:r>
            <a:endParaRPr sz="800">
              <a:solidFill>
                <a:srgbClr val="37474F"/>
              </a:solidFill>
              <a:latin typeface="Tahoma"/>
              <a:ea typeface="Tahoma"/>
              <a:cs typeface="Tahoma"/>
              <a:sym typeface="Tahoma"/>
            </a:endParaRPr>
          </a:p>
          <a:p>
            <a:pPr marL="0" lvl="0" indent="0" algn="l" rtl="0">
              <a:lnSpc>
                <a:spcPct val="122857"/>
              </a:lnSpc>
              <a:spcBef>
                <a:spcPts val="0"/>
              </a:spcBef>
              <a:spcAft>
                <a:spcPts val="0"/>
              </a:spcAft>
              <a:buSzPts val="688"/>
              <a:buNone/>
            </a:pPr>
            <a:r>
              <a:rPr lang="vi" sz="800">
                <a:solidFill>
                  <a:srgbClr val="3B78E7"/>
                </a:solidFill>
                <a:latin typeface="Tahoma"/>
                <a:ea typeface="Tahoma"/>
                <a:cs typeface="Tahoma"/>
                <a:sym typeface="Tahoma"/>
              </a:rPr>
              <a:t>SELECT</a:t>
            </a:r>
            <a:r>
              <a:rPr lang="vi" sz="800">
                <a:solidFill>
                  <a:srgbClr val="37474F"/>
                </a:solidFill>
                <a:latin typeface="Tahoma"/>
                <a:ea typeface="Tahoma"/>
                <a:cs typeface="Tahoma"/>
                <a:sym typeface="Tahoma"/>
              </a:rPr>
              <a:t> accumulator;</a:t>
            </a:r>
            <a:endParaRPr sz="800">
              <a:solidFill>
                <a:srgbClr val="37474F"/>
              </a:solidFill>
              <a:latin typeface="Tahoma"/>
              <a:ea typeface="Tahoma"/>
              <a:cs typeface="Tahoma"/>
              <a:sym typeface="Tahoma"/>
            </a:endParaRPr>
          </a:p>
          <a:p>
            <a:pPr marL="0" lvl="0" indent="0" algn="l" rtl="0">
              <a:lnSpc>
                <a:spcPct val="95000"/>
              </a:lnSpc>
              <a:spcBef>
                <a:spcPts val="1400"/>
              </a:spcBef>
              <a:spcAft>
                <a:spcPts val="0"/>
              </a:spcAft>
              <a:buSzPts val="688"/>
              <a:buNone/>
            </a:pPr>
            <a:endParaRPr sz="800" b="1">
              <a:solidFill>
                <a:srgbClr val="202124"/>
              </a:solidFill>
              <a:highlight>
                <a:srgbClr val="FFFFFF"/>
              </a:highlight>
              <a:latin typeface="Tahoma"/>
              <a:ea typeface="Tahoma"/>
              <a:cs typeface="Tahoma"/>
              <a:sym typeface="Tahoma"/>
            </a:endParaRPr>
          </a:p>
          <a:p>
            <a:pPr marL="0" lvl="0" indent="0" algn="l" rtl="0">
              <a:lnSpc>
                <a:spcPct val="95000"/>
              </a:lnSpc>
              <a:spcBef>
                <a:spcPts val="400"/>
              </a:spcBef>
              <a:spcAft>
                <a:spcPts val="1200"/>
              </a:spcAft>
              <a:buSzPts val="688"/>
              <a:buNone/>
            </a:pPr>
            <a:endParaRPr sz="800">
              <a:solidFill>
                <a:srgbClr val="3B78E7"/>
              </a:solidFill>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000000"/>
                </a:solidFill>
                <a:latin typeface="Arial"/>
                <a:ea typeface="Arial"/>
                <a:cs typeface="Arial"/>
                <a:sym typeface="Arial"/>
              </a:rPr>
              <a:t>ALTER TABLE ADD COLUMN </a:t>
            </a:r>
            <a:endParaRPr/>
          </a:p>
        </p:txBody>
      </p:sp>
      <p:sp>
        <p:nvSpPr>
          <p:cNvPr id="122" name="Google Shape;122;p22"/>
          <p:cNvSpPr txBox="1">
            <a:spLocks noGrp="1"/>
          </p:cNvSpPr>
          <p:nvPr>
            <p:ph type="body" idx="4294967295"/>
          </p:nvPr>
        </p:nvSpPr>
        <p:spPr>
          <a:xfrm>
            <a:off x="521425" y="771175"/>
            <a:ext cx="8222100" cy="4443000"/>
          </a:xfrm>
          <a:prstGeom prst="rect">
            <a:avLst/>
          </a:prstGeom>
        </p:spPr>
        <p:txBody>
          <a:bodyPr spcFirstLastPara="1" wrap="square" lIns="91425" tIns="91425" rIns="91425" bIns="91425" anchor="t" anchorCtr="0">
            <a:noAutofit/>
          </a:bodyPr>
          <a:lstStyle/>
          <a:p>
            <a:pPr marL="0" lvl="0" indent="0" algn="l" rtl="0">
              <a:spcBef>
                <a:spcPts val="1800"/>
              </a:spcBef>
              <a:spcAft>
                <a:spcPts val="0"/>
              </a:spcAft>
              <a:buNone/>
            </a:pPr>
            <a:r>
              <a:rPr lang="vi" sz="1100" b="1">
                <a:solidFill>
                  <a:srgbClr val="212121"/>
                </a:solidFill>
                <a:highlight>
                  <a:srgbClr val="FFFFFF"/>
                </a:highlight>
                <a:latin typeface="Tahoma"/>
                <a:ea typeface="Tahoma"/>
                <a:cs typeface="Tahoma"/>
                <a:sym typeface="Tahoma"/>
              </a:rPr>
              <a:t>ALTER TABLE ADD COLUMN</a:t>
            </a:r>
            <a:endParaRPr sz="1100" b="1">
              <a:solidFill>
                <a:srgbClr val="212121"/>
              </a:solidFill>
              <a:highlight>
                <a:srgbClr val="FFFFFF"/>
              </a:highlight>
              <a:latin typeface="Tahoma"/>
              <a:ea typeface="Tahoma"/>
              <a:cs typeface="Tahoma"/>
              <a:sym typeface="Tahoma"/>
            </a:endParaRPr>
          </a:p>
          <a:p>
            <a:pPr marL="0" lvl="0" indent="0" algn="l" rtl="0">
              <a:lnSpc>
                <a:spcPct val="100000"/>
              </a:lnSpc>
              <a:spcBef>
                <a:spcPts val="400"/>
              </a:spcBef>
              <a:spcAft>
                <a:spcPts val="0"/>
              </a:spcAft>
              <a:buNone/>
            </a:pPr>
            <a:endParaRPr sz="1100">
              <a:solidFill>
                <a:srgbClr val="3B78E7"/>
              </a:solidFill>
              <a:latin typeface="Tahoma"/>
              <a:ea typeface="Tahoma"/>
              <a:cs typeface="Tahoma"/>
              <a:sym typeface="Tahoma"/>
            </a:endParaRPr>
          </a:p>
          <a:p>
            <a:pPr marL="457200" lvl="0" indent="0" algn="l" rtl="0">
              <a:lnSpc>
                <a:spcPct val="100000"/>
              </a:lnSpc>
              <a:spcBef>
                <a:spcPts val="0"/>
              </a:spcBef>
              <a:spcAft>
                <a:spcPts val="0"/>
              </a:spcAft>
              <a:buNone/>
            </a:pPr>
            <a:r>
              <a:rPr lang="vi" sz="1100">
                <a:solidFill>
                  <a:srgbClr val="3B78E7"/>
                </a:solidFill>
                <a:latin typeface="Tahoma"/>
                <a:ea typeface="Tahoma"/>
                <a:cs typeface="Tahoma"/>
                <a:sym typeface="Tahoma"/>
              </a:rPr>
              <a:t>ALTER</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TABLE</a:t>
            </a:r>
            <a:r>
              <a:rPr lang="vi" sz="1100">
                <a:solidFill>
                  <a:srgbClr val="37474F"/>
                </a:solidFill>
                <a:latin typeface="Tahoma"/>
                <a:ea typeface="Tahoma"/>
                <a:cs typeface="Tahoma"/>
                <a:sym typeface="Tahoma"/>
              </a:rPr>
              <a:t> [[project_name.]dataset_name.]table_name</a:t>
            </a:r>
            <a:endParaRPr sz="1100">
              <a:solidFill>
                <a:srgbClr val="37474F"/>
              </a:solidFill>
              <a:latin typeface="Tahoma"/>
              <a:ea typeface="Tahoma"/>
              <a:cs typeface="Tahoma"/>
              <a:sym typeface="Tahoma"/>
            </a:endParaRPr>
          </a:p>
          <a:p>
            <a:pPr marL="457200" lvl="0" indent="0" algn="l" rtl="0">
              <a:lnSpc>
                <a:spcPct val="142857"/>
              </a:lnSpc>
              <a:spcBef>
                <a:spcPts val="0"/>
              </a:spcBef>
              <a:spcAft>
                <a:spcPts val="0"/>
              </a:spcAft>
              <a:buNone/>
            </a:pPr>
            <a:r>
              <a:rPr lang="vi" sz="1100">
                <a:solidFill>
                  <a:srgbClr val="3B78E7"/>
                </a:solidFill>
                <a:latin typeface="Tahoma"/>
                <a:ea typeface="Tahoma"/>
                <a:cs typeface="Tahoma"/>
                <a:sym typeface="Tahoma"/>
              </a:rPr>
              <a:t>ADD</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COLUMN</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IF</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NOT</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EXISTS</a:t>
            </a:r>
            <a:r>
              <a:rPr lang="vi" sz="1100">
                <a:solidFill>
                  <a:srgbClr val="37474F"/>
                </a:solidFill>
                <a:latin typeface="Tahoma"/>
                <a:ea typeface="Tahoma"/>
                <a:cs typeface="Tahoma"/>
                <a:sym typeface="Tahoma"/>
              </a:rPr>
              <a:t>] column_name column_schema [, ...]</a:t>
            </a:r>
            <a:endParaRPr sz="1100">
              <a:solidFill>
                <a:srgbClr val="3B78E7"/>
              </a:solidFill>
              <a:latin typeface="Tahoma"/>
              <a:ea typeface="Tahoma"/>
              <a:cs typeface="Tahoma"/>
              <a:sym typeface="Tahoma"/>
            </a:endParaRPr>
          </a:p>
          <a:p>
            <a:pPr marL="0" lvl="0" indent="457200" algn="l" rtl="0">
              <a:spcBef>
                <a:spcPts val="1400"/>
              </a:spcBef>
              <a:spcAft>
                <a:spcPts val="0"/>
              </a:spcAft>
              <a:buNone/>
            </a:pPr>
            <a:r>
              <a:rPr lang="vi" sz="1100" b="1">
                <a:solidFill>
                  <a:srgbClr val="202124"/>
                </a:solidFill>
                <a:highlight>
                  <a:srgbClr val="FFFFFF"/>
                </a:highlight>
                <a:latin typeface="Tahoma"/>
                <a:ea typeface="Tahoma"/>
                <a:cs typeface="Tahoma"/>
                <a:sym typeface="Tahoma"/>
              </a:rPr>
              <a:t>Examples: </a:t>
            </a:r>
            <a:endParaRPr sz="1100">
              <a:solidFill>
                <a:srgbClr val="3B78E7"/>
              </a:solidFill>
              <a:latin typeface="Tahoma"/>
              <a:ea typeface="Tahoma"/>
              <a:cs typeface="Tahoma"/>
              <a:sym typeface="Tahoma"/>
            </a:endParaRPr>
          </a:p>
          <a:p>
            <a:pPr marL="457200" lvl="0" indent="0" algn="l" rtl="0">
              <a:lnSpc>
                <a:spcPct val="100000"/>
              </a:lnSpc>
              <a:spcBef>
                <a:spcPts val="400"/>
              </a:spcBef>
              <a:spcAft>
                <a:spcPts val="0"/>
              </a:spcAft>
              <a:buNone/>
            </a:pPr>
            <a:r>
              <a:rPr lang="vi" sz="1100">
                <a:solidFill>
                  <a:srgbClr val="3B78E7"/>
                </a:solidFill>
                <a:latin typeface="Tahoma"/>
                <a:ea typeface="Tahoma"/>
                <a:cs typeface="Tahoma"/>
                <a:sym typeface="Tahoma"/>
              </a:rPr>
              <a:t>ALTER</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TABLE</a:t>
            </a:r>
            <a:r>
              <a:rPr lang="vi" sz="1100">
                <a:solidFill>
                  <a:srgbClr val="37474F"/>
                </a:solidFill>
                <a:latin typeface="Tahoma"/>
                <a:ea typeface="Tahoma"/>
                <a:cs typeface="Tahoma"/>
                <a:sym typeface="Tahoma"/>
              </a:rPr>
              <a:t> mydataset.mytable</a:t>
            </a:r>
            <a:endParaRPr sz="1100">
              <a:solidFill>
                <a:srgbClr val="37474F"/>
              </a:solidFill>
              <a:latin typeface="Tahoma"/>
              <a:ea typeface="Tahoma"/>
              <a:cs typeface="Tahoma"/>
              <a:sym typeface="Tahoma"/>
            </a:endParaRPr>
          </a:p>
          <a:p>
            <a:pPr marL="457200" lvl="0" indent="0" algn="l" rtl="0">
              <a:lnSpc>
                <a:spcPct val="100000"/>
              </a:lnSpc>
              <a:spcBef>
                <a:spcPts val="0"/>
              </a:spcBef>
              <a:spcAft>
                <a:spcPts val="0"/>
              </a:spcAft>
              <a:buNone/>
            </a:pP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ADD</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COLUMN</a:t>
            </a:r>
            <a:r>
              <a:rPr lang="vi" sz="1100">
                <a:solidFill>
                  <a:srgbClr val="37474F"/>
                </a:solidFill>
                <a:latin typeface="Tahoma"/>
                <a:ea typeface="Tahoma"/>
                <a:cs typeface="Tahoma"/>
                <a:sym typeface="Tahoma"/>
              </a:rPr>
              <a:t> A STRING,</a:t>
            </a:r>
            <a:endParaRPr sz="1100">
              <a:solidFill>
                <a:srgbClr val="37474F"/>
              </a:solidFill>
              <a:latin typeface="Tahoma"/>
              <a:ea typeface="Tahoma"/>
              <a:cs typeface="Tahoma"/>
              <a:sym typeface="Tahoma"/>
            </a:endParaRPr>
          </a:p>
          <a:p>
            <a:pPr marL="457200" lvl="0" indent="0" algn="l" rtl="0">
              <a:lnSpc>
                <a:spcPct val="100000"/>
              </a:lnSpc>
              <a:spcBef>
                <a:spcPts val="0"/>
              </a:spcBef>
              <a:spcAft>
                <a:spcPts val="0"/>
              </a:spcAft>
              <a:buNone/>
            </a:pP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ADD</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COLUMN</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IF</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NOT</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EXISTS</a:t>
            </a:r>
            <a:r>
              <a:rPr lang="vi" sz="1100">
                <a:solidFill>
                  <a:srgbClr val="37474F"/>
                </a:solidFill>
                <a:latin typeface="Tahoma"/>
                <a:ea typeface="Tahoma"/>
                <a:cs typeface="Tahoma"/>
                <a:sym typeface="Tahoma"/>
              </a:rPr>
              <a:t> B GEOGRAPHY,</a:t>
            </a:r>
            <a:endParaRPr sz="1100">
              <a:solidFill>
                <a:srgbClr val="37474F"/>
              </a:solidFill>
              <a:latin typeface="Tahoma"/>
              <a:ea typeface="Tahoma"/>
              <a:cs typeface="Tahoma"/>
              <a:sym typeface="Tahoma"/>
            </a:endParaRPr>
          </a:p>
          <a:p>
            <a:pPr marL="457200" lvl="0" indent="0" algn="l" rtl="0">
              <a:lnSpc>
                <a:spcPct val="100000"/>
              </a:lnSpc>
              <a:spcBef>
                <a:spcPts val="0"/>
              </a:spcBef>
              <a:spcAft>
                <a:spcPts val="0"/>
              </a:spcAft>
              <a:buNone/>
            </a:pP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ADD</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COLUMN</a:t>
            </a:r>
            <a:r>
              <a:rPr lang="vi" sz="1100">
                <a:solidFill>
                  <a:srgbClr val="37474F"/>
                </a:solidFill>
                <a:latin typeface="Tahoma"/>
                <a:ea typeface="Tahoma"/>
                <a:cs typeface="Tahoma"/>
                <a:sym typeface="Tahoma"/>
              </a:rPr>
              <a:t> C ARRAY&lt;NUMERIC&gt;,</a:t>
            </a:r>
            <a:endParaRPr sz="1100">
              <a:solidFill>
                <a:srgbClr val="37474F"/>
              </a:solidFill>
              <a:latin typeface="Tahoma"/>
              <a:ea typeface="Tahoma"/>
              <a:cs typeface="Tahoma"/>
              <a:sym typeface="Tahoma"/>
            </a:endParaRPr>
          </a:p>
          <a:p>
            <a:pPr marL="457200" lvl="0" indent="0" algn="l" rtl="0">
              <a:lnSpc>
                <a:spcPct val="142857"/>
              </a:lnSpc>
              <a:spcBef>
                <a:spcPts val="0"/>
              </a:spcBef>
              <a:spcAft>
                <a:spcPts val="0"/>
              </a:spcAft>
              <a:buNone/>
            </a:pP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ADD</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COLUMN</a:t>
            </a:r>
            <a:r>
              <a:rPr lang="vi" sz="1100">
                <a:solidFill>
                  <a:srgbClr val="37474F"/>
                </a:solidFill>
                <a:latin typeface="Tahoma"/>
                <a:ea typeface="Tahoma"/>
                <a:cs typeface="Tahoma"/>
                <a:sym typeface="Tahoma"/>
              </a:rPr>
              <a:t> D DATE OPTIONS(description=</a:t>
            </a:r>
            <a:r>
              <a:rPr lang="vi" sz="1100">
                <a:solidFill>
                  <a:srgbClr val="0D904F"/>
                </a:solidFill>
                <a:latin typeface="Tahoma"/>
                <a:ea typeface="Tahoma"/>
                <a:cs typeface="Tahoma"/>
                <a:sym typeface="Tahoma"/>
              </a:rPr>
              <a:t>"my description"</a:t>
            </a:r>
            <a:r>
              <a:rPr lang="vi" sz="1100">
                <a:solidFill>
                  <a:srgbClr val="37474F"/>
                </a:solidFill>
                <a:latin typeface="Tahoma"/>
                <a:ea typeface="Tahoma"/>
                <a:cs typeface="Tahoma"/>
                <a:sym typeface="Tahoma"/>
              </a:rPr>
              <a:t>)</a:t>
            </a:r>
            <a:endParaRPr sz="1100">
              <a:solidFill>
                <a:srgbClr val="37474F"/>
              </a:solidFill>
              <a:latin typeface="Tahoma"/>
              <a:ea typeface="Tahoma"/>
              <a:cs typeface="Tahoma"/>
              <a:sym typeface="Tahoma"/>
            </a:endParaRPr>
          </a:p>
          <a:p>
            <a:pPr marL="457200" lvl="0" indent="0" algn="l" rtl="0">
              <a:lnSpc>
                <a:spcPct val="142857"/>
              </a:lnSpc>
              <a:spcBef>
                <a:spcPts val="0"/>
              </a:spcBef>
              <a:spcAft>
                <a:spcPts val="0"/>
              </a:spcAft>
              <a:buNone/>
            </a:pPr>
            <a:endParaRPr sz="1050">
              <a:solidFill>
                <a:srgbClr val="37474F"/>
              </a:solidFill>
              <a:latin typeface="Roboto Mono"/>
              <a:ea typeface="Roboto Mono"/>
              <a:cs typeface="Roboto Mono"/>
              <a:sym typeface="Roboto Mono"/>
            </a:endParaRPr>
          </a:p>
          <a:p>
            <a:pPr marL="0" lvl="0" indent="457200" algn="l" rtl="0">
              <a:spcBef>
                <a:spcPts val="1400"/>
              </a:spcBef>
              <a:spcAft>
                <a:spcPts val="0"/>
              </a:spcAft>
              <a:buNone/>
            </a:pPr>
            <a:endParaRPr sz="1100" b="1">
              <a:solidFill>
                <a:srgbClr val="202124"/>
              </a:solidFill>
              <a:highlight>
                <a:srgbClr val="FFFFFF"/>
              </a:highlight>
              <a:latin typeface="Tahoma"/>
              <a:ea typeface="Tahoma"/>
              <a:cs typeface="Tahoma"/>
              <a:sym typeface="Tahoma"/>
            </a:endParaRPr>
          </a:p>
          <a:p>
            <a:pPr marL="457200" lvl="0" indent="0" algn="l" rtl="0">
              <a:lnSpc>
                <a:spcPct val="142857"/>
              </a:lnSpc>
              <a:spcBef>
                <a:spcPts val="400"/>
              </a:spcBef>
              <a:spcAft>
                <a:spcPts val="0"/>
              </a:spcAft>
              <a:buNone/>
            </a:pPr>
            <a:endParaRPr sz="1050">
              <a:solidFill>
                <a:srgbClr val="37474F"/>
              </a:solidFill>
              <a:latin typeface="Roboto Mono"/>
              <a:ea typeface="Roboto Mono"/>
              <a:cs typeface="Roboto Mono"/>
              <a:sym typeface="Roboto Mono"/>
            </a:endParaRPr>
          </a:p>
          <a:p>
            <a:pPr marL="0" lvl="0" indent="0" algn="l" rtl="0">
              <a:spcBef>
                <a:spcPts val="1800"/>
              </a:spcBef>
              <a:spcAft>
                <a:spcPts val="0"/>
              </a:spcAft>
              <a:buNone/>
            </a:pPr>
            <a:endParaRPr sz="1100" b="1">
              <a:solidFill>
                <a:srgbClr val="212121"/>
              </a:solidFill>
              <a:highlight>
                <a:srgbClr val="FFFFFF"/>
              </a:highlight>
              <a:latin typeface="Tahoma"/>
              <a:ea typeface="Tahoma"/>
              <a:cs typeface="Tahoma"/>
              <a:sym typeface="Tahoma"/>
            </a:endParaRPr>
          </a:p>
          <a:p>
            <a:pPr marL="0" lvl="0" indent="0" algn="l" rtl="0">
              <a:lnSpc>
                <a:spcPct val="142857"/>
              </a:lnSpc>
              <a:spcBef>
                <a:spcPts val="400"/>
              </a:spcBef>
              <a:spcAft>
                <a:spcPts val="0"/>
              </a:spcAft>
              <a:buNone/>
            </a:pPr>
            <a:endParaRPr sz="1100">
              <a:solidFill>
                <a:srgbClr val="37474F"/>
              </a:solidFill>
              <a:latin typeface="Tahoma"/>
              <a:ea typeface="Tahoma"/>
              <a:cs typeface="Tahoma"/>
              <a:sym typeface="Tahoma"/>
            </a:endParaRPr>
          </a:p>
          <a:p>
            <a:pPr marL="0" lvl="0" indent="0" algn="l" rtl="0">
              <a:lnSpc>
                <a:spcPct val="95000"/>
              </a:lnSpc>
              <a:spcBef>
                <a:spcPts val="0"/>
              </a:spcBef>
              <a:spcAft>
                <a:spcPts val="1200"/>
              </a:spcAft>
              <a:buSzPts val="688"/>
              <a:buNone/>
            </a:pPr>
            <a:endParaRPr sz="800">
              <a:solidFill>
                <a:srgbClr val="3B78E7"/>
              </a:solidFill>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3"/>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000000"/>
                </a:solidFill>
                <a:latin typeface="Arial"/>
                <a:ea typeface="Arial"/>
                <a:cs typeface="Arial"/>
                <a:sym typeface="Arial"/>
              </a:rPr>
              <a:t>ALTER TABLE ADD COLUMN</a:t>
            </a:r>
            <a:endParaRPr/>
          </a:p>
        </p:txBody>
      </p:sp>
      <p:sp>
        <p:nvSpPr>
          <p:cNvPr id="128" name="Google Shape;128;p23"/>
          <p:cNvSpPr txBox="1">
            <a:spLocks noGrp="1"/>
          </p:cNvSpPr>
          <p:nvPr>
            <p:ph type="body" idx="4294967295"/>
          </p:nvPr>
        </p:nvSpPr>
        <p:spPr>
          <a:xfrm>
            <a:off x="521425" y="771175"/>
            <a:ext cx="8222100" cy="4443000"/>
          </a:xfrm>
          <a:prstGeom prst="rect">
            <a:avLst/>
          </a:prstGeom>
        </p:spPr>
        <p:txBody>
          <a:bodyPr spcFirstLastPara="1" wrap="square" lIns="91425" tIns="91425" rIns="91425" bIns="91425" anchor="t" anchorCtr="0">
            <a:noAutofit/>
          </a:bodyPr>
          <a:lstStyle/>
          <a:p>
            <a:pPr marL="0" lvl="0" indent="0" algn="l" rtl="0">
              <a:spcBef>
                <a:spcPts val="1800"/>
              </a:spcBef>
              <a:spcAft>
                <a:spcPts val="0"/>
              </a:spcAft>
              <a:buNone/>
            </a:pPr>
            <a:r>
              <a:rPr lang="vi" sz="1100" b="1">
                <a:solidFill>
                  <a:srgbClr val="212121"/>
                </a:solidFill>
                <a:highlight>
                  <a:srgbClr val="FFFFFF"/>
                </a:highlight>
                <a:latin typeface="Tahoma"/>
                <a:ea typeface="Tahoma"/>
                <a:cs typeface="Tahoma"/>
                <a:sym typeface="Tahoma"/>
              </a:rPr>
              <a:t>ALTER TABLE ADD COLUMN</a:t>
            </a:r>
            <a:endParaRPr sz="1100" b="1">
              <a:solidFill>
                <a:srgbClr val="212121"/>
              </a:solidFill>
              <a:highlight>
                <a:srgbClr val="FFFFFF"/>
              </a:highlight>
              <a:latin typeface="Tahoma"/>
              <a:ea typeface="Tahoma"/>
              <a:cs typeface="Tahoma"/>
              <a:sym typeface="Tahoma"/>
            </a:endParaRPr>
          </a:p>
          <a:p>
            <a:pPr marL="0" lvl="0" indent="0" algn="l" rtl="0">
              <a:lnSpc>
                <a:spcPct val="100000"/>
              </a:lnSpc>
              <a:spcBef>
                <a:spcPts val="400"/>
              </a:spcBef>
              <a:spcAft>
                <a:spcPts val="0"/>
              </a:spcAft>
              <a:buNone/>
            </a:pPr>
            <a:endParaRPr sz="1100">
              <a:solidFill>
                <a:srgbClr val="3B78E7"/>
              </a:solidFill>
              <a:latin typeface="Tahoma"/>
              <a:ea typeface="Tahoma"/>
              <a:cs typeface="Tahoma"/>
              <a:sym typeface="Tahoma"/>
            </a:endParaRPr>
          </a:p>
          <a:p>
            <a:pPr marL="457200" lvl="0" indent="0" algn="l" rtl="0">
              <a:lnSpc>
                <a:spcPct val="100000"/>
              </a:lnSpc>
              <a:spcBef>
                <a:spcPts val="0"/>
              </a:spcBef>
              <a:spcAft>
                <a:spcPts val="0"/>
              </a:spcAft>
              <a:buNone/>
            </a:pPr>
            <a:r>
              <a:rPr lang="vi" sz="1100">
                <a:solidFill>
                  <a:srgbClr val="3B78E7"/>
                </a:solidFill>
                <a:latin typeface="Tahoma"/>
                <a:ea typeface="Tahoma"/>
                <a:cs typeface="Tahoma"/>
                <a:sym typeface="Tahoma"/>
              </a:rPr>
              <a:t>ALTER</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TABLE</a:t>
            </a:r>
            <a:r>
              <a:rPr lang="vi" sz="1100">
                <a:solidFill>
                  <a:srgbClr val="37474F"/>
                </a:solidFill>
                <a:latin typeface="Tahoma"/>
                <a:ea typeface="Tahoma"/>
                <a:cs typeface="Tahoma"/>
                <a:sym typeface="Tahoma"/>
              </a:rPr>
              <a:t> [[project_name.]dataset_name.]table_name</a:t>
            </a:r>
            <a:endParaRPr sz="1100">
              <a:solidFill>
                <a:srgbClr val="37474F"/>
              </a:solidFill>
              <a:latin typeface="Tahoma"/>
              <a:ea typeface="Tahoma"/>
              <a:cs typeface="Tahoma"/>
              <a:sym typeface="Tahoma"/>
            </a:endParaRPr>
          </a:p>
          <a:p>
            <a:pPr marL="457200" lvl="0" indent="0" algn="l" rtl="0">
              <a:lnSpc>
                <a:spcPct val="142857"/>
              </a:lnSpc>
              <a:spcBef>
                <a:spcPts val="0"/>
              </a:spcBef>
              <a:spcAft>
                <a:spcPts val="0"/>
              </a:spcAft>
              <a:buNone/>
            </a:pPr>
            <a:r>
              <a:rPr lang="vi" sz="1100">
                <a:solidFill>
                  <a:srgbClr val="3B78E7"/>
                </a:solidFill>
                <a:latin typeface="Tahoma"/>
                <a:ea typeface="Tahoma"/>
                <a:cs typeface="Tahoma"/>
                <a:sym typeface="Tahoma"/>
              </a:rPr>
              <a:t>ADD</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COLUMN</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IF</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NOT</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EXISTS</a:t>
            </a:r>
            <a:r>
              <a:rPr lang="vi" sz="1100">
                <a:solidFill>
                  <a:srgbClr val="37474F"/>
                </a:solidFill>
                <a:latin typeface="Tahoma"/>
                <a:ea typeface="Tahoma"/>
                <a:cs typeface="Tahoma"/>
                <a:sym typeface="Tahoma"/>
              </a:rPr>
              <a:t>] column_name column_schema [, ...]</a:t>
            </a:r>
            <a:endParaRPr sz="1100">
              <a:solidFill>
                <a:srgbClr val="3B78E7"/>
              </a:solidFill>
              <a:latin typeface="Tahoma"/>
              <a:ea typeface="Tahoma"/>
              <a:cs typeface="Tahoma"/>
              <a:sym typeface="Tahoma"/>
            </a:endParaRPr>
          </a:p>
          <a:p>
            <a:pPr marL="0" lvl="0" indent="457200" algn="l" rtl="0">
              <a:spcBef>
                <a:spcPts val="1400"/>
              </a:spcBef>
              <a:spcAft>
                <a:spcPts val="0"/>
              </a:spcAft>
              <a:buNone/>
            </a:pPr>
            <a:r>
              <a:rPr lang="vi" sz="1100" b="1">
                <a:solidFill>
                  <a:srgbClr val="202124"/>
                </a:solidFill>
                <a:highlight>
                  <a:srgbClr val="FFFFFF"/>
                </a:highlight>
                <a:latin typeface="Tahoma"/>
                <a:ea typeface="Tahoma"/>
                <a:cs typeface="Tahoma"/>
                <a:sym typeface="Tahoma"/>
              </a:rPr>
              <a:t>Examples: </a:t>
            </a:r>
            <a:endParaRPr sz="1100">
              <a:solidFill>
                <a:srgbClr val="3B78E7"/>
              </a:solidFill>
              <a:latin typeface="Tahoma"/>
              <a:ea typeface="Tahoma"/>
              <a:cs typeface="Tahoma"/>
              <a:sym typeface="Tahoma"/>
            </a:endParaRPr>
          </a:p>
          <a:p>
            <a:pPr marL="457200" lvl="0" indent="0" algn="l" rtl="0">
              <a:lnSpc>
                <a:spcPct val="100000"/>
              </a:lnSpc>
              <a:spcBef>
                <a:spcPts val="400"/>
              </a:spcBef>
              <a:spcAft>
                <a:spcPts val="0"/>
              </a:spcAft>
              <a:buNone/>
            </a:pPr>
            <a:r>
              <a:rPr lang="vi" sz="1100">
                <a:solidFill>
                  <a:srgbClr val="3B78E7"/>
                </a:solidFill>
                <a:latin typeface="Tahoma"/>
                <a:ea typeface="Tahoma"/>
                <a:cs typeface="Tahoma"/>
                <a:sym typeface="Tahoma"/>
              </a:rPr>
              <a:t>ALTER</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TABLE</a:t>
            </a:r>
            <a:r>
              <a:rPr lang="vi" sz="1100">
                <a:solidFill>
                  <a:srgbClr val="37474F"/>
                </a:solidFill>
                <a:latin typeface="Tahoma"/>
                <a:ea typeface="Tahoma"/>
                <a:cs typeface="Tahoma"/>
                <a:sym typeface="Tahoma"/>
              </a:rPr>
              <a:t> mydataset.mytable</a:t>
            </a:r>
            <a:endParaRPr sz="1100">
              <a:solidFill>
                <a:srgbClr val="37474F"/>
              </a:solidFill>
              <a:latin typeface="Tahoma"/>
              <a:ea typeface="Tahoma"/>
              <a:cs typeface="Tahoma"/>
              <a:sym typeface="Tahoma"/>
            </a:endParaRPr>
          </a:p>
          <a:p>
            <a:pPr marL="457200" lvl="0" indent="0" algn="l" rtl="0">
              <a:lnSpc>
                <a:spcPct val="100000"/>
              </a:lnSpc>
              <a:spcBef>
                <a:spcPts val="0"/>
              </a:spcBef>
              <a:spcAft>
                <a:spcPts val="0"/>
              </a:spcAft>
              <a:buNone/>
            </a:pP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ADD</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COLUMN</a:t>
            </a:r>
            <a:r>
              <a:rPr lang="vi" sz="1100">
                <a:solidFill>
                  <a:srgbClr val="37474F"/>
                </a:solidFill>
                <a:latin typeface="Tahoma"/>
                <a:ea typeface="Tahoma"/>
                <a:cs typeface="Tahoma"/>
                <a:sym typeface="Tahoma"/>
              </a:rPr>
              <a:t> A STRING,</a:t>
            </a:r>
            <a:endParaRPr sz="1100">
              <a:solidFill>
                <a:srgbClr val="37474F"/>
              </a:solidFill>
              <a:latin typeface="Tahoma"/>
              <a:ea typeface="Tahoma"/>
              <a:cs typeface="Tahoma"/>
              <a:sym typeface="Tahoma"/>
            </a:endParaRPr>
          </a:p>
          <a:p>
            <a:pPr marL="457200" lvl="0" indent="0" algn="l" rtl="0">
              <a:lnSpc>
                <a:spcPct val="100000"/>
              </a:lnSpc>
              <a:spcBef>
                <a:spcPts val="0"/>
              </a:spcBef>
              <a:spcAft>
                <a:spcPts val="0"/>
              </a:spcAft>
              <a:buNone/>
            </a:pP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ADD</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COLUMN</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IF</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NOT</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EXISTS</a:t>
            </a:r>
            <a:r>
              <a:rPr lang="vi" sz="1100">
                <a:solidFill>
                  <a:srgbClr val="37474F"/>
                </a:solidFill>
                <a:latin typeface="Tahoma"/>
                <a:ea typeface="Tahoma"/>
                <a:cs typeface="Tahoma"/>
                <a:sym typeface="Tahoma"/>
              </a:rPr>
              <a:t> B GEOGRAPHY,</a:t>
            </a:r>
            <a:endParaRPr sz="1100">
              <a:solidFill>
                <a:srgbClr val="37474F"/>
              </a:solidFill>
              <a:latin typeface="Tahoma"/>
              <a:ea typeface="Tahoma"/>
              <a:cs typeface="Tahoma"/>
              <a:sym typeface="Tahoma"/>
            </a:endParaRPr>
          </a:p>
          <a:p>
            <a:pPr marL="457200" lvl="0" indent="0" algn="l" rtl="0">
              <a:lnSpc>
                <a:spcPct val="100000"/>
              </a:lnSpc>
              <a:spcBef>
                <a:spcPts val="0"/>
              </a:spcBef>
              <a:spcAft>
                <a:spcPts val="0"/>
              </a:spcAft>
              <a:buNone/>
            </a:pP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ADD</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COLUMN</a:t>
            </a:r>
            <a:r>
              <a:rPr lang="vi" sz="1100">
                <a:solidFill>
                  <a:srgbClr val="37474F"/>
                </a:solidFill>
                <a:latin typeface="Tahoma"/>
                <a:ea typeface="Tahoma"/>
                <a:cs typeface="Tahoma"/>
                <a:sym typeface="Tahoma"/>
              </a:rPr>
              <a:t> C ARRAY&lt;NUMERIC&gt;,</a:t>
            </a:r>
            <a:endParaRPr sz="1100">
              <a:solidFill>
                <a:srgbClr val="37474F"/>
              </a:solidFill>
              <a:latin typeface="Tahoma"/>
              <a:ea typeface="Tahoma"/>
              <a:cs typeface="Tahoma"/>
              <a:sym typeface="Tahoma"/>
            </a:endParaRPr>
          </a:p>
          <a:p>
            <a:pPr marL="457200" lvl="0" indent="0" algn="l" rtl="0">
              <a:lnSpc>
                <a:spcPct val="142857"/>
              </a:lnSpc>
              <a:spcBef>
                <a:spcPts val="0"/>
              </a:spcBef>
              <a:spcAft>
                <a:spcPts val="0"/>
              </a:spcAft>
              <a:buNone/>
            </a:pP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ADD</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COLUMN</a:t>
            </a:r>
            <a:r>
              <a:rPr lang="vi" sz="1100">
                <a:solidFill>
                  <a:srgbClr val="37474F"/>
                </a:solidFill>
                <a:latin typeface="Tahoma"/>
                <a:ea typeface="Tahoma"/>
                <a:cs typeface="Tahoma"/>
                <a:sym typeface="Tahoma"/>
              </a:rPr>
              <a:t> D DATE OPTIONS(description=</a:t>
            </a:r>
            <a:r>
              <a:rPr lang="vi" sz="1100">
                <a:solidFill>
                  <a:srgbClr val="0D904F"/>
                </a:solidFill>
                <a:latin typeface="Tahoma"/>
                <a:ea typeface="Tahoma"/>
                <a:cs typeface="Tahoma"/>
                <a:sym typeface="Tahoma"/>
              </a:rPr>
              <a:t>"my description"</a:t>
            </a:r>
            <a:r>
              <a:rPr lang="vi" sz="1100">
                <a:solidFill>
                  <a:srgbClr val="37474F"/>
                </a:solidFill>
                <a:latin typeface="Tahoma"/>
                <a:ea typeface="Tahoma"/>
                <a:cs typeface="Tahoma"/>
                <a:sym typeface="Tahoma"/>
              </a:rPr>
              <a:t>)</a:t>
            </a:r>
            <a:endParaRPr sz="1100">
              <a:solidFill>
                <a:srgbClr val="37474F"/>
              </a:solidFill>
              <a:latin typeface="Tahoma"/>
              <a:ea typeface="Tahoma"/>
              <a:cs typeface="Tahoma"/>
              <a:sym typeface="Tahoma"/>
            </a:endParaRPr>
          </a:p>
          <a:p>
            <a:pPr marL="0" lvl="0" indent="0" algn="l" rtl="0">
              <a:spcBef>
                <a:spcPts val="1800"/>
              </a:spcBef>
              <a:spcAft>
                <a:spcPts val="0"/>
              </a:spcAft>
              <a:buNone/>
            </a:pPr>
            <a:r>
              <a:rPr lang="vi" sz="1100" b="1">
                <a:solidFill>
                  <a:srgbClr val="212121"/>
                </a:solidFill>
                <a:highlight>
                  <a:srgbClr val="FFFFFF"/>
                </a:highlight>
                <a:latin typeface="Tahoma"/>
                <a:ea typeface="Tahoma"/>
                <a:cs typeface="Tahoma"/>
                <a:sym typeface="Tahoma"/>
              </a:rPr>
              <a:t>ALTER TABLE DROP COLUMN</a:t>
            </a:r>
            <a:endParaRPr sz="1100" b="1">
              <a:solidFill>
                <a:srgbClr val="212121"/>
              </a:solidFill>
              <a:highlight>
                <a:srgbClr val="FFFFFF"/>
              </a:highlight>
              <a:latin typeface="Tahoma"/>
              <a:ea typeface="Tahoma"/>
              <a:cs typeface="Tahoma"/>
              <a:sym typeface="Tahoma"/>
            </a:endParaRPr>
          </a:p>
          <a:p>
            <a:pPr marL="457200" lvl="0" indent="0" algn="l" rtl="0">
              <a:lnSpc>
                <a:spcPct val="100000"/>
              </a:lnSpc>
              <a:spcBef>
                <a:spcPts val="400"/>
              </a:spcBef>
              <a:spcAft>
                <a:spcPts val="0"/>
              </a:spcAft>
              <a:buNone/>
            </a:pPr>
            <a:r>
              <a:rPr lang="vi" sz="1050">
                <a:solidFill>
                  <a:srgbClr val="3B78E7"/>
                </a:solidFill>
                <a:latin typeface="Roboto Mono"/>
                <a:ea typeface="Roboto Mono"/>
                <a:cs typeface="Roboto Mono"/>
                <a:sym typeface="Roboto Mono"/>
              </a:rPr>
              <a:t>ALTER</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TABLE</a:t>
            </a:r>
            <a:r>
              <a:rPr lang="vi" sz="1050">
                <a:solidFill>
                  <a:srgbClr val="37474F"/>
                </a:solidFill>
                <a:latin typeface="Roboto Mono"/>
                <a:ea typeface="Roboto Mono"/>
                <a:cs typeface="Roboto Mono"/>
                <a:sym typeface="Roboto Mono"/>
              </a:rPr>
              <a:t> [[project_name.]dataset_name.]table_name</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COLUMN</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column_name [, …]</a:t>
            </a:r>
            <a:endParaRPr sz="1050">
              <a:solidFill>
                <a:srgbClr val="37474F"/>
              </a:solidFill>
              <a:latin typeface="Roboto Mono"/>
              <a:ea typeface="Roboto Mono"/>
              <a:cs typeface="Roboto Mono"/>
              <a:sym typeface="Roboto Mono"/>
            </a:endParaRPr>
          </a:p>
          <a:p>
            <a:pPr marL="0" lvl="0" indent="457200" algn="l" rtl="0">
              <a:spcBef>
                <a:spcPts val="1400"/>
              </a:spcBef>
              <a:spcAft>
                <a:spcPts val="0"/>
              </a:spcAft>
              <a:buNone/>
            </a:pPr>
            <a:r>
              <a:rPr lang="vi" sz="1100" b="1">
                <a:solidFill>
                  <a:srgbClr val="202124"/>
                </a:solidFill>
                <a:highlight>
                  <a:srgbClr val="FFFFFF"/>
                </a:highlight>
                <a:latin typeface="Tahoma"/>
                <a:ea typeface="Tahoma"/>
                <a:cs typeface="Tahoma"/>
                <a:sym typeface="Tahoma"/>
              </a:rPr>
              <a:t>Examples: </a:t>
            </a:r>
            <a:endParaRPr sz="1100" b="1">
              <a:solidFill>
                <a:srgbClr val="202124"/>
              </a:solidFill>
              <a:highlight>
                <a:srgbClr val="FFFFFF"/>
              </a:highlight>
              <a:latin typeface="Tahoma"/>
              <a:ea typeface="Tahoma"/>
              <a:cs typeface="Tahoma"/>
              <a:sym typeface="Tahoma"/>
            </a:endParaRPr>
          </a:p>
          <a:p>
            <a:pPr marL="457200" lvl="0" indent="0" algn="l" rtl="0">
              <a:lnSpc>
                <a:spcPct val="100000"/>
              </a:lnSpc>
              <a:spcBef>
                <a:spcPts val="400"/>
              </a:spcBef>
              <a:spcAft>
                <a:spcPts val="0"/>
              </a:spcAft>
              <a:buNone/>
            </a:pPr>
            <a:r>
              <a:rPr lang="vi" sz="1050">
                <a:solidFill>
                  <a:srgbClr val="3B78E7"/>
                </a:solidFill>
                <a:latin typeface="Roboto Mono"/>
                <a:ea typeface="Roboto Mono"/>
                <a:cs typeface="Roboto Mono"/>
                <a:sym typeface="Roboto Mono"/>
              </a:rPr>
              <a:t>ALTER</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TABLE</a:t>
            </a:r>
            <a:r>
              <a:rPr lang="vi" sz="1050">
                <a:solidFill>
                  <a:srgbClr val="37474F"/>
                </a:solidFill>
                <a:latin typeface="Roboto Mono"/>
                <a:ea typeface="Roboto Mono"/>
                <a:cs typeface="Roboto Mono"/>
                <a:sym typeface="Roboto Mono"/>
              </a:rPr>
              <a:t> mydataset.mytable</a:t>
            </a:r>
            <a:endParaRPr sz="1050">
              <a:solidFill>
                <a:srgbClr val="37474F"/>
              </a:solidFill>
              <a:latin typeface="Roboto Mono"/>
              <a:ea typeface="Roboto Mono"/>
              <a:cs typeface="Roboto Mono"/>
              <a:sym typeface="Roboto Mono"/>
            </a:endParaRPr>
          </a:p>
          <a:p>
            <a:pPr marL="457200" lvl="0" indent="0" algn="l" rtl="0">
              <a:lnSpc>
                <a:spcPct val="100000"/>
              </a:lnSpc>
              <a:spcBef>
                <a:spcPts val="0"/>
              </a:spcBef>
              <a:spcAft>
                <a:spcPts val="0"/>
              </a:spcAft>
              <a:buNone/>
            </a:pP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COLUMN</a:t>
            </a:r>
            <a:r>
              <a:rPr lang="vi" sz="1050">
                <a:solidFill>
                  <a:srgbClr val="37474F"/>
                </a:solidFill>
                <a:latin typeface="Roboto Mono"/>
                <a:ea typeface="Roboto Mono"/>
                <a:cs typeface="Roboto Mono"/>
                <a:sym typeface="Roboto Mono"/>
              </a:rPr>
              <a:t> A,</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COLUMN</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B</a:t>
            </a:r>
            <a:endParaRPr sz="1050">
              <a:solidFill>
                <a:srgbClr val="37474F"/>
              </a:solidFill>
              <a:latin typeface="Roboto Mono"/>
              <a:ea typeface="Roboto Mono"/>
              <a:cs typeface="Roboto Mono"/>
              <a:sym typeface="Roboto Mono"/>
            </a:endParaRPr>
          </a:p>
          <a:p>
            <a:pPr marL="0" lvl="0" indent="457200" algn="l" rtl="0">
              <a:spcBef>
                <a:spcPts val="1400"/>
              </a:spcBef>
              <a:spcAft>
                <a:spcPts val="0"/>
              </a:spcAft>
              <a:buNone/>
            </a:pPr>
            <a:endParaRPr sz="1100" b="1">
              <a:solidFill>
                <a:srgbClr val="202124"/>
              </a:solidFill>
              <a:highlight>
                <a:srgbClr val="FFFFFF"/>
              </a:highlight>
              <a:latin typeface="Tahoma"/>
              <a:ea typeface="Tahoma"/>
              <a:cs typeface="Tahoma"/>
              <a:sym typeface="Tahoma"/>
            </a:endParaRPr>
          </a:p>
          <a:p>
            <a:pPr marL="457200" lvl="0" indent="0" algn="l" rtl="0">
              <a:lnSpc>
                <a:spcPct val="142857"/>
              </a:lnSpc>
              <a:spcBef>
                <a:spcPts val="400"/>
              </a:spcBef>
              <a:spcAft>
                <a:spcPts val="0"/>
              </a:spcAft>
              <a:buNone/>
            </a:pPr>
            <a:endParaRPr sz="1050">
              <a:solidFill>
                <a:srgbClr val="37474F"/>
              </a:solidFill>
              <a:latin typeface="Roboto Mono"/>
              <a:ea typeface="Roboto Mono"/>
              <a:cs typeface="Roboto Mono"/>
              <a:sym typeface="Roboto Mono"/>
            </a:endParaRPr>
          </a:p>
          <a:p>
            <a:pPr marL="0" lvl="0" indent="0" algn="l" rtl="0">
              <a:spcBef>
                <a:spcPts val="1800"/>
              </a:spcBef>
              <a:spcAft>
                <a:spcPts val="0"/>
              </a:spcAft>
              <a:buNone/>
            </a:pPr>
            <a:endParaRPr sz="1100" b="1">
              <a:solidFill>
                <a:srgbClr val="212121"/>
              </a:solidFill>
              <a:highlight>
                <a:srgbClr val="FFFFFF"/>
              </a:highlight>
              <a:latin typeface="Tahoma"/>
              <a:ea typeface="Tahoma"/>
              <a:cs typeface="Tahoma"/>
              <a:sym typeface="Tahoma"/>
            </a:endParaRPr>
          </a:p>
          <a:p>
            <a:pPr marL="0" lvl="0" indent="0" algn="l" rtl="0">
              <a:lnSpc>
                <a:spcPct val="142857"/>
              </a:lnSpc>
              <a:spcBef>
                <a:spcPts val="400"/>
              </a:spcBef>
              <a:spcAft>
                <a:spcPts val="0"/>
              </a:spcAft>
              <a:buNone/>
            </a:pPr>
            <a:endParaRPr sz="1100">
              <a:solidFill>
                <a:srgbClr val="37474F"/>
              </a:solidFill>
              <a:latin typeface="Tahoma"/>
              <a:ea typeface="Tahoma"/>
              <a:cs typeface="Tahoma"/>
              <a:sym typeface="Tahoma"/>
            </a:endParaRPr>
          </a:p>
          <a:p>
            <a:pPr marL="0" lvl="0" indent="0" algn="l" rtl="0">
              <a:lnSpc>
                <a:spcPct val="95000"/>
              </a:lnSpc>
              <a:spcBef>
                <a:spcPts val="0"/>
              </a:spcBef>
              <a:spcAft>
                <a:spcPts val="1200"/>
              </a:spcAft>
              <a:buSzPts val="688"/>
              <a:buNone/>
            </a:pPr>
            <a:endParaRPr sz="800">
              <a:solidFill>
                <a:srgbClr val="3B78E7"/>
              </a:solidFill>
              <a:latin typeface="Tahoma"/>
              <a:ea typeface="Tahoma"/>
              <a:cs typeface="Tahoma"/>
              <a:sym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4"/>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FF0000"/>
                </a:solidFill>
                <a:latin typeface="Arial"/>
                <a:ea typeface="Arial"/>
                <a:cs typeface="Arial"/>
                <a:sym typeface="Arial"/>
              </a:rPr>
              <a:t>DROP SCHEMA</a:t>
            </a:r>
            <a:endParaRPr/>
          </a:p>
        </p:txBody>
      </p:sp>
      <p:sp>
        <p:nvSpPr>
          <p:cNvPr id="134" name="Google Shape;134;p24"/>
          <p:cNvSpPr txBox="1">
            <a:spLocks noGrp="1"/>
          </p:cNvSpPr>
          <p:nvPr>
            <p:ph type="body" idx="4294967295"/>
          </p:nvPr>
        </p:nvSpPr>
        <p:spPr>
          <a:xfrm>
            <a:off x="521425" y="771175"/>
            <a:ext cx="8222100" cy="4443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vi" sz="1100">
                <a:solidFill>
                  <a:srgbClr val="3B78E7"/>
                </a:solidFill>
                <a:latin typeface="Tahoma"/>
                <a:ea typeface="Tahoma"/>
                <a:cs typeface="Tahoma"/>
                <a:sym typeface="Tahoma"/>
              </a:rPr>
              <a:t>DROP</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SCHEMA</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IF</a:t>
            </a: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EXISTS</a:t>
            </a:r>
            <a:r>
              <a:rPr lang="vi" sz="1100">
                <a:solidFill>
                  <a:srgbClr val="37474F"/>
                </a:solidFill>
                <a:latin typeface="Tahoma"/>
                <a:ea typeface="Tahoma"/>
                <a:cs typeface="Tahoma"/>
                <a:sym typeface="Tahoma"/>
              </a:rPr>
              <a:t>]</a:t>
            </a:r>
            <a:endParaRPr sz="1100">
              <a:solidFill>
                <a:srgbClr val="37474F"/>
              </a:solidFill>
              <a:latin typeface="Tahoma"/>
              <a:ea typeface="Tahoma"/>
              <a:cs typeface="Tahoma"/>
              <a:sym typeface="Tahoma"/>
            </a:endParaRPr>
          </a:p>
          <a:p>
            <a:pPr marL="0" lvl="0" indent="0" algn="l" rtl="0">
              <a:lnSpc>
                <a:spcPct val="100000"/>
              </a:lnSpc>
              <a:spcBef>
                <a:spcPts val="0"/>
              </a:spcBef>
              <a:spcAft>
                <a:spcPts val="0"/>
              </a:spcAft>
              <a:buNone/>
            </a:pPr>
            <a:r>
              <a:rPr lang="vi" sz="1100">
                <a:solidFill>
                  <a:srgbClr val="37474F"/>
                </a:solidFill>
                <a:latin typeface="Tahoma"/>
                <a:ea typeface="Tahoma"/>
                <a:cs typeface="Tahoma"/>
                <a:sym typeface="Tahoma"/>
              </a:rPr>
              <a:t>[project_name.]dataset_name</a:t>
            </a:r>
            <a:endParaRPr sz="1100">
              <a:solidFill>
                <a:srgbClr val="37474F"/>
              </a:solidFill>
              <a:latin typeface="Tahoma"/>
              <a:ea typeface="Tahoma"/>
              <a:cs typeface="Tahoma"/>
              <a:sym typeface="Tahoma"/>
            </a:endParaRPr>
          </a:p>
          <a:p>
            <a:pPr marL="0" lvl="0" indent="0" algn="l" rtl="0">
              <a:lnSpc>
                <a:spcPct val="142857"/>
              </a:lnSpc>
              <a:spcBef>
                <a:spcPts val="0"/>
              </a:spcBef>
              <a:spcAft>
                <a:spcPts val="0"/>
              </a:spcAft>
              <a:buNone/>
            </a:pPr>
            <a:r>
              <a:rPr lang="vi" sz="1100">
                <a:solidFill>
                  <a:srgbClr val="37474F"/>
                </a:solidFill>
                <a:latin typeface="Tahoma"/>
                <a:ea typeface="Tahoma"/>
                <a:cs typeface="Tahoma"/>
                <a:sym typeface="Tahoma"/>
              </a:rPr>
              <a:t>[ </a:t>
            </a:r>
            <a:r>
              <a:rPr lang="vi" sz="1100">
                <a:solidFill>
                  <a:srgbClr val="3B78E7"/>
                </a:solidFill>
                <a:latin typeface="Tahoma"/>
                <a:ea typeface="Tahoma"/>
                <a:cs typeface="Tahoma"/>
                <a:sym typeface="Tahoma"/>
              </a:rPr>
              <a:t>CASCADE</a:t>
            </a:r>
            <a:r>
              <a:rPr lang="vi" sz="1100">
                <a:solidFill>
                  <a:srgbClr val="37474F"/>
                </a:solidFill>
                <a:latin typeface="Tahoma"/>
                <a:ea typeface="Tahoma"/>
                <a:cs typeface="Tahoma"/>
                <a:sym typeface="Tahoma"/>
              </a:rPr>
              <a:t> | </a:t>
            </a:r>
            <a:r>
              <a:rPr lang="vi" sz="1100">
                <a:solidFill>
                  <a:srgbClr val="3B78E7"/>
                </a:solidFill>
                <a:latin typeface="Tahoma"/>
                <a:ea typeface="Tahoma"/>
                <a:cs typeface="Tahoma"/>
                <a:sym typeface="Tahoma"/>
              </a:rPr>
              <a:t>RESTRICT</a:t>
            </a:r>
            <a:r>
              <a:rPr lang="vi" sz="1100">
                <a:solidFill>
                  <a:srgbClr val="37474F"/>
                </a:solidFill>
                <a:latin typeface="Tahoma"/>
                <a:ea typeface="Tahoma"/>
                <a:cs typeface="Tahoma"/>
                <a:sym typeface="Tahoma"/>
              </a:rPr>
              <a:t> ]</a:t>
            </a:r>
            <a:endParaRPr sz="1100">
              <a:solidFill>
                <a:srgbClr val="37474F"/>
              </a:solidFill>
              <a:latin typeface="Tahoma"/>
              <a:ea typeface="Tahoma"/>
              <a:cs typeface="Tahoma"/>
              <a:sym typeface="Tahoma"/>
            </a:endParaRPr>
          </a:p>
          <a:p>
            <a:pPr marL="457200" lvl="0" indent="-298450" algn="l" rtl="0">
              <a:lnSpc>
                <a:spcPct val="142857"/>
              </a:lnSpc>
              <a:spcBef>
                <a:spcPts val="0"/>
              </a:spcBef>
              <a:spcAft>
                <a:spcPts val="0"/>
              </a:spcAft>
              <a:buSzPts val="1100"/>
              <a:buFont typeface="Tahoma"/>
              <a:buChar char="●"/>
            </a:pPr>
            <a:r>
              <a:rPr lang="vi" sz="1100">
                <a:solidFill>
                  <a:srgbClr val="37474F"/>
                </a:solidFill>
                <a:latin typeface="Tahoma"/>
                <a:ea typeface="Tahoma"/>
                <a:cs typeface="Tahoma"/>
                <a:sym typeface="Tahoma"/>
              </a:rPr>
              <a:t>CASCADE</a:t>
            </a:r>
            <a:r>
              <a:rPr lang="vi" sz="1100">
                <a:solidFill>
                  <a:srgbClr val="202124"/>
                </a:solidFill>
                <a:highlight>
                  <a:srgbClr val="FFFFFF"/>
                </a:highlight>
                <a:latin typeface="Tahoma"/>
                <a:ea typeface="Tahoma"/>
                <a:cs typeface="Tahoma"/>
                <a:sym typeface="Tahoma"/>
              </a:rPr>
              <a:t>: Deletes the dataset and all resources within the dataset, such as tables, views, and functions. You must have permission to delete the resources, or else the statement returns an error. For a list of BigQuery permissions</a:t>
            </a:r>
            <a:endParaRPr sz="1100">
              <a:solidFill>
                <a:srgbClr val="202124"/>
              </a:solidFill>
              <a:highlight>
                <a:srgbClr val="FFFFFF"/>
              </a:highlight>
              <a:latin typeface="Tahoma"/>
              <a:ea typeface="Tahoma"/>
              <a:cs typeface="Tahoma"/>
              <a:sym typeface="Tahoma"/>
            </a:endParaRPr>
          </a:p>
          <a:p>
            <a:pPr marL="0" lvl="0" indent="0" algn="l" rtl="0">
              <a:spcBef>
                <a:spcPts val="1400"/>
              </a:spcBef>
              <a:spcAft>
                <a:spcPts val="0"/>
              </a:spcAft>
              <a:buNone/>
            </a:pPr>
            <a:r>
              <a:rPr lang="vi" sz="1300" b="1">
                <a:solidFill>
                  <a:srgbClr val="202124"/>
                </a:solidFill>
                <a:highlight>
                  <a:srgbClr val="FFFFFF"/>
                </a:highlight>
                <a:latin typeface="Arial"/>
                <a:ea typeface="Arial"/>
                <a:cs typeface="Arial"/>
                <a:sym typeface="Arial"/>
              </a:rPr>
              <a:t>Examples</a:t>
            </a:r>
            <a:endParaRPr sz="1300" b="1">
              <a:solidFill>
                <a:srgbClr val="202124"/>
              </a:solidFill>
              <a:highlight>
                <a:srgbClr val="FFFFFF"/>
              </a:highlight>
              <a:latin typeface="Arial"/>
              <a:ea typeface="Arial"/>
              <a:cs typeface="Arial"/>
              <a:sym typeface="Arial"/>
            </a:endParaRPr>
          </a:p>
          <a:p>
            <a:pPr marL="0" lvl="0" indent="0" algn="l" rtl="0">
              <a:lnSpc>
                <a:spcPct val="142857"/>
              </a:lnSpc>
              <a:spcBef>
                <a:spcPts val="40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SCHEMA</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mydataset </a:t>
            </a:r>
            <a:r>
              <a:rPr lang="vi" sz="1050">
                <a:solidFill>
                  <a:srgbClr val="3B78E7"/>
                </a:solidFill>
                <a:latin typeface="Roboto Mono"/>
                <a:ea typeface="Roboto Mono"/>
                <a:cs typeface="Roboto Mono"/>
                <a:sym typeface="Roboto Mono"/>
              </a:rPr>
              <a:t>CASCADE</a:t>
            </a: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100">
              <a:solidFill>
                <a:srgbClr val="202124"/>
              </a:solidFill>
              <a:highlight>
                <a:srgbClr val="FFFFFF"/>
              </a:highlight>
              <a:latin typeface="Tahoma"/>
              <a:ea typeface="Tahoma"/>
              <a:cs typeface="Tahoma"/>
              <a:sym typeface="Tahoma"/>
            </a:endParaRPr>
          </a:p>
          <a:p>
            <a:pPr marL="0" lvl="0" indent="0" algn="l" rtl="0">
              <a:lnSpc>
                <a:spcPct val="95000"/>
              </a:lnSpc>
              <a:spcBef>
                <a:spcPts val="0"/>
              </a:spcBef>
              <a:spcAft>
                <a:spcPts val="1200"/>
              </a:spcAft>
              <a:buSzPts val="688"/>
              <a:buNone/>
            </a:pPr>
            <a:endParaRPr sz="800">
              <a:solidFill>
                <a:srgbClr val="3B78E7"/>
              </a:solidFill>
              <a:latin typeface="Tahoma"/>
              <a:ea typeface="Tahoma"/>
              <a:cs typeface="Tahoma"/>
              <a:sym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5"/>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FF0000"/>
                </a:solidFill>
                <a:latin typeface="Arial"/>
                <a:ea typeface="Arial"/>
                <a:cs typeface="Arial"/>
                <a:sym typeface="Arial"/>
              </a:rPr>
              <a:t>DROP TABLE</a:t>
            </a:r>
            <a:endParaRPr sz="1700" b="1">
              <a:solidFill>
                <a:srgbClr val="FF0000"/>
              </a:solidFill>
              <a:latin typeface="Arial"/>
              <a:ea typeface="Arial"/>
              <a:cs typeface="Arial"/>
              <a:sym typeface="Arial"/>
            </a:endParaRPr>
          </a:p>
        </p:txBody>
      </p:sp>
      <p:sp>
        <p:nvSpPr>
          <p:cNvPr id="140" name="Google Shape;140;p25"/>
          <p:cNvSpPr txBox="1">
            <a:spLocks noGrp="1"/>
          </p:cNvSpPr>
          <p:nvPr>
            <p:ph type="body" idx="4294967295"/>
          </p:nvPr>
        </p:nvSpPr>
        <p:spPr>
          <a:xfrm>
            <a:off x="521425" y="771175"/>
            <a:ext cx="8222100" cy="4443000"/>
          </a:xfrm>
          <a:prstGeom prst="rect">
            <a:avLst/>
          </a:prstGeom>
        </p:spPr>
        <p:txBody>
          <a:bodyPr spcFirstLastPara="1" wrap="square" lIns="91425" tIns="91425" rIns="91425" bIns="91425" anchor="t" anchorCtr="0">
            <a:noAutofit/>
          </a:bodyPr>
          <a:lstStyle/>
          <a:p>
            <a:pPr marL="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TABLE</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[[project_name.]dataset_name.]table_name</a:t>
            </a:r>
            <a:endParaRPr sz="1050">
              <a:solidFill>
                <a:srgbClr val="37474F"/>
              </a:solidFill>
              <a:latin typeface="Roboto Mono"/>
              <a:ea typeface="Roboto Mono"/>
              <a:cs typeface="Roboto Mono"/>
              <a:sym typeface="Roboto Mono"/>
            </a:endParaRPr>
          </a:p>
          <a:p>
            <a:pPr marL="0" lvl="0" indent="0" algn="l" rtl="0">
              <a:spcBef>
                <a:spcPts val="1400"/>
              </a:spcBef>
              <a:spcAft>
                <a:spcPts val="0"/>
              </a:spcAft>
              <a:buNone/>
            </a:pPr>
            <a:r>
              <a:rPr lang="vi" sz="1300" b="1">
                <a:solidFill>
                  <a:srgbClr val="202124"/>
                </a:solidFill>
                <a:highlight>
                  <a:srgbClr val="FFFFFF"/>
                </a:highlight>
                <a:latin typeface="Arial"/>
                <a:ea typeface="Arial"/>
                <a:cs typeface="Arial"/>
                <a:sym typeface="Arial"/>
              </a:rPr>
              <a:t>Examples</a:t>
            </a:r>
            <a:endParaRPr sz="1300" b="1">
              <a:solidFill>
                <a:srgbClr val="202124"/>
              </a:solidFill>
              <a:highlight>
                <a:srgbClr val="FFFFFF"/>
              </a:highlight>
              <a:latin typeface="Arial"/>
              <a:ea typeface="Arial"/>
              <a:cs typeface="Arial"/>
              <a:sym typeface="Arial"/>
            </a:endParaRPr>
          </a:p>
          <a:p>
            <a:pPr marL="0" lvl="0" indent="0" algn="l" rtl="0">
              <a:lnSpc>
                <a:spcPct val="142857"/>
              </a:lnSpc>
              <a:spcBef>
                <a:spcPts val="40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TABLE</a:t>
            </a:r>
            <a:r>
              <a:rPr lang="vi" sz="1050">
                <a:solidFill>
                  <a:srgbClr val="37474F"/>
                </a:solidFill>
                <a:latin typeface="Roboto Mono"/>
                <a:ea typeface="Roboto Mono"/>
                <a:cs typeface="Roboto Mono"/>
                <a:sym typeface="Roboto Mono"/>
              </a:rPr>
              <a:t> mydataset.mytable</a:t>
            </a:r>
            <a:endParaRPr sz="1050">
              <a:solidFill>
                <a:srgbClr val="37474F"/>
              </a:solidFill>
              <a:latin typeface="Roboto Mono"/>
              <a:ea typeface="Roboto Mono"/>
              <a:cs typeface="Roboto Mono"/>
              <a:sym typeface="Roboto Mono"/>
            </a:endParaRPr>
          </a:p>
          <a:p>
            <a:pPr marL="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TABLE</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mydataset.mytable</a:t>
            </a:r>
            <a:endParaRPr sz="1050">
              <a:solidFill>
                <a:srgbClr val="37474F"/>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100">
              <a:solidFill>
                <a:srgbClr val="202124"/>
              </a:solidFill>
              <a:highlight>
                <a:srgbClr val="FFFFFF"/>
              </a:highlight>
              <a:latin typeface="Tahoma"/>
              <a:ea typeface="Tahoma"/>
              <a:cs typeface="Tahoma"/>
              <a:sym typeface="Tahoma"/>
            </a:endParaRPr>
          </a:p>
          <a:p>
            <a:pPr marL="0" lvl="0" indent="0" algn="l" rtl="0">
              <a:lnSpc>
                <a:spcPct val="95000"/>
              </a:lnSpc>
              <a:spcBef>
                <a:spcPts val="0"/>
              </a:spcBef>
              <a:spcAft>
                <a:spcPts val="1200"/>
              </a:spcAft>
              <a:buSzPts val="688"/>
              <a:buNone/>
            </a:pPr>
            <a:endParaRPr sz="800">
              <a:solidFill>
                <a:srgbClr val="3B78E7"/>
              </a:solidFill>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FF0000"/>
                </a:solidFill>
                <a:latin typeface="Arial"/>
                <a:ea typeface="Arial"/>
                <a:cs typeface="Arial"/>
                <a:sym typeface="Arial"/>
              </a:rPr>
              <a:t>DROP VIEW</a:t>
            </a:r>
            <a:endParaRPr sz="1700" b="1">
              <a:solidFill>
                <a:srgbClr val="FF0000"/>
              </a:solidFill>
              <a:latin typeface="Arial"/>
              <a:ea typeface="Arial"/>
              <a:cs typeface="Arial"/>
              <a:sym typeface="Arial"/>
            </a:endParaRPr>
          </a:p>
        </p:txBody>
      </p:sp>
      <p:sp>
        <p:nvSpPr>
          <p:cNvPr id="146" name="Google Shape;146;p26"/>
          <p:cNvSpPr txBox="1">
            <a:spLocks noGrp="1"/>
          </p:cNvSpPr>
          <p:nvPr>
            <p:ph type="body" idx="4294967295"/>
          </p:nvPr>
        </p:nvSpPr>
        <p:spPr>
          <a:xfrm>
            <a:off x="521425" y="771175"/>
            <a:ext cx="8222100" cy="4443000"/>
          </a:xfrm>
          <a:prstGeom prst="rect">
            <a:avLst/>
          </a:prstGeom>
        </p:spPr>
        <p:txBody>
          <a:bodyPr spcFirstLastPara="1" wrap="square" lIns="91425" tIns="91425" rIns="91425" bIns="91425" anchor="t" anchorCtr="0">
            <a:noAutofit/>
          </a:bodyPr>
          <a:lstStyle/>
          <a:p>
            <a:pPr marL="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VIEW</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[[project_name.]dataset_name.]view_name</a:t>
            </a:r>
            <a:endParaRPr sz="1050">
              <a:solidFill>
                <a:srgbClr val="3B78E7"/>
              </a:solidFill>
              <a:latin typeface="Roboto Mono"/>
              <a:ea typeface="Roboto Mono"/>
              <a:cs typeface="Roboto Mono"/>
              <a:sym typeface="Roboto Mono"/>
            </a:endParaRPr>
          </a:p>
          <a:p>
            <a:pPr marL="0" lvl="0" indent="0" algn="l" rtl="0">
              <a:spcBef>
                <a:spcPts val="1400"/>
              </a:spcBef>
              <a:spcAft>
                <a:spcPts val="0"/>
              </a:spcAft>
              <a:buNone/>
            </a:pPr>
            <a:r>
              <a:rPr lang="vi" sz="1300" b="1">
                <a:solidFill>
                  <a:srgbClr val="202124"/>
                </a:solidFill>
                <a:highlight>
                  <a:srgbClr val="FFFFFF"/>
                </a:highlight>
                <a:latin typeface="Arial"/>
                <a:ea typeface="Arial"/>
                <a:cs typeface="Arial"/>
                <a:sym typeface="Arial"/>
              </a:rPr>
              <a:t>Examples</a:t>
            </a:r>
            <a:endParaRPr sz="1300" b="1">
              <a:solidFill>
                <a:srgbClr val="202124"/>
              </a:solidFill>
              <a:highlight>
                <a:srgbClr val="FFFFFF"/>
              </a:highlight>
              <a:latin typeface="Arial"/>
              <a:ea typeface="Arial"/>
              <a:cs typeface="Arial"/>
              <a:sym typeface="Arial"/>
            </a:endParaRPr>
          </a:p>
          <a:p>
            <a:pPr marL="0" lvl="0" indent="0" algn="l" rtl="0">
              <a:lnSpc>
                <a:spcPct val="142857"/>
              </a:lnSpc>
              <a:spcBef>
                <a:spcPts val="40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VIEW</a:t>
            </a:r>
            <a:r>
              <a:rPr lang="vi" sz="1050">
                <a:solidFill>
                  <a:srgbClr val="37474F"/>
                </a:solidFill>
                <a:latin typeface="Roboto Mono"/>
                <a:ea typeface="Roboto Mono"/>
                <a:cs typeface="Roboto Mono"/>
                <a:sym typeface="Roboto Mono"/>
              </a:rPr>
              <a:t> mydataset.myview</a:t>
            </a:r>
            <a:endParaRPr sz="1050">
              <a:solidFill>
                <a:srgbClr val="37474F"/>
              </a:solidFill>
              <a:latin typeface="Roboto Mono"/>
              <a:ea typeface="Roboto Mono"/>
              <a:cs typeface="Roboto Mono"/>
              <a:sym typeface="Roboto Mono"/>
            </a:endParaRPr>
          </a:p>
          <a:p>
            <a:pPr marL="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VIEW</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mydataset.myview</a:t>
            </a:r>
            <a:endParaRPr sz="1050">
              <a:solidFill>
                <a:srgbClr val="37474F"/>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100">
              <a:solidFill>
                <a:srgbClr val="202124"/>
              </a:solidFill>
              <a:highlight>
                <a:srgbClr val="FFFFFF"/>
              </a:highlight>
              <a:latin typeface="Tahoma"/>
              <a:ea typeface="Tahoma"/>
              <a:cs typeface="Tahoma"/>
              <a:sym typeface="Tahoma"/>
            </a:endParaRPr>
          </a:p>
          <a:p>
            <a:pPr marL="0" lvl="0" indent="0" algn="l" rtl="0">
              <a:lnSpc>
                <a:spcPct val="95000"/>
              </a:lnSpc>
              <a:spcBef>
                <a:spcPts val="0"/>
              </a:spcBef>
              <a:spcAft>
                <a:spcPts val="1200"/>
              </a:spcAft>
              <a:buSzPts val="688"/>
              <a:buNone/>
            </a:pPr>
            <a:endParaRPr sz="800">
              <a:solidFill>
                <a:srgbClr val="3B78E7"/>
              </a:solidFill>
              <a:latin typeface="Tahoma"/>
              <a:ea typeface="Tahoma"/>
              <a:cs typeface="Tahoma"/>
              <a:sym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7"/>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FF0000"/>
                </a:solidFill>
                <a:latin typeface="Arial"/>
                <a:ea typeface="Arial"/>
                <a:cs typeface="Arial"/>
                <a:sym typeface="Arial"/>
              </a:rPr>
              <a:t>DROP FUNCTION</a:t>
            </a:r>
            <a:endParaRPr sz="1700" b="1">
              <a:solidFill>
                <a:srgbClr val="FF0000"/>
              </a:solidFill>
              <a:latin typeface="Arial"/>
              <a:ea typeface="Arial"/>
              <a:cs typeface="Arial"/>
              <a:sym typeface="Arial"/>
            </a:endParaRPr>
          </a:p>
        </p:txBody>
      </p:sp>
      <p:sp>
        <p:nvSpPr>
          <p:cNvPr id="152" name="Google Shape;152;p27"/>
          <p:cNvSpPr txBox="1">
            <a:spLocks noGrp="1"/>
          </p:cNvSpPr>
          <p:nvPr>
            <p:ph type="body" idx="4294967295"/>
          </p:nvPr>
        </p:nvSpPr>
        <p:spPr>
          <a:xfrm>
            <a:off x="521425" y="771175"/>
            <a:ext cx="8222100" cy="4443000"/>
          </a:xfrm>
          <a:prstGeom prst="rect">
            <a:avLst/>
          </a:prstGeom>
        </p:spPr>
        <p:txBody>
          <a:bodyPr spcFirstLastPara="1" wrap="square" lIns="91425" tIns="91425" rIns="91425" bIns="91425" anchor="t" anchorCtr="0">
            <a:noAutofit/>
          </a:bodyPr>
          <a:lstStyle/>
          <a:p>
            <a:pPr marL="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FUNCTION</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[[project_name.]dataset_name.]function_name</a:t>
            </a:r>
            <a:endParaRPr sz="1050">
              <a:solidFill>
                <a:srgbClr val="3B78E7"/>
              </a:solidFill>
              <a:latin typeface="Roboto Mono"/>
              <a:ea typeface="Roboto Mono"/>
              <a:cs typeface="Roboto Mono"/>
              <a:sym typeface="Roboto Mono"/>
            </a:endParaRPr>
          </a:p>
          <a:p>
            <a:pPr marL="0" lvl="0" indent="0" algn="l" rtl="0">
              <a:spcBef>
                <a:spcPts val="1400"/>
              </a:spcBef>
              <a:spcAft>
                <a:spcPts val="0"/>
              </a:spcAft>
              <a:buNone/>
            </a:pPr>
            <a:r>
              <a:rPr lang="vi" sz="1300" b="1">
                <a:solidFill>
                  <a:srgbClr val="202124"/>
                </a:solidFill>
                <a:highlight>
                  <a:srgbClr val="FFFFFF"/>
                </a:highlight>
                <a:latin typeface="Arial"/>
                <a:ea typeface="Arial"/>
                <a:cs typeface="Arial"/>
                <a:sym typeface="Arial"/>
              </a:rPr>
              <a:t>Examples</a:t>
            </a:r>
            <a:endParaRPr sz="1300" b="1">
              <a:solidFill>
                <a:srgbClr val="202124"/>
              </a:solidFill>
              <a:highlight>
                <a:srgbClr val="FFFFFF"/>
              </a:highlight>
              <a:latin typeface="Arial"/>
              <a:ea typeface="Arial"/>
              <a:cs typeface="Arial"/>
              <a:sym typeface="Arial"/>
            </a:endParaRPr>
          </a:p>
          <a:p>
            <a:pPr marL="0" lvl="0" indent="0" algn="l" rtl="0">
              <a:lnSpc>
                <a:spcPct val="142857"/>
              </a:lnSpc>
              <a:spcBef>
                <a:spcPts val="40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FUNCTION</a:t>
            </a:r>
            <a:r>
              <a:rPr lang="vi" sz="1050">
                <a:solidFill>
                  <a:srgbClr val="37474F"/>
                </a:solidFill>
                <a:latin typeface="Roboto Mono"/>
                <a:ea typeface="Roboto Mono"/>
                <a:cs typeface="Roboto Mono"/>
                <a:sym typeface="Roboto Mono"/>
              </a:rPr>
              <a:t> mydataset.parseJsonAsStruct;</a:t>
            </a: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FUNCTION</a:t>
            </a:r>
            <a:r>
              <a:rPr lang="vi" sz="1050">
                <a:solidFill>
                  <a:srgbClr val="37474F"/>
                </a:solidFill>
                <a:latin typeface="Roboto Mono"/>
                <a:ea typeface="Roboto Mono"/>
                <a:cs typeface="Roboto Mono"/>
                <a:sym typeface="Roboto Mono"/>
              </a:rPr>
              <a:t> `other_project`.sample_dataset.parseJsonAsStruct;</a:t>
            </a:r>
            <a:endParaRPr sz="1050">
              <a:solidFill>
                <a:srgbClr val="37474F"/>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100">
              <a:solidFill>
                <a:srgbClr val="202124"/>
              </a:solidFill>
              <a:highlight>
                <a:srgbClr val="FFFFFF"/>
              </a:highlight>
              <a:latin typeface="Tahoma"/>
              <a:ea typeface="Tahoma"/>
              <a:cs typeface="Tahoma"/>
              <a:sym typeface="Tahoma"/>
            </a:endParaRPr>
          </a:p>
          <a:p>
            <a:pPr marL="0" lvl="0" indent="0" algn="l" rtl="0">
              <a:lnSpc>
                <a:spcPct val="95000"/>
              </a:lnSpc>
              <a:spcBef>
                <a:spcPts val="0"/>
              </a:spcBef>
              <a:spcAft>
                <a:spcPts val="1200"/>
              </a:spcAft>
              <a:buSzPts val="688"/>
              <a:buNone/>
            </a:pPr>
            <a:endParaRPr sz="800">
              <a:solidFill>
                <a:srgbClr val="3B78E7"/>
              </a:solidFill>
              <a:latin typeface="Tahoma"/>
              <a:ea typeface="Tahoma"/>
              <a:cs typeface="Tahoma"/>
              <a:sym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8"/>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FF0000"/>
                </a:solidFill>
                <a:latin typeface="Arial"/>
                <a:ea typeface="Arial"/>
                <a:cs typeface="Arial"/>
                <a:sym typeface="Arial"/>
              </a:rPr>
              <a:t>DROP PROCEDURE</a:t>
            </a:r>
            <a:endParaRPr sz="1700" b="1">
              <a:solidFill>
                <a:srgbClr val="FF0000"/>
              </a:solidFill>
              <a:latin typeface="Arial"/>
              <a:ea typeface="Arial"/>
              <a:cs typeface="Arial"/>
              <a:sym typeface="Arial"/>
            </a:endParaRPr>
          </a:p>
        </p:txBody>
      </p:sp>
      <p:sp>
        <p:nvSpPr>
          <p:cNvPr id="158" name="Google Shape;158;p28"/>
          <p:cNvSpPr txBox="1">
            <a:spLocks noGrp="1"/>
          </p:cNvSpPr>
          <p:nvPr>
            <p:ph type="body" idx="4294967295"/>
          </p:nvPr>
        </p:nvSpPr>
        <p:spPr>
          <a:xfrm>
            <a:off x="521425" y="771175"/>
            <a:ext cx="8222100" cy="4443000"/>
          </a:xfrm>
          <a:prstGeom prst="rect">
            <a:avLst/>
          </a:prstGeom>
        </p:spPr>
        <p:txBody>
          <a:bodyPr spcFirstLastPara="1" wrap="square" lIns="91425" tIns="91425" rIns="91425" bIns="91425" anchor="t" anchorCtr="0">
            <a:noAutofit/>
          </a:bodyPr>
          <a:lstStyle/>
          <a:p>
            <a:pPr marL="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PROCEDURE</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[[project_name.]dataset_name.]procedure_name</a:t>
            </a:r>
            <a:endParaRPr sz="1050">
              <a:solidFill>
                <a:srgbClr val="3B78E7"/>
              </a:solidFill>
              <a:latin typeface="Roboto Mono"/>
              <a:ea typeface="Roboto Mono"/>
              <a:cs typeface="Roboto Mono"/>
              <a:sym typeface="Roboto Mono"/>
            </a:endParaRPr>
          </a:p>
          <a:p>
            <a:pPr marL="0" lvl="0" indent="0" algn="l" rtl="0">
              <a:spcBef>
                <a:spcPts val="1400"/>
              </a:spcBef>
              <a:spcAft>
                <a:spcPts val="0"/>
              </a:spcAft>
              <a:buNone/>
            </a:pPr>
            <a:r>
              <a:rPr lang="vi" sz="1300" b="1">
                <a:solidFill>
                  <a:srgbClr val="202124"/>
                </a:solidFill>
                <a:highlight>
                  <a:srgbClr val="FFFFFF"/>
                </a:highlight>
                <a:latin typeface="Arial"/>
                <a:ea typeface="Arial"/>
                <a:cs typeface="Arial"/>
                <a:sym typeface="Arial"/>
              </a:rPr>
              <a:t>Examples</a:t>
            </a:r>
            <a:endParaRPr sz="1300" b="1">
              <a:solidFill>
                <a:srgbClr val="202124"/>
              </a:solidFill>
              <a:highlight>
                <a:srgbClr val="FFFFFF"/>
              </a:highlight>
              <a:latin typeface="Arial"/>
              <a:ea typeface="Arial"/>
              <a:cs typeface="Arial"/>
              <a:sym typeface="Arial"/>
            </a:endParaRPr>
          </a:p>
          <a:p>
            <a:pPr marL="0" lvl="0" indent="0" algn="l" rtl="0">
              <a:lnSpc>
                <a:spcPct val="142857"/>
              </a:lnSpc>
              <a:spcBef>
                <a:spcPts val="40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PROCEDURE</a:t>
            </a:r>
            <a:r>
              <a:rPr lang="vi" sz="1050">
                <a:solidFill>
                  <a:srgbClr val="37474F"/>
                </a:solidFill>
                <a:latin typeface="Roboto Mono"/>
                <a:ea typeface="Roboto Mono"/>
                <a:cs typeface="Roboto Mono"/>
                <a:sym typeface="Roboto Mono"/>
              </a:rPr>
              <a:t> mydataset.myProcedure;</a:t>
            </a: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PROCEDURE</a:t>
            </a:r>
            <a:r>
              <a:rPr lang="vi" sz="1050">
                <a:solidFill>
                  <a:srgbClr val="37474F"/>
                </a:solidFill>
                <a:latin typeface="Roboto Mono"/>
                <a:ea typeface="Roboto Mono"/>
                <a:cs typeface="Roboto Mono"/>
                <a:sym typeface="Roboto Mono"/>
              </a:rPr>
              <a:t> `other-project`.sample_dataset.myprocedure;</a:t>
            </a:r>
            <a:endParaRPr sz="1050">
              <a:solidFill>
                <a:srgbClr val="37474F"/>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100">
              <a:solidFill>
                <a:srgbClr val="202124"/>
              </a:solidFill>
              <a:highlight>
                <a:srgbClr val="FFFFFF"/>
              </a:highlight>
              <a:latin typeface="Tahoma"/>
              <a:ea typeface="Tahoma"/>
              <a:cs typeface="Tahoma"/>
              <a:sym typeface="Tahoma"/>
            </a:endParaRPr>
          </a:p>
          <a:p>
            <a:pPr marL="0" lvl="0" indent="0" algn="l" rtl="0">
              <a:lnSpc>
                <a:spcPct val="95000"/>
              </a:lnSpc>
              <a:spcBef>
                <a:spcPts val="0"/>
              </a:spcBef>
              <a:spcAft>
                <a:spcPts val="1200"/>
              </a:spcAft>
              <a:buSzPts val="688"/>
              <a:buNone/>
            </a:pPr>
            <a:endParaRPr sz="800">
              <a:solidFill>
                <a:srgbClr val="3B78E7"/>
              </a:solidFill>
              <a:latin typeface="Tahoma"/>
              <a:ea typeface="Tahoma"/>
              <a:cs typeface="Tahoma"/>
              <a:sym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9"/>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800"/>
              </a:spcBef>
              <a:spcAft>
                <a:spcPts val="400"/>
              </a:spcAft>
              <a:buNone/>
            </a:pPr>
            <a:r>
              <a:rPr lang="vi" sz="1700" b="1">
                <a:solidFill>
                  <a:srgbClr val="000000"/>
                </a:solidFill>
                <a:latin typeface="Arial"/>
                <a:ea typeface="Arial"/>
                <a:cs typeface="Arial"/>
                <a:sym typeface="Arial"/>
              </a:rPr>
              <a:t>ALTER TABLE DROP COLUMN </a:t>
            </a:r>
            <a:endParaRPr sz="1700" b="1">
              <a:solidFill>
                <a:srgbClr val="FF0000"/>
              </a:solidFill>
              <a:latin typeface="Arial"/>
              <a:ea typeface="Arial"/>
              <a:cs typeface="Arial"/>
              <a:sym typeface="Arial"/>
            </a:endParaRPr>
          </a:p>
        </p:txBody>
      </p:sp>
      <p:sp>
        <p:nvSpPr>
          <p:cNvPr id="164" name="Google Shape;164;p29"/>
          <p:cNvSpPr txBox="1">
            <a:spLocks noGrp="1"/>
          </p:cNvSpPr>
          <p:nvPr>
            <p:ph type="body" idx="4294967295"/>
          </p:nvPr>
        </p:nvSpPr>
        <p:spPr>
          <a:xfrm>
            <a:off x="521425" y="771175"/>
            <a:ext cx="8222100" cy="4443000"/>
          </a:xfrm>
          <a:prstGeom prst="rect">
            <a:avLst/>
          </a:prstGeom>
        </p:spPr>
        <p:txBody>
          <a:bodyPr spcFirstLastPara="1" wrap="square" lIns="91425" tIns="91425" rIns="91425" bIns="91425" anchor="t" anchorCtr="0">
            <a:noAutofit/>
          </a:bodyPr>
          <a:lstStyle/>
          <a:p>
            <a:pPr marL="0" lvl="0" indent="0" algn="l" rtl="0">
              <a:spcBef>
                <a:spcPts val="1800"/>
              </a:spcBef>
              <a:spcAft>
                <a:spcPts val="0"/>
              </a:spcAft>
              <a:buNone/>
            </a:pPr>
            <a:r>
              <a:rPr lang="vi" sz="1100" b="1">
                <a:solidFill>
                  <a:srgbClr val="212121"/>
                </a:solidFill>
                <a:highlight>
                  <a:srgbClr val="FFFFFF"/>
                </a:highlight>
                <a:latin typeface="Tahoma"/>
                <a:ea typeface="Tahoma"/>
                <a:cs typeface="Tahoma"/>
                <a:sym typeface="Tahoma"/>
              </a:rPr>
              <a:t>ALTER TABLE DROP COLUMN</a:t>
            </a:r>
            <a:endParaRPr sz="1100" b="1">
              <a:solidFill>
                <a:srgbClr val="212121"/>
              </a:solidFill>
              <a:highlight>
                <a:srgbClr val="FFFFFF"/>
              </a:highlight>
              <a:latin typeface="Tahoma"/>
              <a:ea typeface="Tahoma"/>
              <a:cs typeface="Tahoma"/>
              <a:sym typeface="Tahoma"/>
            </a:endParaRPr>
          </a:p>
          <a:p>
            <a:pPr marL="457200" lvl="0" indent="0" algn="l" rtl="0">
              <a:lnSpc>
                <a:spcPct val="100000"/>
              </a:lnSpc>
              <a:spcBef>
                <a:spcPts val="400"/>
              </a:spcBef>
              <a:spcAft>
                <a:spcPts val="0"/>
              </a:spcAft>
              <a:buNone/>
            </a:pPr>
            <a:r>
              <a:rPr lang="vi" sz="1050">
                <a:solidFill>
                  <a:srgbClr val="3B78E7"/>
                </a:solidFill>
                <a:latin typeface="Roboto Mono"/>
                <a:ea typeface="Roboto Mono"/>
                <a:cs typeface="Roboto Mono"/>
                <a:sym typeface="Roboto Mono"/>
              </a:rPr>
              <a:t>ALTER</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TABLE</a:t>
            </a:r>
            <a:r>
              <a:rPr lang="vi" sz="1050">
                <a:solidFill>
                  <a:srgbClr val="37474F"/>
                </a:solidFill>
                <a:latin typeface="Roboto Mono"/>
                <a:ea typeface="Roboto Mono"/>
                <a:cs typeface="Roboto Mono"/>
                <a:sym typeface="Roboto Mono"/>
              </a:rPr>
              <a:t> [[project_name.]dataset_name.]table_name</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COLUMN</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column_name [, …]</a:t>
            </a:r>
            <a:endParaRPr sz="1050">
              <a:solidFill>
                <a:srgbClr val="37474F"/>
              </a:solidFill>
              <a:latin typeface="Roboto Mono"/>
              <a:ea typeface="Roboto Mono"/>
              <a:cs typeface="Roboto Mono"/>
              <a:sym typeface="Roboto Mono"/>
            </a:endParaRPr>
          </a:p>
          <a:p>
            <a:pPr marL="0" lvl="0" indent="457200" algn="l" rtl="0">
              <a:spcBef>
                <a:spcPts val="1400"/>
              </a:spcBef>
              <a:spcAft>
                <a:spcPts val="0"/>
              </a:spcAft>
              <a:buNone/>
            </a:pPr>
            <a:r>
              <a:rPr lang="vi" sz="1100" b="1">
                <a:solidFill>
                  <a:srgbClr val="202124"/>
                </a:solidFill>
                <a:highlight>
                  <a:srgbClr val="FFFFFF"/>
                </a:highlight>
                <a:latin typeface="Tahoma"/>
                <a:ea typeface="Tahoma"/>
                <a:cs typeface="Tahoma"/>
                <a:sym typeface="Tahoma"/>
              </a:rPr>
              <a:t>Examples: </a:t>
            </a:r>
            <a:endParaRPr sz="1100" b="1">
              <a:solidFill>
                <a:srgbClr val="202124"/>
              </a:solidFill>
              <a:highlight>
                <a:srgbClr val="FFFFFF"/>
              </a:highlight>
              <a:latin typeface="Tahoma"/>
              <a:ea typeface="Tahoma"/>
              <a:cs typeface="Tahoma"/>
              <a:sym typeface="Tahoma"/>
            </a:endParaRPr>
          </a:p>
          <a:p>
            <a:pPr marL="457200" lvl="0" indent="0" algn="l" rtl="0">
              <a:lnSpc>
                <a:spcPct val="100000"/>
              </a:lnSpc>
              <a:spcBef>
                <a:spcPts val="400"/>
              </a:spcBef>
              <a:spcAft>
                <a:spcPts val="0"/>
              </a:spcAft>
              <a:buNone/>
            </a:pPr>
            <a:r>
              <a:rPr lang="vi" sz="1050">
                <a:solidFill>
                  <a:srgbClr val="3B78E7"/>
                </a:solidFill>
                <a:latin typeface="Roboto Mono"/>
                <a:ea typeface="Roboto Mono"/>
                <a:cs typeface="Roboto Mono"/>
                <a:sym typeface="Roboto Mono"/>
              </a:rPr>
              <a:t>ALTER</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TABLE</a:t>
            </a:r>
            <a:r>
              <a:rPr lang="vi" sz="1050">
                <a:solidFill>
                  <a:srgbClr val="37474F"/>
                </a:solidFill>
                <a:latin typeface="Roboto Mono"/>
                <a:ea typeface="Roboto Mono"/>
                <a:cs typeface="Roboto Mono"/>
                <a:sym typeface="Roboto Mono"/>
              </a:rPr>
              <a:t> mydataset.mytable</a:t>
            </a:r>
            <a:endParaRPr sz="1050">
              <a:solidFill>
                <a:srgbClr val="37474F"/>
              </a:solidFill>
              <a:latin typeface="Roboto Mono"/>
              <a:ea typeface="Roboto Mono"/>
              <a:cs typeface="Roboto Mono"/>
              <a:sym typeface="Roboto Mono"/>
            </a:endParaRPr>
          </a:p>
          <a:p>
            <a:pPr marL="457200" lvl="0" indent="0" algn="l" rtl="0">
              <a:lnSpc>
                <a:spcPct val="100000"/>
              </a:lnSpc>
              <a:spcBef>
                <a:spcPts val="0"/>
              </a:spcBef>
              <a:spcAft>
                <a:spcPts val="0"/>
              </a:spcAft>
              <a:buNone/>
            </a:pP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COLUMN</a:t>
            </a:r>
            <a:r>
              <a:rPr lang="vi" sz="1050">
                <a:solidFill>
                  <a:srgbClr val="37474F"/>
                </a:solidFill>
                <a:latin typeface="Roboto Mono"/>
                <a:ea typeface="Roboto Mono"/>
                <a:cs typeface="Roboto Mono"/>
                <a:sym typeface="Roboto Mono"/>
              </a:rPr>
              <a:t> A,</a:t>
            </a:r>
            <a:endParaRPr sz="1050">
              <a:solidFill>
                <a:srgbClr val="37474F"/>
              </a:solidFill>
              <a:latin typeface="Roboto Mono"/>
              <a:ea typeface="Roboto Mono"/>
              <a:cs typeface="Roboto Mono"/>
              <a:sym typeface="Roboto Mono"/>
            </a:endParaRPr>
          </a:p>
          <a:p>
            <a:pPr marL="457200" lvl="0" indent="0" algn="l" rtl="0">
              <a:lnSpc>
                <a:spcPct val="142857"/>
              </a:lnSpc>
              <a:spcBef>
                <a:spcPts val="0"/>
              </a:spcBef>
              <a:spcAft>
                <a:spcPts val="0"/>
              </a:spcAft>
              <a:buNone/>
            </a:pP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DROP</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COLUMN</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IF</a:t>
            </a:r>
            <a:r>
              <a:rPr lang="vi" sz="1050">
                <a:solidFill>
                  <a:srgbClr val="37474F"/>
                </a:solidFill>
                <a:latin typeface="Roboto Mono"/>
                <a:ea typeface="Roboto Mono"/>
                <a:cs typeface="Roboto Mono"/>
                <a:sym typeface="Roboto Mono"/>
              </a:rPr>
              <a:t> </a:t>
            </a:r>
            <a:r>
              <a:rPr lang="vi" sz="1050">
                <a:solidFill>
                  <a:srgbClr val="3B78E7"/>
                </a:solidFill>
                <a:latin typeface="Roboto Mono"/>
                <a:ea typeface="Roboto Mono"/>
                <a:cs typeface="Roboto Mono"/>
                <a:sym typeface="Roboto Mono"/>
              </a:rPr>
              <a:t>EXISTS</a:t>
            </a:r>
            <a:r>
              <a:rPr lang="vi" sz="1050">
                <a:solidFill>
                  <a:srgbClr val="37474F"/>
                </a:solidFill>
                <a:latin typeface="Roboto Mono"/>
                <a:ea typeface="Roboto Mono"/>
                <a:cs typeface="Roboto Mono"/>
                <a:sym typeface="Roboto Mono"/>
              </a:rPr>
              <a:t> B</a:t>
            </a: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050">
              <a:solidFill>
                <a:srgbClr val="3B78E7"/>
              </a:solidFill>
              <a:latin typeface="Roboto Mono"/>
              <a:ea typeface="Roboto Mono"/>
              <a:cs typeface="Roboto Mono"/>
              <a:sym typeface="Roboto Mono"/>
            </a:endParaRPr>
          </a:p>
          <a:p>
            <a:pPr marL="0" lvl="0" indent="0" algn="l" rtl="0">
              <a:lnSpc>
                <a:spcPct val="142857"/>
              </a:lnSpc>
              <a:spcBef>
                <a:spcPts val="0"/>
              </a:spcBef>
              <a:spcAft>
                <a:spcPts val="0"/>
              </a:spcAft>
              <a:buNone/>
            </a:pPr>
            <a:endParaRPr sz="1100">
              <a:solidFill>
                <a:srgbClr val="202124"/>
              </a:solidFill>
              <a:highlight>
                <a:srgbClr val="FFFFFF"/>
              </a:highlight>
              <a:latin typeface="Tahoma"/>
              <a:ea typeface="Tahoma"/>
              <a:cs typeface="Tahoma"/>
              <a:sym typeface="Tahoma"/>
            </a:endParaRPr>
          </a:p>
          <a:p>
            <a:pPr marL="0" lvl="0" indent="0" algn="l" rtl="0">
              <a:lnSpc>
                <a:spcPct val="95000"/>
              </a:lnSpc>
              <a:spcBef>
                <a:spcPts val="0"/>
              </a:spcBef>
              <a:spcAft>
                <a:spcPts val="1200"/>
              </a:spcAft>
              <a:buSzPts val="688"/>
              <a:buNone/>
            </a:pPr>
            <a:endParaRPr sz="800">
              <a:solidFill>
                <a:srgbClr val="3B78E7"/>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prstGeom prst="rect">
            <a:avLst/>
          </a:prstGeom>
          <a:noFill/>
          <a:ln>
            <a:noFill/>
          </a:ln>
        </p:spPr>
        <p:txBody>
          <a:bodyPr spcFirstLastPara="1" wrap="square" lIns="0" tIns="0" rIns="0" bIns="0" anchor="b" anchorCtr="0">
            <a:noAutofit/>
          </a:bodyPr>
          <a:lstStyle/>
          <a:p>
            <a:pPr lvl="0"/>
            <a:r>
              <a:rPr lang="en-US" sz="3000" b="1">
                <a:latin typeface="Tahoma"/>
                <a:ea typeface="Tahoma"/>
                <a:cs typeface="Tahoma"/>
                <a:sym typeface="Tahoma"/>
              </a:rPr>
              <a:t>SQL (BigQuery)</a:t>
            </a:r>
            <a:endParaRPr sz="3000" b="1">
              <a:latin typeface="Tahoma"/>
              <a:ea typeface="Tahoma"/>
              <a:cs typeface="Tahoma"/>
              <a:sym typeface="Tahoma"/>
            </a:endParaRPr>
          </a:p>
        </p:txBody>
      </p:sp>
      <p:sp>
        <p:nvSpPr>
          <p:cNvPr id="147" name="Google Shape;147;p5"/>
          <p:cNvSpPr txBox="1">
            <a:spLocks noGrp="1"/>
          </p:cNvSpPr>
          <p:nvPr>
            <p:ph type="sldNum" idx="12"/>
          </p:nvPr>
        </p:nvSpPr>
        <p:spPr>
          <a:prstGeom prst="rect">
            <a:avLst/>
          </a:prstGeom>
          <a:noFill/>
          <a:ln>
            <a:noFill/>
          </a:ln>
        </p:spPr>
        <p:txBody>
          <a:bodyPr spcFirstLastPara="1" wrap="square" lIns="0" tIns="0" rIns="0" bIns="0" anchor="ctr" anchorCtr="0">
            <a:noAutofit/>
          </a:bodyPr>
          <a:lstStyle/>
          <a:p>
            <a:fld id="{00000000-1234-1234-1234-123412341234}" type="slidenum">
              <a:rPr lang="en-US"/>
              <a:pPr/>
              <a:t>19</a:t>
            </a:fld>
            <a:endParaRPr/>
          </a:p>
        </p:txBody>
      </p:sp>
      <p:sp>
        <p:nvSpPr>
          <p:cNvPr id="145" name="Google Shape;145;p5"/>
          <p:cNvSpPr txBox="1">
            <a:spLocks noGrp="1"/>
          </p:cNvSpPr>
          <p:nvPr>
            <p:ph type="body" idx="4294967295"/>
          </p:nvPr>
        </p:nvSpPr>
        <p:spPr>
          <a:xfrm>
            <a:off x="0" y="1011238"/>
            <a:ext cx="8343900" cy="3446462"/>
          </a:xfrm>
          <a:prstGeom prst="rect">
            <a:avLst/>
          </a:prstGeom>
          <a:noFill/>
          <a:ln>
            <a:noFill/>
          </a:ln>
        </p:spPr>
        <p:txBody>
          <a:bodyPr spcFirstLastPara="1" wrap="square" lIns="0" tIns="0" rIns="0" bIns="0" anchor="t" anchorCtr="0">
            <a:noAutofit/>
          </a:bodyPr>
          <a:lstStyle/>
          <a:p>
            <a:pPr marL="85725" indent="0">
              <a:buNone/>
            </a:pPr>
            <a:r>
              <a:rPr lang="en-US" i="1">
                <a:latin typeface="Tahoma" panose="020B0604030504040204" pitchFamily="34" charset="0"/>
                <a:ea typeface="Tahoma" panose="020B0604030504040204" pitchFamily="34" charset="0"/>
                <a:cs typeface="Tahoma" panose="020B0604030504040204" pitchFamily="34" charset="0"/>
              </a:rPr>
              <a:t>Gồm 2 nhóm lệnh chính</a:t>
            </a:r>
            <a:endParaRPr lang="vi-VN" dirty="0">
              <a:latin typeface="Tahoma" panose="020B0604030504040204" pitchFamily="34" charset="0"/>
              <a:ea typeface="Tahoma" panose="020B0604030504040204" pitchFamily="34" charset="0"/>
              <a:cs typeface="Tahoma" panose="020B0604030504040204" pitchFamily="34" charset="0"/>
            </a:endParaRPr>
          </a:p>
          <a:p>
            <a:pPr marL="0" indent="0">
              <a:spcBef>
                <a:spcPts val="0"/>
              </a:spcBef>
              <a:buSzPts val="2400"/>
              <a:buNone/>
            </a:pPr>
            <a:endParaRPr b="1" dirty="0">
              <a:latin typeface="Tahoma" panose="020B0604030504040204" pitchFamily="34" charset="0"/>
              <a:ea typeface="Tahoma" panose="020B0604030504040204" pitchFamily="34" charset="0"/>
              <a:cs typeface="Tahoma" panose="020B0604030504040204" pitchFamily="34" charset="0"/>
              <a:sym typeface="Tahoma"/>
            </a:endParaRPr>
          </a:p>
        </p:txBody>
      </p:sp>
      <p:sp>
        <p:nvSpPr>
          <p:cNvPr id="148" name="Google Shape;148;p5"/>
          <p:cNvSpPr/>
          <p:nvPr/>
        </p:nvSpPr>
        <p:spPr>
          <a:xfrm>
            <a:off x="4153113" y="4941623"/>
            <a:ext cx="3471623" cy="136922"/>
          </a:xfrm>
          <a:prstGeom prst="rect">
            <a:avLst/>
          </a:prstGeom>
          <a:solidFill>
            <a:srgbClr val="D1DDE5"/>
          </a:solidFill>
          <a:ln>
            <a:noFill/>
          </a:ln>
        </p:spPr>
        <p:txBody>
          <a:bodyPr spcFirstLastPara="1" wrap="square" lIns="68569" tIns="34275" rIns="68569" bIns="34275" anchor="ctr" anchorCtr="0">
            <a:noAutofit/>
          </a:bodyPr>
          <a:lstStyle/>
          <a:p>
            <a:pPr algn="ctr">
              <a:lnSpc>
                <a:spcPct val="90000"/>
              </a:lnSpc>
            </a:pPr>
            <a:endParaRPr sz="1350">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B8BDCAA8-1B10-44A8-8B8A-736ACDA394EC}"/>
              </a:ext>
            </a:extLst>
          </p:cNvPr>
          <p:cNvSpPr/>
          <p:nvPr/>
        </p:nvSpPr>
        <p:spPr>
          <a:xfrm>
            <a:off x="1340142" y="2251244"/>
            <a:ext cx="2529281" cy="16433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DDL (Data definition language)</a:t>
            </a:r>
          </a:p>
          <a:p>
            <a:endParaRPr lang="en-US" sz="1050"/>
          </a:p>
          <a:p>
            <a:pPr marL="214313" indent="-214313">
              <a:buFont typeface="Arial" panose="020B0604020202020204" pitchFamily="34" charset="0"/>
              <a:buChar char="•"/>
            </a:pPr>
            <a:r>
              <a:rPr lang="en-US" sz="1050"/>
              <a:t>CREATE</a:t>
            </a:r>
          </a:p>
          <a:p>
            <a:pPr marL="214313" indent="-214313">
              <a:buFont typeface="Arial" panose="020B0604020202020204" pitchFamily="34" charset="0"/>
              <a:buChar char="•"/>
            </a:pPr>
            <a:r>
              <a:rPr lang="en-US" sz="1050"/>
              <a:t>ALTER</a:t>
            </a:r>
          </a:p>
          <a:p>
            <a:pPr marL="214313" indent="-214313">
              <a:buFont typeface="Arial" panose="020B0604020202020204" pitchFamily="34" charset="0"/>
              <a:buChar char="•"/>
            </a:pPr>
            <a:r>
              <a:rPr lang="en-US" sz="1050"/>
              <a:t>DROP</a:t>
            </a:r>
          </a:p>
          <a:p>
            <a:pPr marL="214313" indent="-214313">
              <a:buFont typeface="Arial" panose="020B0604020202020204" pitchFamily="34" charset="0"/>
              <a:buChar char="•"/>
            </a:pPr>
            <a:endParaRPr lang="en-US" sz="1050"/>
          </a:p>
          <a:p>
            <a:pPr marL="214313" indent="-214313">
              <a:buFont typeface="Arial" panose="020B0604020202020204" pitchFamily="34" charset="0"/>
              <a:buChar char="•"/>
            </a:pPr>
            <a:endParaRPr lang="en-US" sz="1050"/>
          </a:p>
          <a:p>
            <a:endParaRPr lang="en-GB" sz="1050"/>
          </a:p>
        </p:txBody>
      </p:sp>
      <p:sp>
        <p:nvSpPr>
          <p:cNvPr id="8" name="Rectangle 7">
            <a:extLst>
              <a:ext uri="{FF2B5EF4-FFF2-40B4-BE49-F238E27FC236}">
                <a16:creationId xmlns:a16="http://schemas.microsoft.com/office/drawing/2014/main" id="{7D02098B-6334-4AF2-B470-36AF200ECF99}"/>
              </a:ext>
            </a:extLst>
          </p:cNvPr>
          <p:cNvSpPr/>
          <p:nvPr/>
        </p:nvSpPr>
        <p:spPr>
          <a:xfrm>
            <a:off x="4706224" y="2252445"/>
            <a:ext cx="2755783" cy="16433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DML (Data manipulation language)</a:t>
            </a:r>
          </a:p>
          <a:p>
            <a:endParaRPr lang="en-US" sz="1050"/>
          </a:p>
          <a:p>
            <a:pPr marL="214313" indent="-214313">
              <a:buFont typeface="Arial" panose="020B0604020202020204" pitchFamily="34" charset="0"/>
              <a:buChar char="•"/>
            </a:pPr>
            <a:r>
              <a:rPr lang="en-US" sz="1050"/>
              <a:t>SELECT</a:t>
            </a:r>
          </a:p>
          <a:p>
            <a:pPr marL="214313" indent="-214313">
              <a:buFont typeface="Arial" panose="020B0604020202020204" pitchFamily="34" charset="0"/>
              <a:buChar char="•"/>
            </a:pPr>
            <a:r>
              <a:rPr lang="en-US" sz="1050"/>
              <a:t>INSERT</a:t>
            </a:r>
          </a:p>
          <a:p>
            <a:pPr marL="214313" indent="-214313">
              <a:buFont typeface="Arial" panose="020B0604020202020204" pitchFamily="34" charset="0"/>
              <a:buChar char="•"/>
            </a:pPr>
            <a:r>
              <a:rPr lang="en-US" sz="1050"/>
              <a:t>UPDATE</a:t>
            </a:r>
          </a:p>
          <a:p>
            <a:pPr marL="214313" indent="-214313">
              <a:buFont typeface="Arial" panose="020B0604020202020204" pitchFamily="34" charset="0"/>
              <a:buChar char="•"/>
            </a:pPr>
            <a:r>
              <a:rPr lang="en-US" sz="1050"/>
              <a:t>DELETE</a:t>
            </a:r>
          </a:p>
          <a:p>
            <a:pPr marL="214313" indent="-214313">
              <a:buFont typeface="Arial" panose="020B0604020202020204" pitchFamily="34" charset="0"/>
              <a:buChar char="•"/>
            </a:pPr>
            <a:r>
              <a:rPr lang="en-US" sz="1050"/>
              <a:t>MERGE</a:t>
            </a:r>
          </a:p>
          <a:p>
            <a:endParaRPr lang="en-GB" sz="1050"/>
          </a:p>
        </p:txBody>
      </p:sp>
    </p:spTree>
    <p:extLst>
      <p:ext uri="{BB962C8B-B14F-4D97-AF65-F5344CB8AC3E}">
        <p14:creationId xmlns:p14="http://schemas.microsoft.com/office/powerpoint/2010/main" val="170296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0"/>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Data manipulation language</a:t>
            </a:r>
            <a:endParaRPr/>
          </a:p>
        </p:txBody>
      </p:sp>
      <p:sp>
        <p:nvSpPr>
          <p:cNvPr id="170" name="Google Shape;170;p30"/>
          <p:cNvSpPr txBox="1"/>
          <p:nvPr/>
        </p:nvSpPr>
        <p:spPr>
          <a:xfrm>
            <a:off x="335275" y="822950"/>
            <a:ext cx="8763000" cy="3945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vi" sz="2100" b="1">
                <a:latin typeface="Tahoma"/>
                <a:ea typeface="Tahoma"/>
                <a:cs typeface="Tahoma"/>
                <a:sym typeface="Tahoma"/>
              </a:rPr>
              <a:t>DML</a:t>
            </a:r>
            <a:r>
              <a:rPr lang="vi" sz="2100">
                <a:latin typeface="Tahoma"/>
                <a:ea typeface="Tahoma"/>
                <a:cs typeface="Tahoma"/>
                <a:sym typeface="Tahoma"/>
              </a:rPr>
              <a:t> là ngôn ngữ thao tác dữ liệu. Các lệnh DML bao gồm:</a:t>
            </a:r>
            <a:endParaRPr sz="2100">
              <a:latin typeface="Tahoma"/>
              <a:ea typeface="Tahoma"/>
              <a:cs typeface="Tahoma"/>
              <a:sym typeface="Tahoma"/>
            </a:endParaRPr>
          </a:p>
          <a:p>
            <a:pPr marL="0" lvl="0" indent="0" algn="l" rtl="0">
              <a:lnSpc>
                <a:spcPct val="90000"/>
              </a:lnSpc>
              <a:spcBef>
                <a:spcPts val="1200"/>
              </a:spcBef>
              <a:spcAft>
                <a:spcPts val="0"/>
              </a:spcAft>
              <a:buNone/>
            </a:pPr>
            <a:r>
              <a:rPr lang="vi" sz="1500"/>
              <a:t>•</a:t>
            </a:r>
            <a:r>
              <a:rPr lang="vi" sz="2100" b="1">
                <a:latin typeface="Tahoma"/>
                <a:ea typeface="Tahoma"/>
                <a:cs typeface="Tahoma"/>
                <a:sym typeface="Tahoma"/>
              </a:rPr>
              <a:t>Lệnh SELECT</a:t>
            </a:r>
            <a:r>
              <a:rPr lang="vi" sz="2100">
                <a:latin typeface="Tahoma"/>
                <a:ea typeface="Tahoma"/>
                <a:cs typeface="Tahoma"/>
                <a:sym typeface="Tahoma"/>
              </a:rPr>
              <a:t>: Lấy các bản ghi cụ thể từ một hoặc nhiều bảng.</a:t>
            </a:r>
            <a:endParaRPr sz="2100">
              <a:latin typeface="Tahoma"/>
              <a:ea typeface="Tahoma"/>
              <a:cs typeface="Tahoma"/>
              <a:sym typeface="Tahoma"/>
            </a:endParaRPr>
          </a:p>
          <a:p>
            <a:pPr marL="0" lvl="0" indent="0" algn="l" rtl="0">
              <a:lnSpc>
                <a:spcPct val="90000"/>
              </a:lnSpc>
              <a:spcBef>
                <a:spcPts val="1200"/>
              </a:spcBef>
              <a:spcAft>
                <a:spcPts val="0"/>
              </a:spcAft>
              <a:buNone/>
            </a:pPr>
            <a:r>
              <a:rPr lang="vi" sz="1500"/>
              <a:t>•</a:t>
            </a:r>
            <a:r>
              <a:rPr lang="vi" sz="2100" b="1">
                <a:latin typeface="Tahoma"/>
                <a:ea typeface="Tahoma"/>
                <a:cs typeface="Tahoma"/>
                <a:sym typeface="Tahoma"/>
              </a:rPr>
              <a:t>Lệnh INSERT</a:t>
            </a:r>
            <a:r>
              <a:rPr lang="vi" sz="2100">
                <a:latin typeface="Tahoma"/>
                <a:ea typeface="Tahoma"/>
                <a:cs typeface="Tahoma"/>
                <a:sym typeface="Tahoma"/>
              </a:rPr>
              <a:t>: Tạo một bản ghi.</a:t>
            </a:r>
            <a:endParaRPr sz="2100">
              <a:latin typeface="Tahoma"/>
              <a:ea typeface="Tahoma"/>
              <a:cs typeface="Tahoma"/>
              <a:sym typeface="Tahoma"/>
            </a:endParaRPr>
          </a:p>
          <a:p>
            <a:pPr marL="0" lvl="0" indent="0" algn="l" rtl="0">
              <a:lnSpc>
                <a:spcPct val="90000"/>
              </a:lnSpc>
              <a:spcBef>
                <a:spcPts val="1200"/>
              </a:spcBef>
              <a:spcAft>
                <a:spcPts val="0"/>
              </a:spcAft>
              <a:buNone/>
            </a:pPr>
            <a:r>
              <a:rPr lang="vi" sz="1500"/>
              <a:t>•</a:t>
            </a:r>
            <a:r>
              <a:rPr lang="vi" sz="2100" b="1">
                <a:latin typeface="Tahoma"/>
                <a:ea typeface="Tahoma"/>
                <a:cs typeface="Tahoma"/>
                <a:sym typeface="Tahoma"/>
              </a:rPr>
              <a:t>Lệnh UPDATE</a:t>
            </a:r>
            <a:r>
              <a:rPr lang="vi" sz="2100">
                <a:latin typeface="Tahoma"/>
                <a:ea typeface="Tahoma"/>
                <a:cs typeface="Tahoma"/>
                <a:sym typeface="Tahoma"/>
              </a:rPr>
              <a:t>: Sửa đổi các bản ghi.</a:t>
            </a:r>
            <a:endParaRPr sz="2100">
              <a:latin typeface="Tahoma"/>
              <a:ea typeface="Tahoma"/>
              <a:cs typeface="Tahoma"/>
              <a:sym typeface="Tahoma"/>
            </a:endParaRPr>
          </a:p>
          <a:p>
            <a:pPr marL="0" lvl="0" indent="0" algn="l" rtl="0">
              <a:lnSpc>
                <a:spcPct val="90000"/>
              </a:lnSpc>
              <a:spcBef>
                <a:spcPts val="1200"/>
              </a:spcBef>
              <a:spcAft>
                <a:spcPts val="0"/>
              </a:spcAft>
              <a:buNone/>
            </a:pPr>
            <a:r>
              <a:rPr lang="vi" sz="1500"/>
              <a:t>•</a:t>
            </a:r>
            <a:r>
              <a:rPr lang="vi" sz="2100" b="1">
                <a:latin typeface="Tahoma"/>
                <a:ea typeface="Tahoma"/>
                <a:cs typeface="Tahoma"/>
                <a:sym typeface="Tahoma"/>
              </a:rPr>
              <a:t>Lệnh DELETE/ TRUNCATE</a:t>
            </a:r>
            <a:r>
              <a:rPr lang="vi" sz="2100">
                <a:latin typeface="Tahoma"/>
                <a:ea typeface="Tahoma"/>
                <a:cs typeface="Tahoma"/>
                <a:sym typeface="Tahoma"/>
              </a:rPr>
              <a:t>: Xóa các bản ghi.</a:t>
            </a:r>
            <a:endParaRPr sz="2100">
              <a:latin typeface="Tahoma"/>
              <a:ea typeface="Tahoma"/>
              <a:cs typeface="Tahoma"/>
              <a:sym typeface="Tahoma"/>
            </a:endParaRPr>
          </a:p>
          <a:p>
            <a:pPr marL="0" lvl="0" indent="0" algn="l" rtl="0">
              <a:lnSpc>
                <a:spcPct val="90000"/>
              </a:lnSpc>
              <a:spcBef>
                <a:spcPts val="1200"/>
              </a:spcBef>
              <a:spcAft>
                <a:spcPts val="0"/>
              </a:spcAft>
              <a:buNone/>
            </a:pPr>
            <a:r>
              <a:rPr lang="vi" sz="1500"/>
              <a:t>•</a:t>
            </a:r>
            <a:r>
              <a:rPr lang="vi" sz="2100" b="1">
                <a:latin typeface="Tahoma"/>
                <a:ea typeface="Tahoma"/>
                <a:cs typeface="Tahoma"/>
                <a:sym typeface="Tahoma"/>
              </a:rPr>
              <a:t>Lệnh MERGE</a:t>
            </a:r>
            <a:r>
              <a:rPr lang="vi" sz="2100">
                <a:latin typeface="Tahoma"/>
                <a:ea typeface="Tahoma"/>
                <a:cs typeface="Tahoma"/>
                <a:sym typeface="Tahoma"/>
              </a:rPr>
              <a:t>:</a:t>
            </a:r>
            <a:r>
              <a:rPr lang="vi" sz="2100"/>
              <a:t>dùng để hỗ trợ kết hợp thực thi nhiều thao tác cập nhật dữ liệu một cách hiệu quả vào một thao tác đơn:</a:t>
            </a:r>
            <a:endParaRPr sz="2100"/>
          </a:p>
          <a:p>
            <a:pPr marL="457200" lvl="0" indent="0" algn="l" rtl="0">
              <a:lnSpc>
                <a:spcPct val="90000"/>
              </a:lnSpc>
              <a:spcBef>
                <a:spcPts val="800"/>
              </a:spcBef>
              <a:spcAft>
                <a:spcPts val="0"/>
              </a:spcAft>
              <a:buNone/>
            </a:pPr>
            <a:r>
              <a:rPr lang="vi" sz="1500"/>
              <a:t>–</a:t>
            </a:r>
            <a:r>
              <a:rPr lang="vi" sz="1700">
                <a:latin typeface="Calibri"/>
                <a:ea typeface="Calibri"/>
                <a:cs typeface="Calibri"/>
                <a:sym typeface="Calibri"/>
              </a:rPr>
              <a:t>C</a:t>
            </a:r>
            <a:r>
              <a:rPr lang="vi" sz="1700"/>
              <a:t>ho phép thực hiện</a:t>
            </a:r>
            <a:r>
              <a:rPr lang="vi" sz="1700">
                <a:uFill>
                  <a:noFill/>
                </a:uFill>
                <a:hlinkClick r:id="rId3"/>
              </a:rPr>
              <a:t> </a:t>
            </a:r>
            <a:r>
              <a:rPr lang="vi" sz="1700" u="sng">
                <a:solidFill>
                  <a:schemeClr val="hlink"/>
                </a:solidFill>
                <a:hlinkClick r:id="rId3"/>
              </a:rPr>
              <a:t>INSERT</a:t>
            </a:r>
            <a:r>
              <a:rPr lang="vi" sz="1700"/>
              <a:t>/</a:t>
            </a:r>
            <a:r>
              <a:rPr lang="vi" sz="1700">
                <a:uFill>
                  <a:noFill/>
                </a:uFill>
                <a:hlinkClick r:id="rId4"/>
              </a:rPr>
              <a:t> </a:t>
            </a:r>
            <a:r>
              <a:rPr lang="vi" sz="1700" u="sng">
                <a:solidFill>
                  <a:schemeClr val="hlink"/>
                </a:solidFill>
                <a:hlinkClick r:id="rId4"/>
              </a:rPr>
              <a:t>UPDATE</a:t>
            </a:r>
            <a:r>
              <a:rPr lang="vi" sz="1700"/>
              <a:t>/</a:t>
            </a:r>
            <a:r>
              <a:rPr lang="vi" sz="1700">
                <a:uFill>
                  <a:noFill/>
                </a:uFill>
                <a:hlinkClick r:id="rId5"/>
              </a:rPr>
              <a:t> </a:t>
            </a:r>
            <a:r>
              <a:rPr lang="vi" sz="1700" u="sng">
                <a:solidFill>
                  <a:schemeClr val="hlink"/>
                </a:solidFill>
                <a:hlinkClick r:id="rId5"/>
              </a:rPr>
              <a:t>DELETE</a:t>
            </a:r>
            <a:r>
              <a:rPr lang="vi" sz="1700"/>
              <a:t> sử dụng một câu lệnh duy nhất.</a:t>
            </a:r>
            <a:endParaRPr sz="1700"/>
          </a:p>
          <a:p>
            <a:pPr marL="457200" lvl="0" indent="0" algn="l" rtl="0">
              <a:lnSpc>
                <a:spcPct val="90000"/>
              </a:lnSpc>
              <a:spcBef>
                <a:spcPts val="800"/>
              </a:spcBef>
              <a:spcAft>
                <a:spcPts val="0"/>
              </a:spcAft>
              <a:buNone/>
            </a:pPr>
            <a:r>
              <a:rPr lang="vi" sz="1500"/>
              <a:t>–</a:t>
            </a:r>
            <a:r>
              <a:rPr lang="vi" sz="1700"/>
              <a:t>Nâng cao hiệu năng truy vấn.</a:t>
            </a:r>
            <a:endParaRPr sz="1100">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1"/>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CÁC BẢNG SỬ DỤNG TRONG BÀI HỌC</a:t>
            </a:r>
            <a:endParaRPr/>
          </a:p>
        </p:txBody>
      </p:sp>
      <p:sp>
        <p:nvSpPr>
          <p:cNvPr id="176" name="Google Shape;176;p31"/>
          <p:cNvSpPr txBox="1"/>
          <p:nvPr/>
        </p:nvSpPr>
        <p:spPr>
          <a:xfrm>
            <a:off x="312425" y="830575"/>
            <a:ext cx="8763000" cy="354000"/>
          </a:xfrm>
          <a:prstGeom prst="rect">
            <a:avLst/>
          </a:prstGeom>
          <a:noFill/>
          <a:ln>
            <a:noFill/>
          </a:ln>
        </p:spPr>
        <p:txBody>
          <a:bodyPr spcFirstLastPara="1" wrap="square" lIns="91425" tIns="91425" rIns="91425" bIns="91425" anchor="t" anchorCtr="0">
            <a:spAutoFit/>
          </a:bodyPr>
          <a:lstStyle/>
          <a:p>
            <a:pPr marL="457200" lvl="0" indent="0" algn="l" rtl="0">
              <a:lnSpc>
                <a:spcPct val="90000"/>
              </a:lnSpc>
              <a:spcBef>
                <a:spcPts val="800"/>
              </a:spcBef>
              <a:spcAft>
                <a:spcPts val="0"/>
              </a:spcAft>
              <a:buNone/>
            </a:pPr>
            <a:endParaRPr sz="1100">
              <a:latin typeface="Roboto"/>
              <a:ea typeface="Roboto"/>
              <a:cs typeface="Roboto"/>
              <a:sym typeface="Roboto"/>
            </a:endParaRPr>
          </a:p>
        </p:txBody>
      </p:sp>
      <p:graphicFrame>
        <p:nvGraphicFramePr>
          <p:cNvPr id="177" name="Google Shape;177;p31"/>
          <p:cNvGraphicFramePr/>
          <p:nvPr/>
        </p:nvGraphicFramePr>
        <p:xfrm>
          <a:off x="365775" y="796300"/>
          <a:ext cx="8458225" cy="4152679"/>
        </p:xfrm>
        <a:graphic>
          <a:graphicData uri="http://schemas.openxmlformats.org/drawingml/2006/table">
            <a:tbl>
              <a:tblPr>
                <a:noFill/>
                <a:tableStyleId>{115C4198-21BA-4E8C-B472-7D726E7DECEE}</a:tableStyleId>
              </a:tblPr>
              <a:tblGrid>
                <a:gridCol w="1240075">
                  <a:extLst>
                    <a:ext uri="{9D8B030D-6E8A-4147-A177-3AD203B41FA5}">
                      <a16:colId xmlns:a16="http://schemas.microsoft.com/office/drawing/2014/main" val="20000"/>
                    </a:ext>
                  </a:extLst>
                </a:gridCol>
                <a:gridCol w="1881575">
                  <a:extLst>
                    <a:ext uri="{9D8B030D-6E8A-4147-A177-3AD203B41FA5}">
                      <a16:colId xmlns:a16="http://schemas.microsoft.com/office/drawing/2014/main" val="20001"/>
                    </a:ext>
                  </a:extLst>
                </a:gridCol>
                <a:gridCol w="3903600">
                  <a:extLst>
                    <a:ext uri="{9D8B030D-6E8A-4147-A177-3AD203B41FA5}">
                      <a16:colId xmlns:a16="http://schemas.microsoft.com/office/drawing/2014/main" val="20002"/>
                    </a:ext>
                  </a:extLst>
                </a:gridCol>
                <a:gridCol w="1432975">
                  <a:extLst>
                    <a:ext uri="{9D8B030D-6E8A-4147-A177-3AD203B41FA5}">
                      <a16:colId xmlns:a16="http://schemas.microsoft.com/office/drawing/2014/main" val="20003"/>
                    </a:ext>
                  </a:extLst>
                </a:gridCol>
              </a:tblGrid>
              <a:tr h="392850">
                <a:tc>
                  <a:txBody>
                    <a:bodyPr/>
                    <a:lstStyle/>
                    <a:p>
                      <a:pPr marL="0" lvl="0" indent="0" algn="ctr" rtl="0">
                        <a:spcBef>
                          <a:spcPts val="0"/>
                        </a:spcBef>
                        <a:spcAft>
                          <a:spcPts val="0"/>
                        </a:spcAft>
                        <a:buNone/>
                      </a:pPr>
                      <a:r>
                        <a:rPr lang="vi" b="1">
                          <a:solidFill>
                            <a:srgbClr val="FFFFFF"/>
                          </a:solidFill>
                        </a:rPr>
                        <a:t>Tên Table</a:t>
                      </a:r>
                      <a:endParaRPr b="1">
                        <a:solidFill>
                          <a:srgbClr val="FFFFFF"/>
                        </a:solidFill>
                      </a:endParaRPr>
                    </a:p>
                  </a:txBody>
                  <a:tcPr marL="91425" marR="91425" marT="91425" marB="91425">
                    <a:solidFill>
                      <a:schemeClr val="dk1"/>
                    </a:solidFill>
                  </a:tcPr>
                </a:tc>
                <a:tc>
                  <a:txBody>
                    <a:bodyPr/>
                    <a:lstStyle/>
                    <a:p>
                      <a:pPr marL="0" lvl="0" indent="0" algn="ctr" rtl="0">
                        <a:spcBef>
                          <a:spcPts val="0"/>
                        </a:spcBef>
                        <a:spcAft>
                          <a:spcPts val="0"/>
                        </a:spcAft>
                        <a:buNone/>
                      </a:pPr>
                      <a:r>
                        <a:rPr lang="vi" b="1">
                          <a:solidFill>
                            <a:srgbClr val="FFFFFF"/>
                          </a:solidFill>
                        </a:rPr>
                        <a:t>Tên trường</a:t>
                      </a:r>
                      <a:endParaRPr b="1">
                        <a:solidFill>
                          <a:srgbClr val="FFFFFF"/>
                        </a:solidFill>
                      </a:endParaRPr>
                    </a:p>
                  </a:txBody>
                  <a:tcPr marL="91425" marR="91425" marT="91425" marB="91425">
                    <a:solidFill>
                      <a:schemeClr val="dk1"/>
                    </a:solidFill>
                  </a:tcPr>
                </a:tc>
                <a:tc>
                  <a:txBody>
                    <a:bodyPr/>
                    <a:lstStyle/>
                    <a:p>
                      <a:pPr marL="0" lvl="0" indent="0" algn="ctr" rtl="0">
                        <a:spcBef>
                          <a:spcPts val="0"/>
                        </a:spcBef>
                        <a:spcAft>
                          <a:spcPts val="0"/>
                        </a:spcAft>
                        <a:buNone/>
                      </a:pPr>
                      <a:r>
                        <a:rPr lang="vi" b="1">
                          <a:solidFill>
                            <a:srgbClr val="FFFFFF"/>
                          </a:solidFill>
                        </a:rPr>
                        <a:t>Ý nghĩa</a:t>
                      </a:r>
                      <a:endParaRPr b="1">
                        <a:solidFill>
                          <a:srgbClr val="FFFFFF"/>
                        </a:solidFill>
                      </a:endParaRPr>
                    </a:p>
                  </a:txBody>
                  <a:tcPr marL="91425" marR="91425" marT="91425" marB="91425">
                    <a:solidFill>
                      <a:schemeClr val="dk1"/>
                    </a:solidFill>
                  </a:tcPr>
                </a:tc>
                <a:tc>
                  <a:txBody>
                    <a:bodyPr/>
                    <a:lstStyle/>
                    <a:p>
                      <a:pPr marL="0" lvl="0" indent="0" algn="ctr" rtl="0">
                        <a:spcBef>
                          <a:spcPts val="0"/>
                        </a:spcBef>
                        <a:spcAft>
                          <a:spcPts val="0"/>
                        </a:spcAft>
                        <a:buNone/>
                      </a:pPr>
                      <a:r>
                        <a:rPr lang="vi" b="1">
                          <a:solidFill>
                            <a:srgbClr val="FFFFFF"/>
                          </a:solidFill>
                        </a:rPr>
                        <a:t>Kiểu dữ liệu</a:t>
                      </a:r>
                      <a:endParaRPr b="1">
                        <a:solidFill>
                          <a:srgbClr val="FFFFFF"/>
                        </a:solidFill>
                      </a:endParaRPr>
                    </a:p>
                  </a:txBody>
                  <a:tcPr marL="91425" marR="91425" marT="91425" marB="91425">
                    <a:solidFill>
                      <a:schemeClr val="dk1"/>
                    </a:solidFill>
                  </a:tcPr>
                </a:tc>
                <a:extLst>
                  <a:ext uri="{0D108BD9-81ED-4DB2-BD59-A6C34878D82A}">
                    <a16:rowId xmlns:a16="http://schemas.microsoft.com/office/drawing/2014/main" val="10000"/>
                  </a:ext>
                </a:extLst>
              </a:tr>
              <a:tr h="329475">
                <a:tc>
                  <a:txBody>
                    <a:bodyPr/>
                    <a:lstStyle/>
                    <a:p>
                      <a:pPr marL="0" lvl="0" indent="0" algn="l" rtl="0">
                        <a:spcBef>
                          <a:spcPts val="0"/>
                        </a:spcBef>
                        <a:spcAft>
                          <a:spcPts val="0"/>
                        </a:spcAft>
                        <a:buNone/>
                      </a:pPr>
                      <a:r>
                        <a:rPr lang="vi"/>
                        <a:t>Inventory</a:t>
                      </a:r>
                      <a:endParaRPr/>
                    </a:p>
                  </a:txBody>
                  <a:tcPr marL="91425" marR="91425" marT="91425" marB="91425"/>
                </a:tc>
                <a:tc>
                  <a:txBody>
                    <a:bodyPr/>
                    <a:lstStyle/>
                    <a:p>
                      <a:pPr marL="0" lvl="0" indent="0" algn="l" rtl="0">
                        <a:lnSpc>
                          <a:spcPct val="115000"/>
                        </a:lnSpc>
                        <a:spcBef>
                          <a:spcPts val="0"/>
                        </a:spcBef>
                        <a:spcAft>
                          <a:spcPts val="0"/>
                        </a:spcAft>
                        <a:buNone/>
                      </a:pPr>
                      <a:r>
                        <a:rPr lang="vi"/>
                        <a:t>product</a:t>
                      </a:r>
                      <a:endParaRPr/>
                    </a:p>
                  </a:txBody>
                  <a:tcPr marL="91425" marR="91425" marT="91425" marB="91425"/>
                </a:tc>
                <a:tc>
                  <a:txBody>
                    <a:bodyPr/>
                    <a:lstStyle/>
                    <a:p>
                      <a:pPr marL="0" lvl="0" indent="0" algn="l" rtl="0">
                        <a:lnSpc>
                          <a:spcPct val="115000"/>
                        </a:lnSpc>
                        <a:spcBef>
                          <a:spcPts val="0"/>
                        </a:spcBef>
                        <a:spcAft>
                          <a:spcPts val="0"/>
                        </a:spcAft>
                        <a:buNone/>
                      </a:pPr>
                      <a:r>
                        <a:rPr lang="vi"/>
                        <a:t>Tên sản phẩm</a:t>
                      </a:r>
                      <a:endParaRPr/>
                    </a:p>
                  </a:txBody>
                  <a:tcPr marL="91425" marR="91425" marT="91425" marB="91425"/>
                </a:tc>
                <a:tc>
                  <a:txBody>
                    <a:bodyPr/>
                    <a:lstStyle/>
                    <a:p>
                      <a:pPr marL="0" lvl="0" indent="0" algn="l" rtl="0">
                        <a:lnSpc>
                          <a:spcPct val="115000"/>
                        </a:lnSpc>
                        <a:spcBef>
                          <a:spcPts val="0"/>
                        </a:spcBef>
                        <a:spcAft>
                          <a:spcPts val="0"/>
                        </a:spcAft>
                        <a:buNone/>
                      </a:pPr>
                      <a:r>
                        <a:rPr lang="vi"/>
                        <a:t>string</a:t>
                      </a:r>
                      <a:endParaRPr/>
                    </a:p>
                  </a:txBody>
                  <a:tcPr marL="91425" marR="91425" marT="91425" marB="91425"/>
                </a:tc>
                <a:extLst>
                  <a:ext uri="{0D108BD9-81ED-4DB2-BD59-A6C34878D82A}">
                    <a16:rowId xmlns:a16="http://schemas.microsoft.com/office/drawing/2014/main" val="10001"/>
                  </a:ext>
                </a:extLst>
              </a:tr>
              <a:tr h="329475">
                <a:tc>
                  <a:txBody>
                    <a:bodyPr/>
                    <a:lstStyle/>
                    <a:p>
                      <a:pPr marL="0" lvl="0" indent="0" algn="l" rtl="0">
                        <a:spcBef>
                          <a:spcPts val="0"/>
                        </a:spcBef>
                        <a:spcAft>
                          <a:spcPts val="0"/>
                        </a:spcAft>
                        <a:buNone/>
                      </a:pPr>
                      <a:r>
                        <a:rPr lang="vi"/>
                        <a:t>Inventory</a:t>
                      </a:r>
                      <a:endParaRPr/>
                    </a:p>
                  </a:txBody>
                  <a:tcPr marL="91425" marR="91425" marT="91425" marB="91425"/>
                </a:tc>
                <a:tc>
                  <a:txBody>
                    <a:bodyPr/>
                    <a:lstStyle/>
                    <a:p>
                      <a:pPr marL="0" lvl="0" indent="0" algn="l" rtl="0">
                        <a:lnSpc>
                          <a:spcPct val="115000"/>
                        </a:lnSpc>
                        <a:spcBef>
                          <a:spcPts val="0"/>
                        </a:spcBef>
                        <a:spcAft>
                          <a:spcPts val="0"/>
                        </a:spcAft>
                        <a:buNone/>
                      </a:pPr>
                      <a:r>
                        <a:rPr lang="vi"/>
                        <a:t>quantity</a:t>
                      </a:r>
                      <a:endParaRPr/>
                    </a:p>
                  </a:txBody>
                  <a:tcPr marL="91425" marR="91425" marT="91425" marB="91425"/>
                </a:tc>
                <a:tc>
                  <a:txBody>
                    <a:bodyPr/>
                    <a:lstStyle/>
                    <a:p>
                      <a:pPr marL="0" lvl="0" indent="0" algn="l" rtl="0">
                        <a:lnSpc>
                          <a:spcPct val="115000"/>
                        </a:lnSpc>
                        <a:spcBef>
                          <a:spcPts val="0"/>
                        </a:spcBef>
                        <a:spcAft>
                          <a:spcPts val="0"/>
                        </a:spcAft>
                        <a:buNone/>
                      </a:pPr>
                      <a:r>
                        <a:rPr lang="vi"/>
                        <a:t>Số lượng sản phẩm trong kho</a:t>
                      </a:r>
                      <a:endParaRPr/>
                    </a:p>
                  </a:txBody>
                  <a:tcPr marL="91425" marR="91425" marT="91425" marB="91425"/>
                </a:tc>
                <a:tc>
                  <a:txBody>
                    <a:bodyPr/>
                    <a:lstStyle/>
                    <a:p>
                      <a:pPr marL="0" lvl="0" indent="0" algn="l" rtl="0">
                        <a:lnSpc>
                          <a:spcPct val="115000"/>
                        </a:lnSpc>
                        <a:spcBef>
                          <a:spcPts val="0"/>
                        </a:spcBef>
                        <a:spcAft>
                          <a:spcPts val="0"/>
                        </a:spcAft>
                        <a:buNone/>
                      </a:pPr>
                      <a:r>
                        <a:rPr lang="vi"/>
                        <a:t>integer</a:t>
                      </a:r>
                      <a:endParaRPr/>
                    </a:p>
                  </a:txBody>
                  <a:tcPr marL="91425" marR="91425" marT="91425" marB="91425"/>
                </a:tc>
                <a:extLst>
                  <a:ext uri="{0D108BD9-81ED-4DB2-BD59-A6C34878D82A}">
                    <a16:rowId xmlns:a16="http://schemas.microsoft.com/office/drawing/2014/main" val="10002"/>
                  </a:ext>
                </a:extLst>
              </a:tr>
              <a:tr h="388750">
                <a:tc>
                  <a:txBody>
                    <a:bodyPr/>
                    <a:lstStyle/>
                    <a:p>
                      <a:pPr marL="0" lvl="0" indent="0" algn="l" rtl="0">
                        <a:spcBef>
                          <a:spcPts val="0"/>
                        </a:spcBef>
                        <a:spcAft>
                          <a:spcPts val="0"/>
                        </a:spcAft>
                        <a:buNone/>
                      </a:pPr>
                      <a:r>
                        <a:rPr lang="vi"/>
                        <a:t>Inventory</a:t>
                      </a:r>
                      <a:endParaRPr/>
                    </a:p>
                  </a:txBody>
                  <a:tcPr marL="91425" marR="91425" marT="91425" marB="91425"/>
                </a:tc>
                <a:tc>
                  <a:txBody>
                    <a:bodyPr/>
                    <a:lstStyle/>
                    <a:p>
                      <a:pPr marL="0" lvl="0" indent="0" algn="l" rtl="0">
                        <a:lnSpc>
                          <a:spcPct val="115000"/>
                        </a:lnSpc>
                        <a:spcBef>
                          <a:spcPts val="0"/>
                        </a:spcBef>
                        <a:spcAft>
                          <a:spcPts val="0"/>
                        </a:spcAft>
                        <a:buNone/>
                      </a:pPr>
                      <a:r>
                        <a:rPr lang="vi"/>
                        <a:t>supply_constrained</a:t>
                      </a:r>
                      <a:endParaRPr/>
                    </a:p>
                  </a:txBody>
                  <a:tcPr marL="91425" marR="91425" marT="91425" marB="91425"/>
                </a:tc>
                <a:tc>
                  <a:txBody>
                    <a:bodyPr/>
                    <a:lstStyle/>
                    <a:p>
                      <a:pPr marL="0" lvl="0" indent="0" algn="l" rtl="0">
                        <a:lnSpc>
                          <a:spcPct val="115000"/>
                        </a:lnSpc>
                        <a:spcBef>
                          <a:spcPts val="0"/>
                        </a:spcBef>
                        <a:spcAft>
                          <a:spcPts val="0"/>
                        </a:spcAft>
                        <a:buNone/>
                      </a:pPr>
                      <a:r>
                        <a:rPr lang="vi"/>
                        <a:t>hàng có số lượng giới hạn (hàng độc,hiếm)</a:t>
                      </a:r>
                      <a:endParaRPr/>
                    </a:p>
                  </a:txBody>
                  <a:tcPr marL="91425" marR="91425" marT="91425" marB="91425"/>
                </a:tc>
                <a:tc>
                  <a:txBody>
                    <a:bodyPr/>
                    <a:lstStyle/>
                    <a:p>
                      <a:pPr marL="0" lvl="0" indent="0" algn="l" rtl="0">
                        <a:lnSpc>
                          <a:spcPct val="115000"/>
                        </a:lnSpc>
                        <a:spcBef>
                          <a:spcPts val="0"/>
                        </a:spcBef>
                        <a:spcAft>
                          <a:spcPts val="0"/>
                        </a:spcAft>
                        <a:buNone/>
                      </a:pPr>
                      <a:r>
                        <a:rPr lang="vi"/>
                        <a:t>boolean</a:t>
                      </a:r>
                      <a:endParaRP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06900">
                <a:tc>
                  <a:txBody>
                    <a:bodyPr/>
                    <a:lstStyle/>
                    <a:p>
                      <a:pPr marL="0" lvl="0" indent="0" algn="l" rtl="0">
                        <a:spcBef>
                          <a:spcPts val="0"/>
                        </a:spcBef>
                        <a:spcAft>
                          <a:spcPts val="0"/>
                        </a:spcAft>
                        <a:buNone/>
                      </a:pPr>
                      <a:r>
                        <a:rPr lang="vi"/>
                        <a:t>NewArrivals</a:t>
                      </a:r>
                      <a:endParaRPr/>
                    </a:p>
                  </a:txBody>
                  <a:tcPr marL="91425" marR="91425" marT="91425" marB="91425"/>
                </a:tc>
                <a:tc>
                  <a:txBody>
                    <a:bodyPr/>
                    <a:lstStyle/>
                    <a:p>
                      <a:pPr marL="0" lvl="0" indent="0" algn="l" rtl="0">
                        <a:lnSpc>
                          <a:spcPct val="115000"/>
                        </a:lnSpc>
                        <a:spcBef>
                          <a:spcPts val="0"/>
                        </a:spcBef>
                        <a:spcAft>
                          <a:spcPts val="0"/>
                        </a:spcAft>
                        <a:buNone/>
                      </a:pPr>
                      <a:r>
                        <a:rPr lang="vi"/>
                        <a:t>product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vi"/>
                        <a:t>Tên sản phẩm</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vi"/>
                        <a:t>string</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06900">
                <a:tc>
                  <a:txBody>
                    <a:bodyPr/>
                    <a:lstStyle/>
                    <a:p>
                      <a:pPr marL="0" lvl="0" indent="0" algn="l" rtl="0">
                        <a:spcBef>
                          <a:spcPts val="0"/>
                        </a:spcBef>
                        <a:spcAft>
                          <a:spcPts val="0"/>
                        </a:spcAft>
                        <a:buNone/>
                      </a:pPr>
                      <a:r>
                        <a:rPr lang="vi"/>
                        <a:t>NewArrivals</a:t>
                      </a:r>
                      <a:endParaRPr/>
                    </a:p>
                  </a:txBody>
                  <a:tcPr marL="91425" marR="91425" marT="91425" marB="91425"/>
                </a:tc>
                <a:tc>
                  <a:txBody>
                    <a:bodyPr/>
                    <a:lstStyle/>
                    <a:p>
                      <a:pPr marL="0" lvl="0" indent="0" algn="l" rtl="0">
                        <a:lnSpc>
                          <a:spcPct val="115000"/>
                        </a:lnSpc>
                        <a:spcBef>
                          <a:spcPts val="0"/>
                        </a:spcBef>
                        <a:spcAft>
                          <a:spcPts val="0"/>
                        </a:spcAft>
                        <a:buNone/>
                      </a:pPr>
                      <a:r>
                        <a:rPr lang="vi"/>
                        <a:t>quantity</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vi"/>
                        <a:t>Số lượng sản phẩm sắp chuyển tới kho</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vi"/>
                        <a:t>integer</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506900">
                <a:tc>
                  <a:txBody>
                    <a:bodyPr/>
                    <a:lstStyle/>
                    <a:p>
                      <a:pPr marL="0" lvl="0" indent="0" algn="l" rtl="0">
                        <a:spcBef>
                          <a:spcPts val="0"/>
                        </a:spcBef>
                        <a:spcAft>
                          <a:spcPts val="0"/>
                        </a:spcAft>
                        <a:buNone/>
                      </a:pPr>
                      <a:r>
                        <a:rPr lang="vi"/>
                        <a:t>NewArrivals</a:t>
                      </a:r>
                      <a:endParaRPr/>
                    </a:p>
                  </a:txBody>
                  <a:tcPr marL="91425" marR="91425" marT="91425" marB="91425"/>
                </a:tc>
                <a:tc>
                  <a:txBody>
                    <a:bodyPr/>
                    <a:lstStyle/>
                    <a:p>
                      <a:pPr marL="0" lvl="0" indent="0" algn="l" rtl="0">
                        <a:lnSpc>
                          <a:spcPct val="115000"/>
                        </a:lnSpc>
                        <a:spcBef>
                          <a:spcPts val="0"/>
                        </a:spcBef>
                        <a:spcAft>
                          <a:spcPts val="0"/>
                        </a:spcAft>
                        <a:buNone/>
                      </a:pPr>
                      <a:r>
                        <a:rPr lang="vi"/>
                        <a:t>warehouse</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vi"/>
                        <a:t>Tên kho sẽ chuyển đến</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vi"/>
                        <a:t>string</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506900">
                <a:tc>
                  <a:txBody>
                    <a:bodyPr/>
                    <a:lstStyle/>
                    <a:p>
                      <a:pPr marL="0" lvl="0" indent="0" algn="l" rtl="0">
                        <a:spcBef>
                          <a:spcPts val="0"/>
                        </a:spcBef>
                        <a:spcAft>
                          <a:spcPts val="0"/>
                        </a:spcAft>
                        <a:buNone/>
                      </a:pPr>
                      <a:r>
                        <a:rPr lang="vi"/>
                        <a:t>Warehouse</a:t>
                      </a:r>
                      <a:endParaRPr/>
                    </a:p>
                  </a:txBody>
                  <a:tcPr marL="91425" marR="91425" marT="91425" marB="91425"/>
                </a:tc>
                <a:tc>
                  <a:txBody>
                    <a:bodyPr/>
                    <a:lstStyle/>
                    <a:p>
                      <a:pPr marL="0" lvl="0" indent="0" algn="l" rtl="0">
                        <a:lnSpc>
                          <a:spcPct val="115000"/>
                        </a:lnSpc>
                        <a:spcBef>
                          <a:spcPts val="0"/>
                        </a:spcBef>
                        <a:spcAft>
                          <a:spcPts val="0"/>
                        </a:spcAft>
                        <a:buNone/>
                      </a:pPr>
                      <a:r>
                        <a:rPr lang="vi"/>
                        <a:t>warehouse</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vi"/>
                        <a:t>Tên kho</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vi"/>
                        <a:t>string</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506900">
                <a:tc>
                  <a:txBody>
                    <a:bodyPr/>
                    <a:lstStyle/>
                    <a:p>
                      <a:pPr marL="0" lvl="0" indent="0" algn="l" rtl="0">
                        <a:spcBef>
                          <a:spcPts val="0"/>
                        </a:spcBef>
                        <a:spcAft>
                          <a:spcPts val="0"/>
                        </a:spcAft>
                        <a:buNone/>
                      </a:pPr>
                      <a:r>
                        <a:rPr lang="vi"/>
                        <a:t>Warehouse</a:t>
                      </a:r>
                      <a:endParaRPr/>
                    </a:p>
                  </a:txBody>
                  <a:tcPr marL="91425" marR="91425" marT="91425" marB="91425"/>
                </a:tc>
                <a:tc>
                  <a:txBody>
                    <a:bodyPr/>
                    <a:lstStyle/>
                    <a:p>
                      <a:pPr marL="0" lvl="0" indent="0" algn="l" rtl="0">
                        <a:lnSpc>
                          <a:spcPct val="115000"/>
                        </a:lnSpc>
                        <a:spcBef>
                          <a:spcPts val="0"/>
                        </a:spcBef>
                        <a:spcAft>
                          <a:spcPts val="0"/>
                        </a:spcAft>
                        <a:buNone/>
                      </a:pPr>
                      <a:r>
                        <a:rPr lang="vi"/>
                        <a:t>state</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vi"/>
                        <a:t>Vùng / Miền</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vi"/>
                        <a:t>string</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fade">
                                      <p:cBhvr>
                                        <p:cTn id="7" dur="10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1"/>
          <p:cNvSpPr txBox="1">
            <a:spLocks noGrp="1"/>
          </p:cNvSpPr>
          <p:nvPr>
            <p:ph type="title"/>
          </p:nvPr>
        </p:nvSpPr>
        <p:spPr>
          <a:prstGeom prst="rect">
            <a:avLst/>
          </a:prstGeom>
          <a:noFill/>
          <a:ln>
            <a:noFill/>
          </a:ln>
        </p:spPr>
        <p:txBody>
          <a:bodyPr spcFirstLastPara="1" wrap="square" lIns="0" tIns="0" rIns="0" bIns="0" anchor="b" anchorCtr="0">
            <a:noAutofit/>
          </a:bodyPr>
          <a:lstStyle/>
          <a:p>
            <a:pPr lvl="0"/>
            <a:r>
              <a:rPr lang="en-US" sz="3600" b="1">
                <a:ea typeface="Tahoma"/>
                <a:cs typeface="Tahoma"/>
                <a:sym typeface="Tahoma"/>
              </a:rPr>
              <a:t>SELECT</a:t>
            </a:r>
            <a:endParaRPr b="1" dirty="0">
              <a:latin typeface="Tahoma"/>
              <a:ea typeface="Tahoma"/>
              <a:cs typeface="Tahoma"/>
              <a:sym typeface="Tahoma"/>
            </a:endParaRPr>
          </a:p>
        </p:txBody>
      </p:sp>
      <p:sp>
        <p:nvSpPr>
          <p:cNvPr id="198" name="Google Shape;198;p11"/>
          <p:cNvSpPr txBox="1">
            <a:spLocks noGrp="1"/>
          </p:cNvSpPr>
          <p:nvPr>
            <p:ph type="body" idx="4294967295"/>
          </p:nvPr>
        </p:nvSpPr>
        <p:spPr>
          <a:xfrm>
            <a:off x="-1" y="1021976"/>
            <a:ext cx="9309006" cy="4040842"/>
          </a:xfrm>
          <a:prstGeom prst="rect">
            <a:avLst/>
          </a:prstGeom>
          <a:noFill/>
          <a:ln>
            <a:noFill/>
          </a:ln>
        </p:spPr>
        <p:txBody>
          <a:bodyPr spcFirstLastPara="1" wrap="square" lIns="0" tIns="0" rIns="0" bIns="0" anchor="t" anchorCtr="0">
            <a:noAutofit/>
          </a:bodyPr>
          <a:lstStyle/>
          <a:p>
            <a:pPr marL="0" indent="0">
              <a:buSzPts val="2400"/>
              <a:buNone/>
            </a:pPr>
            <a:r>
              <a:rPr lang="en-US" sz="1050" b="1">
                <a:solidFill>
                  <a:schemeClr val="bg2"/>
                </a:solidFill>
                <a:latin typeface="Tahoma" panose="020B0604030504040204" pitchFamily="34" charset="0"/>
                <a:ea typeface="Tahoma" panose="020B0604030504040204" pitchFamily="34" charset="0"/>
                <a:cs typeface="Tahoma" panose="020B0604030504040204" pitchFamily="34" charset="0"/>
                <a:sym typeface="Tahoma"/>
              </a:rPr>
              <a:t>Cú pháp:</a:t>
            </a:r>
          </a:p>
          <a:p>
            <a:pPr marL="914400" lvl="2" indent="0">
              <a:buSzPts val="2400"/>
              <a:buNone/>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SELECT [ AS { typename | STRUCT | VALUE } ] [{ ALL | DISTINCT }]</a:t>
            </a:r>
          </a:p>
          <a:p>
            <a:pPr marL="914400" lvl="2" indent="0">
              <a:buSzPts val="2400"/>
              <a:buNone/>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    { [ expression. ]* [ EXCEPT ( column_name [, ...] ) ]</a:t>
            </a:r>
          </a:p>
          <a:p>
            <a:pPr marL="914400" lvl="2" indent="0">
              <a:buSzPts val="2400"/>
              <a:buNone/>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        [ REPLACE ( expression [ AS ] column_name [, ...] ) ]</a:t>
            </a:r>
          </a:p>
          <a:p>
            <a:pPr marL="914400" lvl="2" indent="0">
              <a:buSzPts val="2400"/>
              <a:buNone/>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    | expression [ [ AS ] alias ] } [, ...]</a:t>
            </a:r>
          </a:p>
          <a:p>
            <a:pPr marL="0" indent="0">
              <a:buSzPts val="2400"/>
              <a:buNone/>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SELECT *: lấy ra toàn bộ các tr</a:t>
            </a:r>
            <a:r>
              <a:rPr lang="vi-VN"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ư</a:t>
            </a: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ờng dữ liệu của 1 bảng</a:t>
            </a:r>
          </a:p>
          <a:p>
            <a:pPr marL="0" indent="0">
              <a:buSzPts val="2400"/>
              <a:buNone/>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	Ví dụ: Select * from </a:t>
            </a:r>
            <a:r>
              <a:rPr lang="vi" sz="1050"/>
              <a:t>Inventory</a:t>
            </a:r>
            <a:r>
              <a:rPr lang="en-US" sz="1050"/>
              <a:t>;</a:t>
            </a:r>
          </a:p>
          <a:p>
            <a:pPr marL="0" indent="0">
              <a:buSzPts val="2400"/>
              <a:buNone/>
            </a:pPr>
            <a:endParaRPr lang="en-US" sz="1050"/>
          </a:p>
          <a:p>
            <a:pPr marL="171450" indent="-171450">
              <a:buSzPts val="2400"/>
              <a:buFont typeface="Arial" panose="020B0604020202020204" pitchFamily="34" charset="0"/>
              <a:buChar char="•"/>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SELECT column1, column2....column</a:t>
            </a:r>
          </a:p>
          <a:p>
            <a:pPr marL="0" indent="0">
              <a:buSzPts val="2400"/>
              <a:buNone/>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     FROM   table_name;</a:t>
            </a:r>
          </a:p>
          <a:p>
            <a:pPr marL="0" indent="0">
              <a:buSzPts val="2400"/>
              <a:buNone/>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=&gt; Lấy ra các tr</a:t>
            </a:r>
            <a:r>
              <a:rPr lang="vi-VN"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ư</a:t>
            </a: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ờng mong muốn (không lấy toàn bộ nh</a:t>
            </a:r>
            <a:r>
              <a:rPr lang="vi-VN"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ư</a:t>
            </a: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 Select *)</a:t>
            </a:r>
          </a:p>
          <a:p>
            <a:pPr marL="0" indent="0">
              <a:buSzPts val="2400"/>
              <a:buNone/>
            </a:pPr>
            <a:endParaRPr lang="en-US" sz="1050"/>
          </a:p>
          <a:p>
            <a:pPr marL="0" indent="0">
              <a:buSzPts val="2400"/>
              <a:buNone/>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SELECT * EXCEPT: lấy ra toàn bộ các tr</a:t>
            </a:r>
            <a:r>
              <a:rPr lang="vi-VN"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ư</a:t>
            </a: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ờng dữ liệu, trừ trường đ</a:t>
            </a:r>
            <a:r>
              <a:rPr lang="vi-VN"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ư</a:t>
            </a: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ợc liệt kê trong EXCEPT</a:t>
            </a: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0" indent="0">
              <a:buClr>
                <a:srgbClr val="244C5F"/>
              </a:buClr>
              <a:buSzPts val="2400"/>
              <a:buNone/>
            </a:pPr>
            <a:endParaRPr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14300" indent="0">
              <a:buSzPts val="2400"/>
              <a:buNone/>
            </a:pPr>
            <a:endParaRPr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14300" indent="0">
              <a:buSzPts val="2400"/>
              <a:buNone/>
            </a:pPr>
            <a:endParaRPr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14300" indent="0">
              <a:buSzPts val="2400"/>
              <a:buNone/>
            </a:pPr>
            <a:endParaRPr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14300" indent="0">
              <a:buSzPts val="2400"/>
              <a:buNone/>
            </a:pPr>
            <a:endParaRPr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p:txBody>
      </p:sp>
      <p:pic>
        <p:nvPicPr>
          <p:cNvPr id="3" name="Picture 2">
            <a:extLst>
              <a:ext uri="{FF2B5EF4-FFF2-40B4-BE49-F238E27FC236}">
                <a16:creationId xmlns:a16="http://schemas.microsoft.com/office/drawing/2014/main" id="{FF41C878-5612-4D2F-86BC-9DECCF517E57}"/>
              </a:ext>
            </a:extLst>
          </p:cNvPr>
          <p:cNvPicPr>
            <a:picLocks noChangeAspect="1"/>
          </p:cNvPicPr>
          <p:nvPr/>
        </p:nvPicPr>
        <p:blipFill>
          <a:blip r:embed="rId3"/>
          <a:stretch>
            <a:fillRect/>
          </a:stretch>
        </p:blipFill>
        <p:spPr>
          <a:xfrm>
            <a:off x="5860275" y="2428344"/>
            <a:ext cx="2228131" cy="246267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1"/>
          <p:cNvSpPr txBox="1">
            <a:spLocks noGrp="1"/>
          </p:cNvSpPr>
          <p:nvPr>
            <p:ph type="title"/>
          </p:nvPr>
        </p:nvSpPr>
        <p:spPr>
          <a:prstGeom prst="rect">
            <a:avLst/>
          </a:prstGeom>
          <a:noFill/>
          <a:ln>
            <a:noFill/>
          </a:ln>
        </p:spPr>
        <p:txBody>
          <a:bodyPr spcFirstLastPara="1" wrap="square" lIns="0" tIns="0" rIns="0" bIns="0" anchor="b" anchorCtr="0">
            <a:noAutofit/>
          </a:bodyPr>
          <a:lstStyle/>
          <a:p>
            <a:pPr lvl="0"/>
            <a:r>
              <a:rPr lang="en-US" sz="3600" b="1">
                <a:ea typeface="Tahoma"/>
                <a:cs typeface="Tahoma"/>
                <a:sym typeface="Tahoma"/>
              </a:rPr>
              <a:t>SELECT</a:t>
            </a:r>
            <a:endParaRPr b="1" dirty="0">
              <a:latin typeface="Tahoma"/>
              <a:ea typeface="Tahoma"/>
              <a:cs typeface="Tahoma"/>
              <a:sym typeface="Tahoma"/>
            </a:endParaRPr>
          </a:p>
        </p:txBody>
      </p:sp>
      <p:sp>
        <p:nvSpPr>
          <p:cNvPr id="198" name="Google Shape;198;p11"/>
          <p:cNvSpPr txBox="1">
            <a:spLocks noGrp="1"/>
          </p:cNvSpPr>
          <p:nvPr>
            <p:ph type="body" idx="4294967295"/>
          </p:nvPr>
        </p:nvSpPr>
        <p:spPr>
          <a:xfrm>
            <a:off x="-1" y="1021976"/>
            <a:ext cx="9309006" cy="4040842"/>
          </a:xfrm>
          <a:prstGeom prst="rect">
            <a:avLst/>
          </a:prstGeom>
          <a:noFill/>
          <a:ln>
            <a:noFill/>
          </a:ln>
        </p:spPr>
        <p:txBody>
          <a:bodyPr spcFirstLastPara="1" wrap="square" lIns="0" tIns="0" rIns="0" bIns="0" anchor="t" anchorCtr="0">
            <a:noAutofit/>
          </a:bodyPr>
          <a:lstStyle/>
          <a:p>
            <a:pPr marL="171450" indent="-171450">
              <a:buSzPts val="2400"/>
              <a:buFont typeface="Arial" panose="020B0604020202020204" pitchFamily="34" charset="0"/>
              <a:buChar char="•"/>
            </a:pP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SELECT * REPLACE: lấy ra toàn bộ các tr</a:t>
            </a:r>
            <a:r>
              <a:rPr lang="vi-VN"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ư</a:t>
            </a:r>
            <a:r>
              <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rPr>
              <a:t>ờng </a:t>
            </a: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71450" indent="-171450">
              <a:buSzPts val="2400"/>
              <a:buFont typeface="Arial" panose="020B0604020202020204" pitchFamily="34" charset="0"/>
              <a:buChar char="•"/>
            </a:pPr>
            <a:endParaRPr lang="en-US"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0" indent="0">
              <a:buClr>
                <a:srgbClr val="244C5F"/>
              </a:buClr>
              <a:buSzPts val="2400"/>
              <a:buNone/>
            </a:pPr>
            <a:endParaRPr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14300" indent="0">
              <a:buSzPts val="2400"/>
              <a:buNone/>
            </a:pPr>
            <a:endParaRPr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14300" indent="0">
              <a:buSzPts val="2400"/>
              <a:buNone/>
            </a:pPr>
            <a:endParaRPr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14300" indent="0">
              <a:buSzPts val="2400"/>
              <a:buNone/>
            </a:pPr>
            <a:endParaRPr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a:p>
            <a:pPr marL="114300" indent="0">
              <a:buSzPts val="2400"/>
              <a:buNone/>
            </a:pPr>
            <a:endParaRPr sz="1050">
              <a:solidFill>
                <a:schemeClr val="bg2"/>
              </a:solidFill>
              <a:latin typeface="Tahoma" panose="020B0604030504040204" pitchFamily="34" charset="0"/>
              <a:ea typeface="Tahoma" panose="020B0604030504040204" pitchFamily="34" charset="0"/>
              <a:cs typeface="Tahoma" panose="020B0604030504040204" pitchFamily="34" charset="0"/>
              <a:sym typeface="Tahoma"/>
            </a:endParaRPr>
          </a:p>
        </p:txBody>
      </p:sp>
      <p:pic>
        <p:nvPicPr>
          <p:cNvPr id="4" name="Picture 3">
            <a:extLst>
              <a:ext uri="{FF2B5EF4-FFF2-40B4-BE49-F238E27FC236}">
                <a16:creationId xmlns:a16="http://schemas.microsoft.com/office/drawing/2014/main" id="{AA8CEC09-28B9-43E7-8802-F371878AE684}"/>
              </a:ext>
            </a:extLst>
          </p:cNvPr>
          <p:cNvPicPr>
            <a:picLocks noChangeAspect="1"/>
          </p:cNvPicPr>
          <p:nvPr/>
        </p:nvPicPr>
        <p:blipFill>
          <a:blip r:embed="rId3"/>
          <a:stretch>
            <a:fillRect/>
          </a:stretch>
        </p:blipFill>
        <p:spPr>
          <a:xfrm>
            <a:off x="5448393" y="726140"/>
            <a:ext cx="2899532" cy="4137874"/>
          </a:xfrm>
          <a:prstGeom prst="rect">
            <a:avLst/>
          </a:prstGeom>
        </p:spPr>
      </p:pic>
    </p:spTree>
    <p:extLst>
      <p:ext uri="{BB962C8B-B14F-4D97-AF65-F5344CB8AC3E}">
        <p14:creationId xmlns:p14="http://schemas.microsoft.com/office/powerpoint/2010/main" val="3926365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1"/>
          <p:cNvSpPr txBox="1">
            <a:spLocks noGrp="1"/>
          </p:cNvSpPr>
          <p:nvPr>
            <p:ph type="title"/>
          </p:nvPr>
        </p:nvSpPr>
        <p:spPr>
          <a:prstGeom prst="rect">
            <a:avLst/>
          </a:prstGeom>
          <a:noFill/>
          <a:ln>
            <a:noFill/>
          </a:ln>
        </p:spPr>
        <p:txBody>
          <a:bodyPr spcFirstLastPara="1" wrap="square" lIns="0" tIns="0" rIns="0" bIns="0" anchor="b" anchorCtr="0">
            <a:noAutofit/>
          </a:bodyPr>
          <a:lstStyle/>
          <a:p>
            <a:pPr lvl="0"/>
            <a:r>
              <a:rPr lang="en-US" sz="3600" b="1">
                <a:ea typeface="Tahoma"/>
                <a:cs typeface="Tahoma"/>
                <a:sym typeface="Tahoma"/>
              </a:rPr>
              <a:t>SELECT</a:t>
            </a:r>
            <a:endParaRPr b="1" dirty="0">
              <a:latin typeface="Tahoma"/>
              <a:ea typeface="Tahoma"/>
              <a:cs typeface="Tahoma"/>
              <a:sym typeface="Tahoma"/>
            </a:endParaRPr>
          </a:p>
        </p:txBody>
      </p:sp>
      <p:sp>
        <p:nvSpPr>
          <p:cNvPr id="198" name="Google Shape;198;p11"/>
          <p:cNvSpPr txBox="1">
            <a:spLocks noGrp="1"/>
          </p:cNvSpPr>
          <p:nvPr>
            <p:ph type="body" idx="4294967295"/>
          </p:nvPr>
        </p:nvSpPr>
        <p:spPr>
          <a:xfrm>
            <a:off x="-1" y="1021976"/>
            <a:ext cx="9309006" cy="4040842"/>
          </a:xfrm>
          <a:prstGeom prst="rect">
            <a:avLst/>
          </a:prstGeom>
          <a:noFill/>
          <a:ln>
            <a:noFill/>
          </a:ln>
        </p:spPr>
        <p:txBody>
          <a:bodyPr spcFirstLastPara="1" wrap="square" lIns="0" tIns="0" rIns="0" bIns="0" anchor="t" anchorCtr="0">
            <a:noAutofit/>
          </a:bodyPr>
          <a:lstStyle/>
          <a:p>
            <a:pPr marL="171450" indent="-171450">
              <a:buSzPts val="2400"/>
            </a:pPr>
            <a:r>
              <a:rPr lang="en-US" sz="1050">
                <a:latin typeface="Tahoma"/>
                <a:ea typeface="Tahoma"/>
                <a:cs typeface="Tahoma"/>
                <a:sym typeface="Tahoma"/>
              </a:rPr>
              <a:t>Câu lệnh SQL DISTINCT</a:t>
            </a:r>
          </a:p>
          <a:p>
            <a:pPr lvl="1"/>
            <a:r>
              <a:rPr lang="en-US" sz="1050">
                <a:solidFill>
                  <a:srgbClr val="006699"/>
                </a:solidFill>
                <a:latin typeface="Tahoma"/>
                <a:ea typeface="Tahoma"/>
                <a:cs typeface="Tahoma"/>
                <a:sym typeface="Tahoma"/>
              </a:rPr>
              <a:t>SELECT</a:t>
            </a:r>
            <a:r>
              <a:rPr lang="en-US" sz="1050">
                <a:solidFill>
                  <a:srgbClr val="333333"/>
                </a:solidFill>
                <a:latin typeface="Tahoma"/>
                <a:ea typeface="Tahoma"/>
                <a:cs typeface="Tahoma"/>
                <a:sym typeface="Tahoma"/>
              </a:rPr>
              <a:t> </a:t>
            </a:r>
            <a:r>
              <a:rPr lang="en-US" sz="1050">
                <a:solidFill>
                  <a:srgbClr val="006699"/>
                </a:solidFill>
                <a:latin typeface="Tahoma"/>
                <a:ea typeface="Tahoma"/>
                <a:cs typeface="Tahoma"/>
                <a:sym typeface="Tahoma"/>
              </a:rPr>
              <a:t>DISTINCT</a:t>
            </a:r>
            <a:r>
              <a:rPr lang="en-US" sz="1050">
                <a:solidFill>
                  <a:srgbClr val="333333"/>
                </a:solidFill>
                <a:latin typeface="Tahoma"/>
                <a:ea typeface="Tahoma"/>
                <a:cs typeface="Tahoma"/>
                <a:sym typeface="Tahoma"/>
              </a:rPr>
              <a:t> </a:t>
            </a:r>
            <a:r>
              <a:rPr lang="en-US" sz="1050">
                <a:latin typeface="Tahoma"/>
                <a:ea typeface="Tahoma"/>
                <a:cs typeface="Tahoma"/>
                <a:sym typeface="Tahoma"/>
              </a:rPr>
              <a:t>column1, column2....columnN</a:t>
            </a:r>
            <a:endParaRPr lang="en-US" sz="1050">
              <a:solidFill>
                <a:schemeClr val="dk1"/>
              </a:solidFill>
              <a:latin typeface="Tahoma"/>
              <a:ea typeface="Tahoma"/>
              <a:cs typeface="Tahoma"/>
              <a:sym typeface="Tahoma"/>
            </a:endParaRPr>
          </a:p>
          <a:p>
            <a:pPr lvl="1"/>
            <a:r>
              <a:rPr lang="en-US" sz="1050">
                <a:solidFill>
                  <a:srgbClr val="006699"/>
                </a:solidFill>
                <a:latin typeface="Tahoma"/>
                <a:ea typeface="Tahoma"/>
                <a:cs typeface="Tahoma"/>
                <a:sym typeface="Tahoma"/>
              </a:rPr>
              <a:t>FROM</a:t>
            </a:r>
            <a:r>
              <a:rPr lang="en-US" sz="1050">
                <a:solidFill>
                  <a:srgbClr val="333333"/>
                </a:solidFill>
                <a:latin typeface="Tahoma"/>
                <a:ea typeface="Tahoma"/>
                <a:cs typeface="Tahoma"/>
                <a:sym typeface="Tahoma"/>
              </a:rPr>
              <a:t>   </a:t>
            </a:r>
            <a:r>
              <a:rPr lang="en-US" sz="1050">
                <a:latin typeface="Tahoma"/>
                <a:ea typeface="Tahoma"/>
                <a:cs typeface="Tahoma"/>
                <a:sym typeface="Tahoma"/>
              </a:rPr>
              <a:t>table_name;</a:t>
            </a:r>
          </a:p>
          <a:p>
            <a:endParaRPr lang="en-US" sz="1050">
              <a:solidFill>
                <a:schemeClr val="dk1"/>
              </a:solidFill>
              <a:latin typeface="Tahoma"/>
              <a:ea typeface="Tahoma"/>
              <a:cs typeface="Tahoma"/>
              <a:sym typeface="Tahoma"/>
            </a:endParaRPr>
          </a:p>
          <a:p>
            <a:pPr marL="171450" indent="-171450">
              <a:buClr>
                <a:srgbClr val="244C5F"/>
              </a:buClr>
              <a:buSzPts val="2400"/>
            </a:pPr>
            <a:r>
              <a:rPr lang="en-US" sz="1050">
                <a:solidFill>
                  <a:srgbClr val="244C5F"/>
                </a:solidFill>
                <a:latin typeface="Tahoma"/>
                <a:ea typeface="Tahoma"/>
                <a:cs typeface="Tahoma"/>
                <a:sym typeface="Tahoma"/>
              </a:rPr>
              <a:t>Câu lệnh SQL WHERE</a:t>
            </a:r>
          </a:p>
          <a:p>
            <a:pPr marL="596900" lvl="1" indent="0">
              <a:buNone/>
            </a:pPr>
            <a:r>
              <a:rPr lang="en-US" sz="1050">
                <a:solidFill>
                  <a:srgbClr val="006699"/>
                </a:solidFill>
                <a:latin typeface="Tahoma"/>
                <a:ea typeface="Tahoma"/>
                <a:cs typeface="Tahoma"/>
                <a:sym typeface="Tahoma"/>
              </a:rPr>
              <a:t>SELECT</a:t>
            </a:r>
            <a:r>
              <a:rPr lang="en-US" sz="1050">
                <a:solidFill>
                  <a:srgbClr val="333333"/>
                </a:solidFill>
                <a:latin typeface="Tahoma"/>
                <a:ea typeface="Tahoma"/>
                <a:cs typeface="Tahoma"/>
                <a:sym typeface="Tahoma"/>
              </a:rPr>
              <a:t> </a:t>
            </a:r>
            <a:r>
              <a:rPr lang="en-US" sz="1050">
                <a:latin typeface="Tahoma"/>
                <a:ea typeface="Tahoma"/>
                <a:cs typeface="Tahoma"/>
                <a:sym typeface="Tahoma"/>
              </a:rPr>
              <a:t>column1, column2....columnN</a:t>
            </a:r>
            <a:endParaRPr lang="en-US" sz="1050">
              <a:solidFill>
                <a:schemeClr val="dk1"/>
              </a:solidFill>
              <a:latin typeface="Tahoma"/>
              <a:ea typeface="Tahoma"/>
              <a:cs typeface="Tahoma"/>
              <a:sym typeface="Tahoma"/>
            </a:endParaRPr>
          </a:p>
          <a:p>
            <a:pPr marL="596900" lvl="1" indent="0">
              <a:buNone/>
            </a:pPr>
            <a:r>
              <a:rPr lang="en-US" sz="1050">
                <a:solidFill>
                  <a:srgbClr val="006699"/>
                </a:solidFill>
                <a:latin typeface="Tahoma"/>
                <a:ea typeface="Tahoma"/>
                <a:cs typeface="Tahoma"/>
                <a:sym typeface="Tahoma"/>
              </a:rPr>
              <a:t>FROM</a:t>
            </a:r>
            <a:r>
              <a:rPr lang="en-US" sz="1050">
                <a:solidFill>
                  <a:srgbClr val="333333"/>
                </a:solidFill>
                <a:latin typeface="Tahoma"/>
                <a:ea typeface="Tahoma"/>
                <a:cs typeface="Tahoma"/>
                <a:sym typeface="Tahoma"/>
              </a:rPr>
              <a:t>   </a:t>
            </a:r>
            <a:r>
              <a:rPr lang="en-US" sz="1050">
                <a:latin typeface="Tahoma"/>
                <a:ea typeface="Tahoma"/>
                <a:cs typeface="Tahoma"/>
                <a:sym typeface="Tahoma"/>
              </a:rPr>
              <a:t>table_name</a:t>
            </a:r>
            <a:endParaRPr lang="en-US" sz="1050">
              <a:solidFill>
                <a:schemeClr val="dk1"/>
              </a:solidFill>
              <a:latin typeface="Tahoma"/>
              <a:ea typeface="Tahoma"/>
              <a:cs typeface="Tahoma"/>
              <a:sym typeface="Tahoma"/>
            </a:endParaRPr>
          </a:p>
          <a:p>
            <a:pPr marL="596900" lvl="1" indent="0">
              <a:buNone/>
            </a:pPr>
            <a:r>
              <a:rPr lang="en-US" sz="1050">
                <a:solidFill>
                  <a:srgbClr val="006699"/>
                </a:solidFill>
                <a:latin typeface="Tahoma"/>
                <a:ea typeface="Tahoma"/>
                <a:cs typeface="Tahoma"/>
                <a:sym typeface="Tahoma"/>
              </a:rPr>
              <a:t>WHERE</a:t>
            </a:r>
            <a:r>
              <a:rPr lang="en-US" sz="1050">
                <a:solidFill>
                  <a:srgbClr val="333333"/>
                </a:solidFill>
                <a:latin typeface="Tahoma"/>
                <a:ea typeface="Tahoma"/>
                <a:cs typeface="Tahoma"/>
                <a:sym typeface="Tahoma"/>
              </a:rPr>
              <a:t>  </a:t>
            </a:r>
            <a:r>
              <a:rPr lang="en-US" sz="1050">
                <a:latin typeface="Tahoma"/>
                <a:ea typeface="Tahoma"/>
                <a:cs typeface="Tahoma"/>
                <a:sym typeface="Tahoma"/>
              </a:rPr>
              <a:t>CONDITION;</a:t>
            </a:r>
          </a:p>
          <a:p>
            <a:endParaRPr sz="1050">
              <a:latin typeface="Tahoma"/>
              <a:ea typeface="Tahoma"/>
              <a:cs typeface="Tahoma"/>
              <a:sym typeface="Tahoma"/>
            </a:endParaRPr>
          </a:p>
          <a:p>
            <a:pPr marL="171450" indent="-171450">
              <a:buClr>
                <a:srgbClr val="244C5F"/>
              </a:buClr>
              <a:buSzPts val="2400"/>
            </a:pPr>
            <a:r>
              <a:rPr lang="en-US" sz="1050">
                <a:solidFill>
                  <a:srgbClr val="244C5F"/>
                </a:solidFill>
                <a:latin typeface="Tahoma"/>
                <a:ea typeface="Tahoma"/>
                <a:cs typeface="Tahoma"/>
                <a:sym typeface="Tahoma"/>
              </a:rPr>
              <a:t>Câu lệnh SQL GROUP BY</a:t>
            </a:r>
          </a:p>
          <a:p>
            <a:pPr marL="571500" lvl="1" indent="0">
              <a:buNone/>
            </a:pPr>
            <a:r>
              <a:rPr lang="en-US" sz="1050">
                <a:solidFill>
                  <a:srgbClr val="006699"/>
                </a:solidFill>
                <a:latin typeface="Tahoma"/>
                <a:ea typeface="Tahoma"/>
                <a:cs typeface="Tahoma"/>
                <a:sym typeface="Tahoma"/>
              </a:rPr>
              <a:t>SELECT</a:t>
            </a:r>
            <a:r>
              <a:rPr lang="en-US" sz="1050">
                <a:solidFill>
                  <a:srgbClr val="333333"/>
                </a:solidFill>
                <a:latin typeface="Tahoma"/>
                <a:ea typeface="Tahoma"/>
                <a:cs typeface="Tahoma"/>
                <a:sym typeface="Tahoma"/>
              </a:rPr>
              <a:t> </a:t>
            </a:r>
            <a:r>
              <a:rPr lang="en-US" sz="1050">
                <a:solidFill>
                  <a:srgbClr val="FF1493"/>
                </a:solidFill>
                <a:latin typeface="Tahoma"/>
                <a:ea typeface="Tahoma"/>
                <a:cs typeface="Tahoma"/>
                <a:sym typeface="Tahoma"/>
              </a:rPr>
              <a:t>SUM</a:t>
            </a:r>
            <a:r>
              <a:rPr lang="en-US" sz="1050">
                <a:latin typeface="Tahoma"/>
                <a:ea typeface="Tahoma"/>
                <a:cs typeface="Tahoma"/>
                <a:sym typeface="Tahoma"/>
              </a:rPr>
              <a:t>(column_name)</a:t>
            </a:r>
            <a:endParaRPr lang="en-US" sz="1050">
              <a:solidFill>
                <a:schemeClr val="dk1"/>
              </a:solidFill>
              <a:latin typeface="Tahoma"/>
              <a:ea typeface="Tahoma"/>
              <a:cs typeface="Tahoma"/>
              <a:sym typeface="Tahoma"/>
            </a:endParaRPr>
          </a:p>
          <a:p>
            <a:pPr marL="571500" lvl="1" indent="0">
              <a:buNone/>
            </a:pPr>
            <a:r>
              <a:rPr lang="en-US" sz="1050">
                <a:solidFill>
                  <a:srgbClr val="006699"/>
                </a:solidFill>
                <a:latin typeface="Tahoma"/>
                <a:ea typeface="Tahoma"/>
                <a:cs typeface="Tahoma"/>
                <a:sym typeface="Tahoma"/>
              </a:rPr>
              <a:t>FROM</a:t>
            </a:r>
            <a:r>
              <a:rPr lang="en-US" sz="1050">
                <a:solidFill>
                  <a:srgbClr val="333333"/>
                </a:solidFill>
                <a:latin typeface="Tahoma"/>
                <a:ea typeface="Tahoma"/>
                <a:cs typeface="Tahoma"/>
                <a:sym typeface="Tahoma"/>
              </a:rPr>
              <a:t>   </a:t>
            </a:r>
            <a:r>
              <a:rPr lang="en-US" sz="1050">
                <a:latin typeface="Tahoma"/>
                <a:ea typeface="Tahoma"/>
                <a:cs typeface="Tahoma"/>
                <a:sym typeface="Tahoma"/>
              </a:rPr>
              <a:t>table_name</a:t>
            </a:r>
            <a:endParaRPr lang="en-US" sz="1050">
              <a:solidFill>
                <a:schemeClr val="dk1"/>
              </a:solidFill>
              <a:latin typeface="Tahoma"/>
              <a:ea typeface="Tahoma"/>
              <a:cs typeface="Tahoma"/>
              <a:sym typeface="Tahoma"/>
            </a:endParaRPr>
          </a:p>
          <a:p>
            <a:pPr marL="571500" lvl="1" indent="0">
              <a:buNone/>
            </a:pPr>
            <a:r>
              <a:rPr lang="en-US" sz="1050">
                <a:solidFill>
                  <a:srgbClr val="006699"/>
                </a:solidFill>
                <a:latin typeface="Tahoma"/>
                <a:ea typeface="Tahoma"/>
                <a:cs typeface="Tahoma"/>
                <a:sym typeface="Tahoma"/>
              </a:rPr>
              <a:t>GROUP</a:t>
            </a:r>
            <a:r>
              <a:rPr lang="en-US" sz="1050">
                <a:solidFill>
                  <a:srgbClr val="333333"/>
                </a:solidFill>
                <a:latin typeface="Tahoma"/>
                <a:ea typeface="Tahoma"/>
                <a:cs typeface="Tahoma"/>
                <a:sym typeface="Tahoma"/>
              </a:rPr>
              <a:t> </a:t>
            </a:r>
            <a:r>
              <a:rPr lang="en-US" sz="1050">
                <a:solidFill>
                  <a:srgbClr val="006699"/>
                </a:solidFill>
                <a:latin typeface="Tahoma"/>
                <a:ea typeface="Tahoma"/>
                <a:cs typeface="Tahoma"/>
                <a:sym typeface="Tahoma"/>
              </a:rPr>
              <a:t>BY</a:t>
            </a:r>
            <a:r>
              <a:rPr lang="en-US" sz="1050">
                <a:solidFill>
                  <a:srgbClr val="333333"/>
                </a:solidFill>
                <a:latin typeface="Tahoma"/>
                <a:ea typeface="Tahoma"/>
                <a:cs typeface="Tahoma"/>
                <a:sym typeface="Tahoma"/>
              </a:rPr>
              <a:t> </a:t>
            </a:r>
            <a:r>
              <a:rPr lang="en-US" sz="1050">
                <a:latin typeface="Tahoma"/>
                <a:ea typeface="Tahoma"/>
                <a:cs typeface="Tahoma"/>
                <a:sym typeface="Tahoma"/>
              </a:rPr>
              <a:t>column_name;</a:t>
            </a:r>
          </a:p>
          <a:p>
            <a:endParaRPr lang="en-US" sz="1050">
              <a:solidFill>
                <a:schemeClr val="dk1"/>
              </a:solidFill>
              <a:latin typeface="Tahoma"/>
              <a:ea typeface="Tahoma"/>
              <a:cs typeface="Tahoma"/>
              <a:sym typeface="Tahoma"/>
            </a:endParaRPr>
          </a:p>
          <a:p>
            <a:pPr marL="171450" indent="-171450">
              <a:buClr>
                <a:srgbClr val="244C5F"/>
              </a:buClr>
              <a:buSzPts val="2400"/>
            </a:pPr>
            <a:r>
              <a:rPr lang="en-US" sz="1050">
                <a:solidFill>
                  <a:srgbClr val="244C5F"/>
                </a:solidFill>
                <a:latin typeface="Tahoma"/>
                <a:ea typeface="Tahoma"/>
                <a:cs typeface="Tahoma"/>
                <a:sym typeface="Tahoma"/>
              </a:rPr>
              <a:t>Câu lệnh SQL ORDER BY</a:t>
            </a:r>
          </a:p>
          <a:p>
            <a:pPr marL="571500" lvl="1" indent="0">
              <a:buNone/>
            </a:pPr>
            <a:r>
              <a:rPr lang="en-US" sz="1050">
                <a:solidFill>
                  <a:srgbClr val="006699"/>
                </a:solidFill>
                <a:latin typeface="Tahoma"/>
                <a:ea typeface="Tahoma"/>
                <a:cs typeface="Tahoma"/>
                <a:sym typeface="Tahoma"/>
              </a:rPr>
              <a:t>SELECT</a:t>
            </a:r>
            <a:r>
              <a:rPr lang="en-US" sz="1050">
                <a:solidFill>
                  <a:srgbClr val="333333"/>
                </a:solidFill>
                <a:latin typeface="Tahoma"/>
                <a:ea typeface="Tahoma"/>
                <a:cs typeface="Tahoma"/>
                <a:sym typeface="Tahoma"/>
              </a:rPr>
              <a:t> </a:t>
            </a:r>
            <a:r>
              <a:rPr lang="en-US" sz="1050">
                <a:latin typeface="Tahoma"/>
                <a:ea typeface="Tahoma"/>
                <a:cs typeface="Tahoma"/>
                <a:sym typeface="Tahoma"/>
              </a:rPr>
              <a:t>column1,column2....columnN</a:t>
            </a:r>
            <a:endParaRPr lang="en-US" sz="1050">
              <a:solidFill>
                <a:schemeClr val="dk1"/>
              </a:solidFill>
              <a:latin typeface="Tahoma"/>
              <a:ea typeface="Tahoma"/>
              <a:cs typeface="Tahoma"/>
              <a:sym typeface="Tahoma"/>
            </a:endParaRPr>
          </a:p>
          <a:p>
            <a:pPr marL="571500" lvl="1" indent="0">
              <a:buNone/>
            </a:pPr>
            <a:r>
              <a:rPr lang="en-US" sz="1050">
                <a:solidFill>
                  <a:srgbClr val="006699"/>
                </a:solidFill>
                <a:latin typeface="Tahoma"/>
                <a:ea typeface="Tahoma"/>
                <a:cs typeface="Tahoma"/>
                <a:sym typeface="Tahoma"/>
              </a:rPr>
              <a:t>FROM</a:t>
            </a:r>
            <a:r>
              <a:rPr lang="en-US" sz="1050">
                <a:solidFill>
                  <a:srgbClr val="333333"/>
                </a:solidFill>
                <a:latin typeface="Tahoma"/>
                <a:ea typeface="Tahoma"/>
                <a:cs typeface="Tahoma"/>
                <a:sym typeface="Tahoma"/>
              </a:rPr>
              <a:t>   </a:t>
            </a:r>
            <a:r>
              <a:rPr lang="en-US" sz="1050">
                <a:latin typeface="Tahoma"/>
                <a:ea typeface="Tahoma"/>
                <a:cs typeface="Tahoma"/>
                <a:sym typeface="Tahoma"/>
              </a:rPr>
              <a:t>table_name</a:t>
            </a:r>
            <a:endParaRPr lang="en-US" sz="1050">
              <a:solidFill>
                <a:schemeClr val="dk1"/>
              </a:solidFill>
              <a:latin typeface="Tahoma"/>
              <a:ea typeface="Tahoma"/>
              <a:cs typeface="Tahoma"/>
              <a:sym typeface="Tahoma"/>
            </a:endParaRPr>
          </a:p>
          <a:p>
            <a:pPr marL="571500" lvl="1" indent="0">
              <a:buNone/>
            </a:pPr>
            <a:r>
              <a:rPr lang="en-US" sz="1050">
                <a:solidFill>
                  <a:srgbClr val="006699"/>
                </a:solidFill>
                <a:latin typeface="Tahoma"/>
                <a:ea typeface="Tahoma"/>
                <a:cs typeface="Tahoma"/>
                <a:sym typeface="Tahoma"/>
              </a:rPr>
              <a:t>ORDER</a:t>
            </a:r>
            <a:r>
              <a:rPr lang="en-US" sz="1050">
                <a:solidFill>
                  <a:srgbClr val="333333"/>
                </a:solidFill>
                <a:latin typeface="Tahoma"/>
                <a:ea typeface="Tahoma"/>
                <a:cs typeface="Tahoma"/>
                <a:sym typeface="Tahoma"/>
              </a:rPr>
              <a:t> </a:t>
            </a:r>
            <a:r>
              <a:rPr lang="en-US" sz="1050">
                <a:solidFill>
                  <a:srgbClr val="006699"/>
                </a:solidFill>
                <a:latin typeface="Tahoma"/>
                <a:ea typeface="Tahoma"/>
                <a:cs typeface="Tahoma"/>
                <a:sym typeface="Tahoma"/>
              </a:rPr>
              <a:t>BY</a:t>
            </a:r>
            <a:r>
              <a:rPr lang="en-US" sz="1050">
                <a:solidFill>
                  <a:srgbClr val="333333"/>
                </a:solidFill>
                <a:latin typeface="Tahoma"/>
                <a:ea typeface="Tahoma"/>
                <a:cs typeface="Tahoma"/>
                <a:sym typeface="Tahoma"/>
              </a:rPr>
              <a:t> </a:t>
            </a:r>
            <a:r>
              <a:rPr lang="en-US" sz="1050">
                <a:latin typeface="Tahoma"/>
                <a:ea typeface="Tahoma"/>
                <a:cs typeface="Tahoma"/>
                <a:sym typeface="Tahoma"/>
              </a:rPr>
              <a:t>column_name {</a:t>
            </a:r>
            <a:r>
              <a:rPr lang="en-US" sz="1050">
                <a:solidFill>
                  <a:srgbClr val="006699"/>
                </a:solidFill>
                <a:latin typeface="Tahoma"/>
                <a:ea typeface="Tahoma"/>
                <a:cs typeface="Tahoma"/>
                <a:sym typeface="Tahoma"/>
              </a:rPr>
              <a:t>ASC</a:t>
            </a:r>
            <a:r>
              <a:rPr lang="en-US" sz="1050">
                <a:latin typeface="Tahoma"/>
                <a:ea typeface="Tahoma"/>
                <a:cs typeface="Tahoma"/>
                <a:sym typeface="Tahoma"/>
              </a:rPr>
              <a:t>|</a:t>
            </a:r>
            <a:r>
              <a:rPr lang="en-US" sz="1050">
                <a:solidFill>
                  <a:srgbClr val="006699"/>
                </a:solidFill>
                <a:latin typeface="Tahoma"/>
                <a:ea typeface="Tahoma"/>
                <a:cs typeface="Tahoma"/>
                <a:sym typeface="Tahoma"/>
              </a:rPr>
              <a:t>DESC</a:t>
            </a:r>
            <a:r>
              <a:rPr lang="en-US" sz="1050">
                <a:latin typeface="Tahoma"/>
                <a:ea typeface="Tahoma"/>
                <a:cs typeface="Tahoma"/>
                <a:sym typeface="Tahoma"/>
              </a:rPr>
              <a:t>};</a:t>
            </a:r>
            <a:endParaRPr lang="en-US" sz="1050">
              <a:solidFill>
                <a:schemeClr val="dk1"/>
              </a:solidFill>
              <a:latin typeface="Tahoma"/>
              <a:ea typeface="Tahoma"/>
              <a:cs typeface="Tahoma"/>
              <a:sym typeface="Tahoma"/>
            </a:endParaRPr>
          </a:p>
          <a:p>
            <a:pPr marL="0" indent="0">
              <a:buClr>
                <a:srgbClr val="244C5F"/>
              </a:buClr>
              <a:buSzPts val="2400"/>
              <a:buNone/>
            </a:pPr>
            <a:endParaRPr sz="1050">
              <a:latin typeface="Tahoma"/>
              <a:ea typeface="Tahoma"/>
              <a:cs typeface="Tahoma"/>
              <a:sym typeface="Tahoma"/>
            </a:endParaRPr>
          </a:p>
          <a:p>
            <a:pPr marL="171450" indent="-57150">
              <a:buSzPts val="2400"/>
              <a:buNone/>
            </a:pPr>
            <a:endParaRPr sz="1050">
              <a:solidFill>
                <a:srgbClr val="244C5F"/>
              </a:solidFill>
              <a:latin typeface="Tahoma"/>
              <a:ea typeface="Tahoma"/>
              <a:cs typeface="Tahoma"/>
              <a:sym typeface="Tahoma"/>
            </a:endParaRPr>
          </a:p>
          <a:p>
            <a:pPr marL="171450" indent="-57150">
              <a:buSzPts val="2400"/>
              <a:buNone/>
            </a:pPr>
            <a:endParaRPr sz="1050">
              <a:solidFill>
                <a:srgbClr val="244C5F"/>
              </a:solidFill>
              <a:latin typeface="Tahoma"/>
              <a:ea typeface="Tahoma"/>
              <a:cs typeface="Tahoma"/>
              <a:sym typeface="Tahoma"/>
            </a:endParaRPr>
          </a:p>
          <a:p>
            <a:pPr marL="171450" indent="-57150">
              <a:buSzPts val="2400"/>
              <a:buNone/>
            </a:pPr>
            <a:endParaRPr sz="1050">
              <a:latin typeface="Tahoma"/>
              <a:ea typeface="Tahoma"/>
              <a:cs typeface="Tahoma"/>
              <a:sym typeface="Tahoma"/>
            </a:endParaRPr>
          </a:p>
          <a:p>
            <a:pPr marL="171450" indent="-57150">
              <a:buSzPts val="2400"/>
              <a:buNone/>
            </a:pPr>
            <a:endParaRPr sz="1050">
              <a:latin typeface="Tahoma"/>
              <a:ea typeface="Tahoma"/>
              <a:cs typeface="Tahoma"/>
              <a:sym typeface="Tahoma"/>
            </a:endParaRPr>
          </a:p>
        </p:txBody>
      </p:sp>
    </p:spTree>
    <p:extLst>
      <p:ext uri="{BB962C8B-B14F-4D97-AF65-F5344CB8AC3E}">
        <p14:creationId xmlns:p14="http://schemas.microsoft.com/office/powerpoint/2010/main" val="3341616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3"/>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INSERT statement</a:t>
            </a:r>
            <a:endParaRPr/>
          </a:p>
        </p:txBody>
      </p:sp>
      <p:sp>
        <p:nvSpPr>
          <p:cNvPr id="190" name="Google Shape;190;p33"/>
          <p:cNvSpPr txBox="1"/>
          <p:nvPr/>
        </p:nvSpPr>
        <p:spPr>
          <a:xfrm>
            <a:off x="312425" y="830575"/>
            <a:ext cx="8763000" cy="354000"/>
          </a:xfrm>
          <a:prstGeom prst="rect">
            <a:avLst/>
          </a:prstGeom>
          <a:noFill/>
          <a:ln>
            <a:noFill/>
          </a:ln>
        </p:spPr>
        <p:txBody>
          <a:bodyPr spcFirstLastPara="1" wrap="square" lIns="91425" tIns="91425" rIns="91425" bIns="91425" anchor="t" anchorCtr="0">
            <a:spAutoFit/>
          </a:bodyPr>
          <a:lstStyle/>
          <a:p>
            <a:pPr marL="457200" lvl="0" indent="0" algn="l" rtl="0">
              <a:lnSpc>
                <a:spcPct val="90000"/>
              </a:lnSpc>
              <a:spcBef>
                <a:spcPts val="800"/>
              </a:spcBef>
              <a:spcAft>
                <a:spcPts val="0"/>
              </a:spcAft>
              <a:buNone/>
            </a:pPr>
            <a:endParaRPr sz="1100">
              <a:latin typeface="Roboto"/>
              <a:ea typeface="Roboto"/>
              <a:cs typeface="Roboto"/>
              <a:sym typeface="Roboto"/>
            </a:endParaRPr>
          </a:p>
        </p:txBody>
      </p:sp>
      <p:sp>
        <p:nvSpPr>
          <p:cNvPr id="191" name="Google Shape;191;p33"/>
          <p:cNvSpPr txBox="1"/>
          <p:nvPr/>
        </p:nvSpPr>
        <p:spPr>
          <a:xfrm>
            <a:off x="167650" y="830575"/>
            <a:ext cx="7985700" cy="339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vi" sz="1800" b="1">
                <a:latin typeface="Tahoma"/>
                <a:ea typeface="Tahoma"/>
                <a:cs typeface="Tahoma"/>
                <a:sym typeface="Tahoma"/>
              </a:rPr>
              <a:t>Cú Pháp:</a:t>
            </a:r>
            <a:endParaRPr sz="1800" b="1">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INSERT [INTO] target_name</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 [(column_1 [, ..., column_n ] )]</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 input</a:t>
            </a:r>
            <a:endParaRPr sz="1800">
              <a:latin typeface="Tahoma"/>
              <a:ea typeface="Tahoma"/>
              <a:cs typeface="Tahoma"/>
              <a:sym typeface="Tahoma"/>
            </a:endParaRPr>
          </a:p>
          <a:p>
            <a:pPr marL="0" lvl="0" indent="0" algn="l" rtl="0">
              <a:lnSpc>
                <a:spcPct val="115000"/>
              </a:lnSpc>
              <a:spcBef>
                <a:spcPts val="0"/>
              </a:spcBef>
              <a:spcAft>
                <a:spcPts val="0"/>
              </a:spcAft>
              <a:buNone/>
            </a:pP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input ::=</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 VALUES (expr_1 [, ..., expr_n ] )</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        [, ..., (expr_k_1 [, ..., expr_k_n ] ) ]</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 SELECT_QUERY</a:t>
            </a:r>
            <a:endParaRPr sz="1800">
              <a:latin typeface="Tahoma"/>
              <a:ea typeface="Tahoma"/>
              <a:cs typeface="Tahoma"/>
              <a:sym typeface="Tahoma"/>
            </a:endParaRPr>
          </a:p>
          <a:p>
            <a:pPr marL="0" lvl="0" indent="0" algn="l" rtl="0">
              <a:lnSpc>
                <a:spcPct val="90000"/>
              </a:lnSpc>
              <a:spcBef>
                <a:spcPts val="800"/>
              </a:spcBef>
              <a:spcAft>
                <a:spcPts val="0"/>
              </a:spcAft>
              <a:buNone/>
            </a:pPr>
            <a:endParaRPr sz="1800">
              <a:latin typeface="Tahoma"/>
              <a:ea typeface="Tahoma"/>
              <a:cs typeface="Tahoma"/>
              <a:sym typeface="Tahom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4"/>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INSERT statement</a:t>
            </a:r>
            <a:endParaRPr/>
          </a:p>
        </p:txBody>
      </p:sp>
      <p:sp>
        <p:nvSpPr>
          <p:cNvPr id="197" name="Google Shape;197;p34"/>
          <p:cNvSpPr txBox="1"/>
          <p:nvPr/>
        </p:nvSpPr>
        <p:spPr>
          <a:xfrm>
            <a:off x="312425" y="830575"/>
            <a:ext cx="4122300" cy="1132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vi" sz="1100">
                <a:latin typeface="Roboto"/>
                <a:ea typeface="Roboto"/>
                <a:cs typeface="Roboto"/>
                <a:sym typeface="Roboto"/>
              </a:rPr>
              <a:t>INSERT dataset.NewArrivals (product, quantity, warehouse)</a:t>
            </a:r>
            <a:endParaRPr sz="1100">
              <a:latin typeface="Roboto"/>
              <a:ea typeface="Roboto"/>
              <a:cs typeface="Roboto"/>
              <a:sym typeface="Roboto"/>
            </a:endParaRPr>
          </a:p>
          <a:p>
            <a:pPr marL="0" lvl="0" indent="0" algn="l" rtl="0">
              <a:lnSpc>
                <a:spcPct val="115000"/>
              </a:lnSpc>
              <a:spcBef>
                <a:spcPts val="0"/>
              </a:spcBef>
              <a:spcAft>
                <a:spcPts val="0"/>
              </a:spcAft>
              <a:buNone/>
            </a:pPr>
            <a:r>
              <a:rPr lang="vi" sz="1100">
                <a:latin typeface="Roboto"/>
                <a:ea typeface="Roboto"/>
                <a:cs typeface="Roboto"/>
                <a:sym typeface="Roboto"/>
              </a:rPr>
              <a:t>VALUES</a:t>
            </a:r>
            <a:endParaRPr sz="1100">
              <a:latin typeface="Roboto"/>
              <a:ea typeface="Roboto"/>
              <a:cs typeface="Roboto"/>
              <a:sym typeface="Roboto"/>
            </a:endParaRPr>
          </a:p>
          <a:p>
            <a:pPr marL="0" lvl="0" indent="0" algn="l" rtl="0">
              <a:lnSpc>
                <a:spcPct val="115000"/>
              </a:lnSpc>
              <a:spcBef>
                <a:spcPts val="0"/>
              </a:spcBef>
              <a:spcAft>
                <a:spcPts val="0"/>
              </a:spcAft>
              <a:buNone/>
            </a:pPr>
            <a:r>
              <a:rPr lang="vi" sz="1100">
                <a:latin typeface="Roboto"/>
                <a:ea typeface="Roboto"/>
                <a:cs typeface="Roboto"/>
                <a:sym typeface="Roboto"/>
              </a:rPr>
              <a:t>       ('top load washer', 100, 'warehouse #1'),</a:t>
            </a:r>
            <a:endParaRPr sz="1100">
              <a:latin typeface="Roboto"/>
              <a:ea typeface="Roboto"/>
              <a:cs typeface="Roboto"/>
              <a:sym typeface="Roboto"/>
            </a:endParaRPr>
          </a:p>
          <a:p>
            <a:pPr marL="0" lvl="0" indent="0" algn="l" rtl="0">
              <a:lnSpc>
                <a:spcPct val="115000"/>
              </a:lnSpc>
              <a:spcBef>
                <a:spcPts val="0"/>
              </a:spcBef>
              <a:spcAft>
                <a:spcPts val="0"/>
              </a:spcAft>
              <a:buNone/>
            </a:pPr>
            <a:r>
              <a:rPr lang="vi" sz="1100">
                <a:latin typeface="Roboto"/>
                <a:ea typeface="Roboto"/>
                <a:cs typeface="Roboto"/>
                <a:sym typeface="Roboto"/>
              </a:rPr>
              <a:t>      ('dryer', 200, 'warehouse #2'),</a:t>
            </a:r>
            <a:endParaRPr sz="1100">
              <a:latin typeface="Roboto"/>
              <a:ea typeface="Roboto"/>
              <a:cs typeface="Roboto"/>
              <a:sym typeface="Roboto"/>
            </a:endParaRPr>
          </a:p>
          <a:p>
            <a:pPr marL="0" lvl="0" indent="0" algn="l" rtl="0">
              <a:lnSpc>
                <a:spcPct val="115000"/>
              </a:lnSpc>
              <a:spcBef>
                <a:spcPts val="0"/>
              </a:spcBef>
              <a:spcAft>
                <a:spcPts val="0"/>
              </a:spcAft>
              <a:buNone/>
            </a:pPr>
            <a:r>
              <a:rPr lang="vi" sz="1100">
                <a:latin typeface="Roboto"/>
                <a:ea typeface="Roboto"/>
                <a:cs typeface="Roboto"/>
                <a:sym typeface="Roboto"/>
              </a:rPr>
              <a:t>      ('oven', 300, 'warehouse #3')</a:t>
            </a:r>
            <a:endParaRPr sz="1100">
              <a:latin typeface="Roboto"/>
              <a:ea typeface="Roboto"/>
              <a:cs typeface="Roboto"/>
              <a:sym typeface="Roboto"/>
            </a:endParaRPr>
          </a:p>
        </p:txBody>
      </p:sp>
      <p:pic>
        <p:nvPicPr>
          <p:cNvPr id="198" name="Google Shape;198;p34"/>
          <p:cNvPicPr preferRelativeResize="0"/>
          <p:nvPr/>
        </p:nvPicPr>
        <p:blipFill>
          <a:blip r:embed="rId3">
            <a:alphaModFix/>
          </a:blip>
          <a:stretch>
            <a:fillRect/>
          </a:stretch>
        </p:blipFill>
        <p:spPr>
          <a:xfrm>
            <a:off x="98250" y="2462100"/>
            <a:ext cx="4419600" cy="2495550"/>
          </a:xfrm>
          <a:prstGeom prst="rect">
            <a:avLst/>
          </a:prstGeom>
          <a:noFill/>
          <a:ln>
            <a:noFill/>
          </a:ln>
        </p:spPr>
      </p:pic>
      <p:sp>
        <p:nvSpPr>
          <p:cNvPr id="199" name="Google Shape;199;p34"/>
          <p:cNvSpPr txBox="1"/>
          <p:nvPr/>
        </p:nvSpPr>
        <p:spPr>
          <a:xfrm>
            <a:off x="5006350" y="716325"/>
            <a:ext cx="4071000" cy="2257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vi" sz="1100">
                <a:latin typeface="Tahoma"/>
                <a:ea typeface="Tahoma"/>
                <a:cs typeface="Tahoma"/>
                <a:sym typeface="Tahoma"/>
              </a:rPr>
              <a:t>INSERT dataset.Inventory (product, quantity)</a:t>
            </a:r>
            <a:endParaRPr sz="1100">
              <a:latin typeface="Tahoma"/>
              <a:ea typeface="Tahoma"/>
              <a:cs typeface="Tahoma"/>
              <a:sym typeface="Tahoma"/>
            </a:endParaRPr>
          </a:p>
          <a:p>
            <a:pPr marL="0" lvl="0" indent="0" algn="l" rtl="0">
              <a:lnSpc>
                <a:spcPct val="90000"/>
              </a:lnSpc>
              <a:spcBef>
                <a:spcPts val="800"/>
              </a:spcBef>
              <a:spcAft>
                <a:spcPts val="0"/>
              </a:spcAft>
              <a:buNone/>
            </a:pPr>
            <a:r>
              <a:rPr lang="vi" sz="1100">
                <a:latin typeface="Tahoma"/>
                <a:ea typeface="Tahoma"/>
                <a:cs typeface="Tahoma"/>
                <a:sym typeface="Tahoma"/>
              </a:rPr>
              <a:t>VALUES('top load washer', 10),</a:t>
            </a:r>
            <a:endParaRPr sz="1100">
              <a:latin typeface="Tahoma"/>
              <a:ea typeface="Tahoma"/>
              <a:cs typeface="Tahoma"/>
              <a:sym typeface="Tahoma"/>
            </a:endParaRPr>
          </a:p>
          <a:p>
            <a:pPr marL="0" lvl="0" indent="0" algn="l" rtl="0">
              <a:lnSpc>
                <a:spcPct val="90000"/>
              </a:lnSpc>
              <a:spcBef>
                <a:spcPts val="800"/>
              </a:spcBef>
              <a:spcAft>
                <a:spcPts val="0"/>
              </a:spcAft>
              <a:buNone/>
            </a:pPr>
            <a:r>
              <a:rPr lang="vi" sz="1100">
                <a:latin typeface="Tahoma"/>
                <a:ea typeface="Tahoma"/>
                <a:cs typeface="Tahoma"/>
                <a:sym typeface="Tahoma"/>
              </a:rPr>
              <a:t>      ('front load washer', 20),</a:t>
            </a:r>
            <a:endParaRPr sz="1100">
              <a:latin typeface="Tahoma"/>
              <a:ea typeface="Tahoma"/>
              <a:cs typeface="Tahoma"/>
              <a:sym typeface="Tahoma"/>
            </a:endParaRPr>
          </a:p>
          <a:p>
            <a:pPr marL="0" lvl="0" indent="0" algn="l" rtl="0">
              <a:lnSpc>
                <a:spcPct val="90000"/>
              </a:lnSpc>
              <a:spcBef>
                <a:spcPts val="800"/>
              </a:spcBef>
              <a:spcAft>
                <a:spcPts val="0"/>
              </a:spcAft>
              <a:buNone/>
            </a:pPr>
            <a:r>
              <a:rPr lang="vi" sz="1100">
                <a:latin typeface="Tahoma"/>
                <a:ea typeface="Tahoma"/>
                <a:cs typeface="Tahoma"/>
                <a:sym typeface="Tahoma"/>
              </a:rPr>
              <a:t>      ('dryer', 30),</a:t>
            </a:r>
            <a:endParaRPr sz="1100">
              <a:latin typeface="Tahoma"/>
              <a:ea typeface="Tahoma"/>
              <a:cs typeface="Tahoma"/>
              <a:sym typeface="Tahoma"/>
            </a:endParaRPr>
          </a:p>
          <a:p>
            <a:pPr marL="0" lvl="0" indent="0" algn="l" rtl="0">
              <a:lnSpc>
                <a:spcPct val="90000"/>
              </a:lnSpc>
              <a:spcBef>
                <a:spcPts val="800"/>
              </a:spcBef>
              <a:spcAft>
                <a:spcPts val="0"/>
              </a:spcAft>
              <a:buNone/>
            </a:pPr>
            <a:r>
              <a:rPr lang="vi" sz="1100">
                <a:latin typeface="Tahoma"/>
                <a:ea typeface="Tahoma"/>
                <a:cs typeface="Tahoma"/>
                <a:sym typeface="Tahoma"/>
              </a:rPr>
              <a:t>      ('refrigerator', 10),</a:t>
            </a:r>
            <a:endParaRPr sz="1100">
              <a:latin typeface="Tahoma"/>
              <a:ea typeface="Tahoma"/>
              <a:cs typeface="Tahoma"/>
              <a:sym typeface="Tahoma"/>
            </a:endParaRPr>
          </a:p>
          <a:p>
            <a:pPr marL="0" lvl="0" indent="0" algn="l" rtl="0">
              <a:lnSpc>
                <a:spcPct val="90000"/>
              </a:lnSpc>
              <a:spcBef>
                <a:spcPts val="800"/>
              </a:spcBef>
              <a:spcAft>
                <a:spcPts val="0"/>
              </a:spcAft>
              <a:buNone/>
            </a:pPr>
            <a:r>
              <a:rPr lang="vi" sz="1100">
                <a:latin typeface="Tahoma"/>
                <a:ea typeface="Tahoma"/>
                <a:cs typeface="Tahoma"/>
                <a:sym typeface="Tahoma"/>
              </a:rPr>
              <a:t>      ('microwave', 20),</a:t>
            </a:r>
            <a:endParaRPr sz="1100">
              <a:latin typeface="Tahoma"/>
              <a:ea typeface="Tahoma"/>
              <a:cs typeface="Tahoma"/>
              <a:sym typeface="Tahoma"/>
            </a:endParaRPr>
          </a:p>
          <a:p>
            <a:pPr marL="0" lvl="0" indent="0" algn="l" rtl="0">
              <a:lnSpc>
                <a:spcPct val="90000"/>
              </a:lnSpc>
              <a:spcBef>
                <a:spcPts val="800"/>
              </a:spcBef>
              <a:spcAft>
                <a:spcPts val="0"/>
              </a:spcAft>
              <a:buNone/>
            </a:pPr>
            <a:r>
              <a:rPr lang="vi" sz="1100">
                <a:latin typeface="Tahoma"/>
                <a:ea typeface="Tahoma"/>
                <a:cs typeface="Tahoma"/>
                <a:sym typeface="Tahoma"/>
              </a:rPr>
              <a:t>      ('dishwasher', 30),</a:t>
            </a:r>
            <a:endParaRPr sz="1100">
              <a:latin typeface="Tahoma"/>
              <a:ea typeface="Tahoma"/>
              <a:cs typeface="Tahoma"/>
              <a:sym typeface="Tahoma"/>
            </a:endParaRPr>
          </a:p>
          <a:p>
            <a:pPr marL="0" lvl="0" indent="0" algn="l" rtl="0">
              <a:lnSpc>
                <a:spcPct val="90000"/>
              </a:lnSpc>
              <a:spcBef>
                <a:spcPts val="800"/>
              </a:spcBef>
              <a:spcAft>
                <a:spcPts val="0"/>
              </a:spcAft>
              <a:buNone/>
            </a:pPr>
            <a:r>
              <a:rPr lang="vi" sz="1100">
                <a:latin typeface="Tahoma"/>
                <a:ea typeface="Tahoma"/>
                <a:cs typeface="Tahoma"/>
                <a:sym typeface="Tahoma"/>
              </a:rPr>
              <a:t>      ('oven', 5);</a:t>
            </a:r>
            <a:endParaRPr sz="1100">
              <a:latin typeface="Tahoma"/>
              <a:ea typeface="Tahoma"/>
              <a:cs typeface="Tahoma"/>
              <a:sym typeface="Tahoma"/>
            </a:endParaRPr>
          </a:p>
        </p:txBody>
      </p:sp>
      <p:pic>
        <p:nvPicPr>
          <p:cNvPr id="200" name="Google Shape;200;p34"/>
          <p:cNvPicPr preferRelativeResize="0"/>
          <p:nvPr/>
        </p:nvPicPr>
        <p:blipFill>
          <a:blip r:embed="rId4">
            <a:alphaModFix/>
          </a:blip>
          <a:stretch>
            <a:fillRect/>
          </a:stretch>
        </p:blipFill>
        <p:spPr>
          <a:xfrm>
            <a:off x="5163838" y="3252750"/>
            <a:ext cx="3634129" cy="1704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5"/>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INSERT statement</a:t>
            </a:r>
            <a:endParaRPr/>
          </a:p>
        </p:txBody>
      </p:sp>
      <p:sp>
        <p:nvSpPr>
          <p:cNvPr id="206" name="Google Shape;206;p35"/>
          <p:cNvSpPr txBox="1"/>
          <p:nvPr/>
        </p:nvSpPr>
        <p:spPr>
          <a:xfrm>
            <a:off x="381000" y="838200"/>
            <a:ext cx="4122300" cy="1132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vi" sz="1100">
                <a:latin typeface="Roboto"/>
                <a:ea typeface="Roboto"/>
                <a:cs typeface="Roboto"/>
                <a:sym typeface="Roboto"/>
              </a:rPr>
              <a:t>INSERT dataset.Warehouse (warehouse, state)</a:t>
            </a:r>
            <a:endParaRPr sz="1100">
              <a:latin typeface="Roboto"/>
              <a:ea typeface="Roboto"/>
              <a:cs typeface="Roboto"/>
              <a:sym typeface="Roboto"/>
            </a:endParaRPr>
          </a:p>
          <a:p>
            <a:pPr marL="0" lvl="0" indent="0" algn="l" rtl="0">
              <a:lnSpc>
                <a:spcPct val="115000"/>
              </a:lnSpc>
              <a:spcBef>
                <a:spcPts val="0"/>
              </a:spcBef>
              <a:spcAft>
                <a:spcPts val="0"/>
              </a:spcAft>
              <a:buNone/>
            </a:pPr>
            <a:r>
              <a:rPr lang="vi" sz="1100">
                <a:latin typeface="Roboto"/>
                <a:ea typeface="Roboto"/>
                <a:cs typeface="Roboto"/>
                <a:sym typeface="Roboto"/>
              </a:rPr>
              <a:t>SELECT *</a:t>
            </a:r>
            <a:endParaRPr sz="1100">
              <a:latin typeface="Roboto"/>
              <a:ea typeface="Roboto"/>
              <a:cs typeface="Roboto"/>
              <a:sym typeface="Roboto"/>
            </a:endParaRPr>
          </a:p>
          <a:p>
            <a:pPr marL="0" lvl="0" indent="0" algn="l" rtl="0">
              <a:lnSpc>
                <a:spcPct val="115000"/>
              </a:lnSpc>
              <a:spcBef>
                <a:spcPts val="0"/>
              </a:spcBef>
              <a:spcAft>
                <a:spcPts val="0"/>
              </a:spcAft>
              <a:buNone/>
            </a:pPr>
            <a:r>
              <a:rPr lang="vi" sz="1100">
                <a:latin typeface="Roboto"/>
                <a:ea typeface="Roboto"/>
                <a:cs typeface="Roboto"/>
                <a:sym typeface="Roboto"/>
              </a:rPr>
              <a:t>FROM UNNEST([('warehouse #1', 'WA'),</a:t>
            </a:r>
            <a:endParaRPr sz="1100">
              <a:latin typeface="Roboto"/>
              <a:ea typeface="Roboto"/>
              <a:cs typeface="Roboto"/>
              <a:sym typeface="Roboto"/>
            </a:endParaRPr>
          </a:p>
          <a:p>
            <a:pPr marL="0" lvl="0" indent="0" algn="l" rtl="0">
              <a:lnSpc>
                <a:spcPct val="115000"/>
              </a:lnSpc>
              <a:spcBef>
                <a:spcPts val="0"/>
              </a:spcBef>
              <a:spcAft>
                <a:spcPts val="0"/>
              </a:spcAft>
              <a:buNone/>
            </a:pPr>
            <a:r>
              <a:rPr lang="vi" sz="1100">
                <a:latin typeface="Roboto"/>
                <a:ea typeface="Roboto"/>
                <a:cs typeface="Roboto"/>
                <a:sym typeface="Roboto"/>
              </a:rPr>
              <a:t>      ('warehouse #2', 'CA'),</a:t>
            </a:r>
            <a:endParaRPr sz="1100">
              <a:latin typeface="Roboto"/>
              <a:ea typeface="Roboto"/>
              <a:cs typeface="Roboto"/>
              <a:sym typeface="Roboto"/>
            </a:endParaRPr>
          </a:p>
          <a:p>
            <a:pPr marL="0" lvl="0" indent="0" algn="l" rtl="0">
              <a:lnSpc>
                <a:spcPct val="115000"/>
              </a:lnSpc>
              <a:spcBef>
                <a:spcPts val="0"/>
              </a:spcBef>
              <a:spcAft>
                <a:spcPts val="0"/>
              </a:spcAft>
              <a:buNone/>
            </a:pPr>
            <a:r>
              <a:rPr lang="vi" sz="1100">
                <a:latin typeface="Roboto"/>
                <a:ea typeface="Roboto"/>
                <a:cs typeface="Roboto"/>
                <a:sym typeface="Roboto"/>
              </a:rPr>
              <a:t>      ('warehouse #3', 'WA')])</a:t>
            </a:r>
            <a:endParaRPr sz="1100">
              <a:latin typeface="Roboto"/>
              <a:ea typeface="Roboto"/>
              <a:cs typeface="Roboto"/>
              <a:sym typeface="Roboto"/>
            </a:endParaRPr>
          </a:p>
        </p:txBody>
      </p:sp>
      <p:pic>
        <p:nvPicPr>
          <p:cNvPr id="207" name="Google Shape;207;p35"/>
          <p:cNvPicPr preferRelativeResize="0"/>
          <p:nvPr/>
        </p:nvPicPr>
        <p:blipFill>
          <a:blip r:embed="rId3">
            <a:alphaModFix/>
          </a:blip>
          <a:stretch>
            <a:fillRect/>
          </a:stretch>
        </p:blipFill>
        <p:spPr>
          <a:xfrm>
            <a:off x="381000" y="2431625"/>
            <a:ext cx="2960147" cy="2495550"/>
          </a:xfrm>
          <a:prstGeom prst="rect">
            <a:avLst/>
          </a:prstGeom>
          <a:noFill/>
          <a:ln>
            <a:noFill/>
          </a:ln>
        </p:spPr>
      </p:pic>
      <p:sp>
        <p:nvSpPr>
          <p:cNvPr id="208" name="Google Shape;208;p35"/>
          <p:cNvSpPr txBox="1"/>
          <p:nvPr/>
        </p:nvSpPr>
        <p:spPr>
          <a:xfrm>
            <a:off x="4663425" y="983000"/>
            <a:ext cx="4122300" cy="743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vi" sz="1100">
                <a:latin typeface="Roboto"/>
                <a:ea typeface="Roboto"/>
                <a:cs typeface="Roboto"/>
                <a:sym typeface="Roboto"/>
              </a:rPr>
              <a:t>INSERT dataset.Warehouse VALUES</a:t>
            </a:r>
            <a:endParaRPr sz="1100">
              <a:latin typeface="Roboto"/>
              <a:ea typeface="Roboto"/>
              <a:cs typeface="Roboto"/>
              <a:sym typeface="Roboto"/>
            </a:endParaRPr>
          </a:p>
          <a:p>
            <a:pPr marL="0" lvl="0" indent="0" algn="l" rtl="0">
              <a:lnSpc>
                <a:spcPct val="115000"/>
              </a:lnSpc>
              <a:spcBef>
                <a:spcPts val="0"/>
              </a:spcBef>
              <a:spcAft>
                <a:spcPts val="0"/>
              </a:spcAft>
              <a:buNone/>
            </a:pPr>
            <a:r>
              <a:rPr lang="vi" sz="1100">
                <a:latin typeface="Roboto"/>
                <a:ea typeface="Roboto"/>
                <a:cs typeface="Roboto"/>
                <a:sym typeface="Roboto"/>
              </a:rPr>
              <a:t>('warehouse #4', 'WA'), ('warehouse #5', 'NY')</a:t>
            </a:r>
            <a:endParaRPr sz="1100">
              <a:latin typeface="Roboto"/>
              <a:ea typeface="Roboto"/>
              <a:cs typeface="Roboto"/>
              <a:sym typeface="Roboto"/>
            </a:endParaRPr>
          </a:p>
          <a:p>
            <a:pPr marL="0" lvl="0" indent="0" algn="l" rtl="0">
              <a:lnSpc>
                <a:spcPct val="115000"/>
              </a:lnSpc>
              <a:spcBef>
                <a:spcPts val="0"/>
              </a:spcBef>
              <a:spcAft>
                <a:spcPts val="0"/>
              </a:spcAft>
              <a:buNone/>
            </a:pPr>
            <a:endParaRPr sz="1100">
              <a:latin typeface="Roboto"/>
              <a:ea typeface="Roboto"/>
              <a:cs typeface="Roboto"/>
              <a:sym typeface="Roboto"/>
            </a:endParaRPr>
          </a:p>
        </p:txBody>
      </p:sp>
      <p:pic>
        <p:nvPicPr>
          <p:cNvPr id="209" name="Google Shape;209;p35"/>
          <p:cNvPicPr preferRelativeResize="0"/>
          <p:nvPr/>
        </p:nvPicPr>
        <p:blipFill>
          <a:blip r:embed="rId4">
            <a:alphaModFix/>
          </a:blip>
          <a:stretch>
            <a:fillRect/>
          </a:stretch>
        </p:blipFill>
        <p:spPr>
          <a:xfrm>
            <a:off x="5124225" y="2431625"/>
            <a:ext cx="2450050" cy="24500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DELETE statement</a:t>
            </a:r>
            <a:endParaRPr/>
          </a:p>
        </p:txBody>
      </p:sp>
      <p:sp>
        <p:nvSpPr>
          <p:cNvPr id="215" name="Google Shape;215;p36"/>
          <p:cNvSpPr txBox="1"/>
          <p:nvPr/>
        </p:nvSpPr>
        <p:spPr>
          <a:xfrm>
            <a:off x="312425" y="830575"/>
            <a:ext cx="8763000" cy="354000"/>
          </a:xfrm>
          <a:prstGeom prst="rect">
            <a:avLst/>
          </a:prstGeom>
          <a:noFill/>
          <a:ln>
            <a:noFill/>
          </a:ln>
        </p:spPr>
        <p:txBody>
          <a:bodyPr spcFirstLastPara="1" wrap="square" lIns="91425" tIns="91425" rIns="91425" bIns="91425" anchor="t" anchorCtr="0">
            <a:spAutoFit/>
          </a:bodyPr>
          <a:lstStyle/>
          <a:p>
            <a:pPr marL="457200" lvl="0" indent="0" algn="l" rtl="0">
              <a:lnSpc>
                <a:spcPct val="90000"/>
              </a:lnSpc>
              <a:spcBef>
                <a:spcPts val="800"/>
              </a:spcBef>
              <a:spcAft>
                <a:spcPts val="0"/>
              </a:spcAft>
              <a:buNone/>
            </a:pPr>
            <a:endParaRPr sz="1100">
              <a:latin typeface="Roboto"/>
              <a:ea typeface="Roboto"/>
              <a:cs typeface="Roboto"/>
              <a:sym typeface="Roboto"/>
            </a:endParaRPr>
          </a:p>
        </p:txBody>
      </p:sp>
      <p:sp>
        <p:nvSpPr>
          <p:cNvPr id="216" name="Google Shape;216;p36"/>
          <p:cNvSpPr txBox="1"/>
          <p:nvPr/>
        </p:nvSpPr>
        <p:spPr>
          <a:xfrm>
            <a:off x="167650" y="830575"/>
            <a:ext cx="4533900" cy="1797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vi" sz="1800" b="1">
                <a:latin typeface="Tahoma"/>
                <a:ea typeface="Tahoma"/>
                <a:cs typeface="Tahoma"/>
                <a:sym typeface="Tahoma"/>
              </a:rPr>
              <a:t>Cú Pháp:</a:t>
            </a:r>
            <a:endParaRPr sz="1800" b="1">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DELETE [FROM] target_name [alias]</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WHERE condition</a:t>
            </a:r>
            <a:endParaRPr sz="1800">
              <a:latin typeface="Tahoma"/>
              <a:ea typeface="Tahoma"/>
              <a:cs typeface="Tahoma"/>
              <a:sym typeface="Tahoma"/>
            </a:endParaRPr>
          </a:p>
          <a:p>
            <a:pPr marL="0" lvl="0" indent="0" algn="l" rtl="0">
              <a:lnSpc>
                <a:spcPct val="115000"/>
              </a:lnSpc>
              <a:spcBef>
                <a:spcPts val="0"/>
              </a:spcBef>
              <a:spcAft>
                <a:spcPts val="0"/>
              </a:spcAft>
              <a:buNone/>
            </a:pPr>
            <a:endParaRPr sz="1800">
              <a:latin typeface="Tahoma"/>
              <a:ea typeface="Tahoma"/>
              <a:cs typeface="Tahoma"/>
              <a:sym typeface="Tahoma"/>
            </a:endParaRPr>
          </a:p>
          <a:p>
            <a:pPr marL="0" lvl="0" indent="0" algn="l" rtl="0">
              <a:lnSpc>
                <a:spcPct val="90000"/>
              </a:lnSpc>
              <a:spcBef>
                <a:spcPts val="800"/>
              </a:spcBef>
              <a:spcAft>
                <a:spcPts val="0"/>
              </a:spcAft>
              <a:buNone/>
            </a:pPr>
            <a:endParaRPr sz="1800">
              <a:latin typeface="Tahoma"/>
              <a:ea typeface="Tahoma"/>
              <a:cs typeface="Tahoma"/>
              <a:sym typeface="Tahoma"/>
            </a:endParaRPr>
          </a:p>
        </p:txBody>
      </p:sp>
      <p:sp>
        <p:nvSpPr>
          <p:cNvPr id="217" name="Google Shape;217;p36"/>
          <p:cNvSpPr txBox="1"/>
          <p:nvPr/>
        </p:nvSpPr>
        <p:spPr>
          <a:xfrm>
            <a:off x="259075" y="2011675"/>
            <a:ext cx="8763000" cy="122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vi" sz="1800" b="1">
                <a:latin typeface="Tahoma"/>
                <a:ea typeface="Tahoma"/>
                <a:cs typeface="Tahoma"/>
                <a:sym typeface="Tahoma"/>
              </a:rPr>
              <a:t>Ví dụ: </a:t>
            </a:r>
            <a:endParaRPr sz="1800" b="1">
              <a:latin typeface="Tahoma"/>
              <a:ea typeface="Tahoma"/>
              <a:cs typeface="Tahoma"/>
              <a:sym typeface="Tahoma"/>
            </a:endParaRPr>
          </a:p>
          <a:p>
            <a:pPr marL="0" lvl="0" indent="0" algn="l" rtl="0">
              <a:lnSpc>
                <a:spcPct val="90000"/>
              </a:lnSpc>
              <a:spcBef>
                <a:spcPts val="800"/>
              </a:spcBef>
              <a:spcAft>
                <a:spcPts val="0"/>
              </a:spcAft>
              <a:buNone/>
            </a:pPr>
            <a:r>
              <a:rPr lang="vi" sz="1800">
                <a:latin typeface="Tahoma"/>
                <a:ea typeface="Tahoma"/>
                <a:cs typeface="Tahoma"/>
                <a:sym typeface="Tahoma"/>
              </a:rPr>
              <a:t>DELETE FROM dataset.Inventory WHERE true</a:t>
            </a:r>
            <a:endParaRPr sz="1800">
              <a:latin typeface="Tahoma"/>
              <a:ea typeface="Tahoma"/>
              <a:cs typeface="Tahoma"/>
              <a:sym typeface="Tahoma"/>
            </a:endParaRPr>
          </a:p>
          <a:p>
            <a:pPr marL="0" lvl="0" indent="0" algn="l" rtl="0">
              <a:lnSpc>
                <a:spcPct val="90000"/>
              </a:lnSpc>
              <a:spcBef>
                <a:spcPts val="800"/>
              </a:spcBef>
              <a:spcAft>
                <a:spcPts val="0"/>
              </a:spcAft>
              <a:buNone/>
            </a:pPr>
            <a:endParaRPr sz="1800">
              <a:latin typeface="Tahoma"/>
              <a:ea typeface="Tahoma"/>
              <a:cs typeface="Tahoma"/>
              <a:sym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7"/>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DELETE statement</a:t>
            </a:r>
            <a:endParaRPr/>
          </a:p>
        </p:txBody>
      </p:sp>
      <p:sp>
        <p:nvSpPr>
          <p:cNvPr id="223" name="Google Shape;223;p37"/>
          <p:cNvSpPr txBox="1"/>
          <p:nvPr/>
        </p:nvSpPr>
        <p:spPr>
          <a:xfrm>
            <a:off x="312425" y="830575"/>
            <a:ext cx="8763000" cy="354000"/>
          </a:xfrm>
          <a:prstGeom prst="rect">
            <a:avLst/>
          </a:prstGeom>
          <a:noFill/>
          <a:ln>
            <a:noFill/>
          </a:ln>
        </p:spPr>
        <p:txBody>
          <a:bodyPr spcFirstLastPara="1" wrap="square" lIns="91425" tIns="91425" rIns="91425" bIns="91425" anchor="t" anchorCtr="0">
            <a:spAutoFit/>
          </a:bodyPr>
          <a:lstStyle/>
          <a:p>
            <a:pPr marL="457200" lvl="0" indent="0" algn="l" rtl="0">
              <a:lnSpc>
                <a:spcPct val="90000"/>
              </a:lnSpc>
              <a:spcBef>
                <a:spcPts val="800"/>
              </a:spcBef>
              <a:spcAft>
                <a:spcPts val="0"/>
              </a:spcAft>
              <a:buNone/>
            </a:pPr>
            <a:endParaRPr sz="1100">
              <a:latin typeface="Roboto"/>
              <a:ea typeface="Roboto"/>
              <a:cs typeface="Roboto"/>
              <a:sym typeface="Roboto"/>
            </a:endParaRPr>
          </a:p>
        </p:txBody>
      </p:sp>
      <p:sp>
        <p:nvSpPr>
          <p:cNvPr id="224" name="Google Shape;224;p37"/>
          <p:cNvSpPr txBox="1"/>
          <p:nvPr/>
        </p:nvSpPr>
        <p:spPr>
          <a:xfrm>
            <a:off x="167650" y="830575"/>
            <a:ext cx="45339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vi" sz="1800">
                <a:latin typeface="Tahoma"/>
                <a:ea typeface="Tahoma"/>
                <a:cs typeface="Tahoma"/>
                <a:sym typeface="Tahoma"/>
              </a:rPr>
              <a:t>DELETE dataset.Inventory</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WHERE quantity = 0</a:t>
            </a:r>
            <a:endParaRPr sz="1800">
              <a:latin typeface="Tahoma"/>
              <a:ea typeface="Tahoma"/>
              <a:cs typeface="Tahoma"/>
              <a:sym typeface="Tahoma"/>
            </a:endParaRPr>
          </a:p>
        </p:txBody>
      </p:sp>
      <p:pic>
        <p:nvPicPr>
          <p:cNvPr id="225" name="Google Shape;225;p37"/>
          <p:cNvPicPr preferRelativeResize="0"/>
          <p:nvPr/>
        </p:nvPicPr>
        <p:blipFill>
          <a:blip r:embed="rId3">
            <a:alphaModFix/>
          </a:blip>
          <a:stretch>
            <a:fillRect/>
          </a:stretch>
        </p:blipFill>
        <p:spPr>
          <a:xfrm>
            <a:off x="167650" y="2007125"/>
            <a:ext cx="4391025" cy="2924175"/>
          </a:xfrm>
          <a:prstGeom prst="rect">
            <a:avLst/>
          </a:prstGeom>
          <a:noFill/>
          <a:ln>
            <a:noFill/>
          </a:ln>
        </p:spPr>
      </p:pic>
      <p:pic>
        <p:nvPicPr>
          <p:cNvPr id="226" name="Google Shape;226;p37"/>
          <p:cNvPicPr preferRelativeResize="0"/>
          <p:nvPr/>
        </p:nvPicPr>
        <p:blipFill>
          <a:blip r:embed="rId4">
            <a:alphaModFix/>
          </a:blip>
          <a:stretch>
            <a:fillRect/>
          </a:stretch>
        </p:blipFill>
        <p:spPr>
          <a:xfrm>
            <a:off x="4907275" y="2007125"/>
            <a:ext cx="4137651" cy="265862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8"/>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DELETE statement</a:t>
            </a:r>
            <a:endParaRPr/>
          </a:p>
        </p:txBody>
      </p:sp>
      <p:sp>
        <p:nvSpPr>
          <p:cNvPr id="232" name="Google Shape;232;p38"/>
          <p:cNvSpPr txBox="1"/>
          <p:nvPr/>
        </p:nvSpPr>
        <p:spPr>
          <a:xfrm>
            <a:off x="312425" y="830575"/>
            <a:ext cx="8763000" cy="354000"/>
          </a:xfrm>
          <a:prstGeom prst="rect">
            <a:avLst/>
          </a:prstGeom>
          <a:noFill/>
          <a:ln>
            <a:noFill/>
          </a:ln>
        </p:spPr>
        <p:txBody>
          <a:bodyPr spcFirstLastPara="1" wrap="square" lIns="91425" tIns="91425" rIns="91425" bIns="91425" anchor="t" anchorCtr="0">
            <a:spAutoFit/>
          </a:bodyPr>
          <a:lstStyle/>
          <a:p>
            <a:pPr marL="457200" lvl="0" indent="0" algn="l" rtl="0">
              <a:lnSpc>
                <a:spcPct val="90000"/>
              </a:lnSpc>
              <a:spcBef>
                <a:spcPts val="800"/>
              </a:spcBef>
              <a:spcAft>
                <a:spcPts val="0"/>
              </a:spcAft>
              <a:buNone/>
            </a:pPr>
            <a:endParaRPr sz="1100">
              <a:latin typeface="Roboto"/>
              <a:ea typeface="Roboto"/>
              <a:cs typeface="Roboto"/>
              <a:sym typeface="Roboto"/>
            </a:endParaRPr>
          </a:p>
        </p:txBody>
      </p:sp>
      <p:sp>
        <p:nvSpPr>
          <p:cNvPr id="233" name="Google Shape;233;p38"/>
          <p:cNvSpPr txBox="1"/>
          <p:nvPr/>
        </p:nvSpPr>
        <p:spPr>
          <a:xfrm>
            <a:off x="167650" y="830575"/>
            <a:ext cx="87630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vi" sz="1800">
                <a:latin typeface="Tahoma"/>
                <a:ea typeface="Tahoma"/>
                <a:cs typeface="Tahoma"/>
                <a:sym typeface="Tahoma"/>
              </a:rPr>
              <a:t>DELETE dataset.Inventory i</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WHERE i.product NOT IN (SELECT product from dataset.NewArrivals)</a:t>
            </a:r>
            <a:endParaRPr sz="1800">
              <a:latin typeface="Tahoma"/>
              <a:ea typeface="Tahoma"/>
              <a:cs typeface="Tahoma"/>
              <a:sym typeface="Tahoma"/>
            </a:endParaRPr>
          </a:p>
        </p:txBody>
      </p:sp>
      <p:pic>
        <p:nvPicPr>
          <p:cNvPr id="234" name="Google Shape;234;p38"/>
          <p:cNvPicPr preferRelativeResize="0"/>
          <p:nvPr/>
        </p:nvPicPr>
        <p:blipFill>
          <a:blip r:embed="rId3">
            <a:alphaModFix/>
          </a:blip>
          <a:stretch>
            <a:fillRect/>
          </a:stretch>
        </p:blipFill>
        <p:spPr>
          <a:xfrm>
            <a:off x="266700" y="1694700"/>
            <a:ext cx="3026086" cy="3227825"/>
          </a:xfrm>
          <a:prstGeom prst="rect">
            <a:avLst/>
          </a:prstGeom>
          <a:noFill/>
          <a:ln>
            <a:noFill/>
          </a:ln>
        </p:spPr>
      </p:pic>
      <p:pic>
        <p:nvPicPr>
          <p:cNvPr id="235" name="Google Shape;235;p38"/>
          <p:cNvPicPr preferRelativeResize="0"/>
          <p:nvPr/>
        </p:nvPicPr>
        <p:blipFill>
          <a:blip r:embed="rId4">
            <a:alphaModFix/>
          </a:blip>
          <a:stretch>
            <a:fillRect/>
          </a:stretch>
        </p:blipFill>
        <p:spPr>
          <a:xfrm>
            <a:off x="4655811" y="1961400"/>
            <a:ext cx="4324350" cy="23907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9"/>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UPDATE statement</a:t>
            </a:r>
            <a:endParaRPr/>
          </a:p>
        </p:txBody>
      </p:sp>
      <p:sp>
        <p:nvSpPr>
          <p:cNvPr id="241" name="Google Shape;241;p39"/>
          <p:cNvSpPr txBox="1"/>
          <p:nvPr/>
        </p:nvSpPr>
        <p:spPr>
          <a:xfrm>
            <a:off x="312425" y="830575"/>
            <a:ext cx="8763000" cy="354000"/>
          </a:xfrm>
          <a:prstGeom prst="rect">
            <a:avLst/>
          </a:prstGeom>
          <a:noFill/>
          <a:ln>
            <a:noFill/>
          </a:ln>
        </p:spPr>
        <p:txBody>
          <a:bodyPr spcFirstLastPara="1" wrap="square" lIns="91425" tIns="91425" rIns="91425" bIns="91425" anchor="t" anchorCtr="0">
            <a:spAutoFit/>
          </a:bodyPr>
          <a:lstStyle/>
          <a:p>
            <a:pPr marL="457200" lvl="0" indent="0" algn="l" rtl="0">
              <a:lnSpc>
                <a:spcPct val="90000"/>
              </a:lnSpc>
              <a:spcBef>
                <a:spcPts val="800"/>
              </a:spcBef>
              <a:spcAft>
                <a:spcPts val="0"/>
              </a:spcAft>
              <a:buNone/>
            </a:pPr>
            <a:endParaRPr sz="1100">
              <a:latin typeface="Roboto"/>
              <a:ea typeface="Roboto"/>
              <a:cs typeface="Roboto"/>
              <a:sym typeface="Roboto"/>
            </a:endParaRPr>
          </a:p>
        </p:txBody>
      </p:sp>
      <p:sp>
        <p:nvSpPr>
          <p:cNvPr id="242" name="Google Shape;242;p39"/>
          <p:cNvSpPr txBox="1"/>
          <p:nvPr/>
        </p:nvSpPr>
        <p:spPr>
          <a:xfrm>
            <a:off x="167650" y="830575"/>
            <a:ext cx="5440800" cy="4027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vi" sz="1800" b="1">
                <a:latin typeface="Tahoma"/>
                <a:ea typeface="Tahoma"/>
                <a:cs typeface="Tahoma"/>
                <a:sym typeface="Tahoma"/>
              </a:rPr>
              <a:t>Cú Pháp:</a:t>
            </a:r>
            <a:endParaRPr sz="1800" b="1">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UPDATE target_name [[AS] alias]</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SET set_clause</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[FROM from_clause]</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WHERE condition</a:t>
            </a:r>
            <a:endParaRPr sz="1800">
              <a:latin typeface="Tahoma"/>
              <a:ea typeface="Tahoma"/>
              <a:cs typeface="Tahoma"/>
              <a:sym typeface="Tahoma"/>
            </a:endParaRPr>
          </a:p>
          <a:p>
            <a:pPr marL="0" lvl="0" indent="0" algn="l" rtl="0">
              <a:lnSpc>
                <a:spcPct val="115000"/>
              </a:lnSpc>
              <a:spcBef>
                <a:spcPts val="0"/>
              </a:spcBef>
              <a:spcAft>
                <a:spcPts val="0"/>
              </a:spcAft>
              <a:buNone/>
            </a:pP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set_clause ::= update_item[, ...]</a:t>
            </a:r>
            <a:endParaRPr sz="1800">
              <a:latin typeface="Tahoma"/>
              <a:ea typeface="Tahoma"/>
              <a:cs typeface="Tahoma"/>
              <a:sym typeface="Tahoma"/>
            </a:endParaRPr>
          </a:p>
          <a:p>
            <a:pPr marL="0" lvl="0" indent="0" algn="l" rtl="0">
              <a:lnSpc>
                <a:spcPct val="115000"/>
              </a:lnSpc>
              <a:spcBef>
                <a:spcPts val="0"/>
              </a:spcBef>
              <a:spcAft>
                <a:spcPts val="0"/>
              </a:spcAft>
              <a:buNone/>
            </a:pP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update_item ::= column_name = expression</a:t>
            </a:r>
            <a:endParaRPr sz="1800">
              <a:latin typeface="Tahoma"/>
              <a:ea typeface="Tahoma"/>
              <a:cs typeface="Tahoma"/>
              <a:sym typeface="Tahoma"/>
            </a:endParaRPr>
          </a:p>
          <a:p>
            <a:pPr marL="0" lvl="0" indent="0" algn="l" rtl="0">
              <a:lnSpc>
                <a:spcPct val="115000"/>
              </a:lnSpc>
              <a:spcBef>
                <a:spcPts val="0"/>
              </a:spcBef>
              <a:spcAft>
                <a:spcPts val="0"/>
              </a:spcAft>
              <a:buNone/>
            </a:pPr>
            <a:endParaRPr sz="1800">
              <a:latin typeface="Tahoma"/>
              <a:ea typeface="Tahoma"/>
              <a:cs typeface="Tahoma"/>
              <a:sym typeface="Tahoma"/>
            </a:endParaRPr>
          </a:p>
          <a:p>
            <a:pPr marL="0" lvl="0" indent="0" algn="l" rtl="0">
              <a:lnSpc>
                <a:spcPct val="115000"/>
              </a:lnSpc>
              <a:spcBef>
                <a:spcPts val="0"/>
              </a:spcBef>
              <a:spcAft>
                <a:spcPts val="0"/>
              </a:spcAft>
              <a:buNone/>
            </a:pPr>
            <a:endParaRPr sz="1800">
              <a:latin typeface="Tahoma"/>
              <a:ea typeface="Tahoma"/>
              <a:cs typeface="Tahoma"/>
              <a:sym typeface="Tahoma"/>
            </a:endParaRPr>
          </a:p>
          <a:p>
            <a:pPr marL="0" lvl="0" indent="0" algn="l" rtl="0">
              <a:lnSpc>
                <a:spcPct val="90000"/>
              </a:lnSpc>
              <a:spcBef>
                <a:spcPts val="800"/>
              </a:spcBef>
              <a:spcAft>
                <a:spcPts val="0"/>
              </a:spcAft>
              <a:buNone/>
            </a:pPr>
            <a:endParaRPr sz="1800">
              <a:latin typeface="Tahoma"/>
              <a:ea typeface="Tahoma"/>
              <a:cs typeface="Tahoma"/>
              <a:sym typeface="Tahoma"/>
            </a:endParaRPr>
          </a:p>
        </p:txBody>
      </p:sp>
      <p:sp>
        <p:nvSpPr>
          <p:cNvPr id="243" name="Google Shape;243;p39"/>
          <p:cNvSpPr txBox="1"/>
          <p:nvPr/>
        </p:nvSpPr>
        <p:spPr>
          <a:xfrm>
            <a:off x="5318700" y="883900"/>
            <a:ext cx="3825300" cy="1376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vi" sz="1800" b="1">
                <a:latin typeface="Tahoma"/>
                <a:ea typeface="Tahoma"/>
                <a:cs typeface="Tahoma"/>
                <a:sym typeface="Tahoma"/>
              </a:rPr>
              <a:t>Ví dụ:</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UPDATE dataset.Inventory</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SET quantity = quantity - 10</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WHERE product like '%washer%'</a:t>
            </a:r>
            <a:endParaRPr sz="1800">
              <a:latin typeface="Tahoma"/>
              <a:ea typeface="Tahoma"/>
              <a:cs typeface="Tahoma"/>
              <a:sym typeface="Tahom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0"/>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UPDATE statement</a:t>
            </a:r>
            <a:endParaRPr/>
          </a:p>
        </p:txBody>
      </p:sp>
      <p:sp>
        <p:nvSpPr>
          <p:cNvPr id="249" name="Google Shape;249;p40"/>
          <p:cNvSpPr txBox="1"/>
          <p:nvPr/>
        </p:nvSpPr>
        <p:spPr>
          <a:xfrm>
            <a:off x="312425" y="830575"/>
            <a:ext cx="8763000" cy="354000"/>
          </a:xfrm>
          <a:prstGeom prst="rect">
            <a:avLst/>
          </a:prstGeom>
          <a:noFill/>
          <a:ln>
            <a:noFill/>
          </a:ln>
        </p:spPr>
        <p:txBody>
          <a:bodyPr spcFirstLastPara="1" wrap="square" lIns="91425" tIns="91425" rIns="91425" bIns="91425" anchor="t" anchorCtr="0">
            <a:spAutoFit/>
          </a:bodyPr>
          <a:lstStyle/>
          <a:p>
            <a:pPr marL="457200" lvl="0" indent="0" algn="l" rtl="0">
              <a:lnSpc>
                <a:spcPct val="90000"/>
              </a:lnSpc>
              <a:spcBef>
                <a:spcPts val="800"/>
              </a:spcBef>
              <a:spcAft>
                <a:spcPts val="0"/>
              </a:spcAft>
              <a:buNone/>
            </a:pPr>
            <a:endParaRPr sz="1100">
              <a:latin typeface="Roboto"/>
              <a:ea typeface="Roboto"/>
              <a:cs typeface="Roboto"/>
              <a:sym typeface="Roboto"/>
            </a:endParaRPr>
          </a:p>
        </p:txBody>
      </p:sp>
      <p:sp>
        <p:nvSpPr>
          <p:cNvPr id="250" name="Google Shape;250;p40"/>
          <p:cNvSpPr txBox="1"/>
          <p:nvPr/>
        </p:nvSpPr>
        <p:spPr>
          <a:xfrm>
            <a:off x="453300" y="708625"/>
            <a:ext cx="8237400" cy="1376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vi" sz="1800" b="1">
                <a:latin typeface="Tahoma"/>
                <a:ea typeface="Tahoma"/>
                <a:cs typeface="Tahoma"/>
                <a:sym typeface="Tahoma"/>
              </a:rPr>
              <a:t>Ví dụ:</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UPDATE dataset.Inventory</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SET quantity = quantity - 10</a:t>
            </a:r>
            <a:endParaRPr sz="1800">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WHERE product like '%washer%'</a:t>
            </a:r>
            <a:endParaRPr sz="1800">
              <a:latin typeface="Tahoma"/>
              <a:ea typeface="Tahoma"/>
              <a:cs typeface="Tahoma"/>
              <a:sym typeface="Tahoma"/>
            </a:endParaRPr>
          </a:p>
        </p:txBody>
      </p:sp>
      <p:pic>
        <p:nvPicPr>
          <p:cNvPr id="251" name="Google Shape;251;p40"/>
          <p:cNvPicPr preferRelativeResize="0"/>
          <p:nvPr/>
        </p:nvPicPr>
        <p:blipFill>
          <a:blip r:embed="rId3">
            <a:alphaModFix/>
          </a:blip>
          <a:stretch>
            <a:fillRect/>
          </a:stretch>
        </p:blipFill>
        <p:spPr>
          <a:xfrm>
            <a:off x="381000" y="2214250"/>
            <a:ext cx="3776649" cy="2753975"/>
          </a:xfrm>
          <a:prstGeom prst="rect">
            <a:avLst/>
          </a:prstGeom>
          <a:noFill/>
          <a:ln>
            <a:noFill/>
          </a:ln>
        </p:spPr>
      </p:pic>
      <p:pic>
        <p:nvPicPr>
          <p:cNvPr id="252" name="Google Shape;252;p40"/>
          <p:cNvPicPr preferRelativeResize="0"/>
          <p:nvPr/>
        </p:nvPicPr>
        <p:blipFill>
          <a:blip r:embed="rId4">
            <a:alphaModFix/>
          </a:blip>
          <a:stretch>
            <a:fillRect/>
          </a:stretch>
        </p:blipFill>
        <p:spPr>
          <a:xfrm>
            <a:off x="4995849" y="2160925"/>
            <a:ext cx="3715422" cy="2753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1"/>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UPDATE statement</a:t>
            </a:r>
            <a:endParaRPr/>
          </a:p>
        </p:txBody>
      </p:sp>
      <p:sp>
        <p:nvSpPr>
          <p:cNvPr id="258" name="Google Shape;258;p41"/>
          <p:cNvSpPr txBox="1"/>
          <p:nvPr/>
        </p:nvSpPr>
        <p:spPr>
          <a:xfrm>
            <a:off x="312425" y="830575"/>
            <a:ext cx="8763000" cy="354000"/>
          </a:xfrm>
          <a:prstGeom prst="rect">
            <a:avLst/>
          </a:prstGeom>
          <a:noFill/>
          <a:ln>
            <a:noFill/>
          </a:ln>
        </p:spPr>
        <p:txBody>
          <a:bodyPr spcFirstLastPara="1" wrap="square" lIns="91425" tIns="91425" rIns="91425" bIns="91425" anchor="t" anchorCtr="0">
            <a:spAutoFit/>
          </a:bodyPr>
          <a:lstStyle/>
          <a:p>
            <a:pPr marL="457200" lvl="0" indent="0" algn="l" rtl="0">
              <a:lnSpc>
                <a:spcPct val="90000"/>
              </a:lnSpc>
              <a:spcBef>
                <a:spcPts val="800"/>
              </a:spcBef>
              <a:spcAft>
                <a:spcPts val="0"/>
              </a:spcAft>
              <a:buNone/>
            </a:pPr>
            <a:endParaRPr sz="1100">
              <a:latin typeface="Roboto"/>
              <a:ea typeface="Roboto"/>
              <a:cs typeface="Roboto"/>
              <a:sym typeface="Roboto"/>
            </a:endParaRPr>
          </a:p>
        </p:txBody>
      </p:sp>
      <p:sp>
        <p:nvSpPr>
          <p:cNvPr id="259" name="Google Shape;259;p41"/>
          <p:cNvSpPr txBox="1"/>
          <p:nvPr/>
        </p:nvSpPr>
        <p:spPr>
          <a:xfrm>
            <a:off x="453300" y="708625"/>
            <a:ext cx="8237400" cy="912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vi" sz="1500" b="1">
                <a:latin typeface="Tahoma"/>
                <a:ea typeface="Tahoma"/>
                <a:cs typeface="Tahoma"/>
                <a:sym typeface="Tahoma"/>
              </a:rPr>
              <a:t>Ví dụ:</a:t>
            </a:r>
            <a:r>
              <a:rPr lang="vi" sz="1500">
                <a:latin typeface="Tahoma"/>
                <a:ea typeface="Tahoma"/>
                <a:cs typeface="Tahoma"/>
                <a:sym typeface="Tahoma"/>
              </a:rPr>
              <a:t> </a:t>
            </a:r>
            <a:r>
              <a:rPr lang="vi" sz="1500" b="1">
                <a:latin typeface="Tahoma"/>
                <a:ea typeface="Tahoma"/>
                <a:cs typeface="Tahoma"/>
                <a:sym typeface="Tahoma"/>
              </a:rPr>
              <a:t>UPDATE </a:t>
            </a:r>
            <a:r>
              <a:rPr lang="vi" sz="1500">
                <a:latin typeface="Tahoma"/>
                <a:ea typeface="Tahoma"/>
                <a:cs typeface="Tahoma"/>
                <a:sym typeface="Tahoma"/>
              </a:rPr>
              <a:t>dataset.Inventory i</a:t>
            </a:r>
            <a:endParaRPr sz="1500">
              <a:latin typeface="Tahoma"/>
              <a:ea typeface="Tahoma"/>
              <a:cs typeface="Tahoma"/>
              <a:sym typeface="Tahoma"/>
            </a:endParaRPr>
          </a:p>
          <a:p>
            <a:pPr marL="0" lvl="0" indent="0" algn="l" rtl="0">
              <a:lnSpc>
                <a:spcPct val="115000"/>
              </a:lnSpc>
              <a:spcBef>
                <a:spcPts val="0"/>
              </a:spcBef>
              <a:spcAft>
                <a:spcPts val="0"/>
              </a:spcAft>
              <a:buNone/>
            </a:pPr>
            <a:r>
              <a:rPr lang="vi" sz="1500" b="1">
                <a:latin typeface="Tahoma"/>
                <a:ea typeface="Tahoma"/>
                <a:cs typeface="Tahoma"/>
                <a:sym typeface="Tahoma"/>
              </a:rPr>
              <a:t>           SET </a:t>
            </a:r>
            <a:r>
              <a:rPr lang="vi" sz="1500">
                <a:latin typeface="Tahoma"/>
                <a:ea typeface="Tahoma"/>
                <a:cs typeface="Tahoma"/>
                <a:sym typeface="Tahoma"/>
              </a:rPr>
              <a:t>quantity = i.quantity + n.quantity,   supply_constrained = false</a:t>
            </a:r>
            <a:endParaRPr sz="1500">
              <a:latin typeface="Tahoma"/>
              <a:ea typeface="Tahoma"/>
              <a:cs typeface="Tahoma"/>
              <a:sym typeface="Tahoma"/>
            </a:endParaRPr>
          </a:p>
          <a:p>
            <a:pPr marL="0" lvl="0" indent="0" algn="l" rtl="0">
              <a:lnSpc>
                <a:spcPct val="115000"/>
              </a:lnSpc>
              <a:spcBef>
                <a:spcPts val="0"/>
              </a:spcBef>
              <a:spcAft>
                <a:spcPts val="0"/>
              </a:spcAft>
              <a:buNone/>
            </a:pPr>
            <a:r>
              <a:rPr lang="vi" sz="1500" b="1">
                <a:latin typeface="Tahoma"/>
                <a:ea typeface="Tahoma"/>
                <a:cs typeface="Tahoma"/>
                <a:sym typeface="Tahoma"/>
              </a:rPr>
              <a:t>           FROM </a:t>
            </a:r>
            <a:r>
              <a:rPr lang="vi" sz="1500">
                <a:latin typeface="Tahoma"/>
                <a:ea typeface="Tahoma"/>
                <a:cs typeface="Tahoma"/>
                <a:sym typeface="Tahoma"/>
              </a:rPr>
              <a:t>dataset.NewArrivals n      </a:t>
            </a:r>
            <a:r>
              <a:rPr lang="vi" sz="1500" b="1">
                <a:latin typeface="Tahoma"/>
                <a:ea typeface="Tahoma"/>
                <a:cs typeface="Tahoma"/>
                <a:sym typeface="Tahoma"/>
              </a:rPr>
              <a:t>WHERE </a:t>
            </a:r>
            <a:r>
              <a:rPr lang="vi" sz="1500">
                <a:latin typeface="Tahoma"/>
                <a:ea typeface="Tahoma"/>
                <a:cs typeface="Tahoma"/>
                <a:sym typeface="Tahoma"/>
              </a:rPr>
              <a:t>i.product = n.product</a:t>
            </a:r>
            <a:endParaRPr sz="1500">
              <a:latin typeface="Tahoma"/>
              <a:ea typeface="Tahoma"/>
              <a:cs typeface="Tahoma"/>
              <a:sym typeface="Tahoma"/>
            </a:endParaRPr>
          </a:p>
        </p:txBody>
      </p:sp>
      <p:pic>
        <p:nvPicPr>
          <p:cNvPr id="260" name="Google Shape;260;p41"/>
          <p:cNvPicPr preferRelativeResize="0"/>
          <p:nvPr/>
        </p:nvPicPr>
        <p:blipFill>
          <a:blip r:embed="rId3">
            <a:alphaModFix/>
          </a:blip>
          <a:stretch>
            <a:fillRect/>
          </a:stretch>
        </p:blipFill>
        <p:spPr>
          <a:xfrm>
            <a:off x="453300" y="1509150"/>
            <a:ext cx="3448150" cy="3634349"/>
          </a:xfrm>
          <a:prstGeom prst="rect">
            <a:avLst/>
          </a:prstGeom>
          <a:noFill/>
          <a:ln>
            <a:noFill/>
          </a:ln>
        </p:spPr>
      </p:pic>
      <p:pic>
        <p:nvPicPr>
          <p:cNvPr id="261" name="Google Shape;261;p41"/>
          <p:cNvPicPr preferRelativeResize="0"/>
          <p:nvPr/>
        </p:nvPicPr>
        <p:blipFill>
          <a:blip r:embed="rId4">
            <a:alphaModFix/>
          </a:blip>
          <a:stretch>
            <a:fillRect/>
          </a:stretch>
        </p:blipFill>
        <p:spPr>
          <a:xfrm>
            <a:off x="4227200" y="1585350"/>
            <a:ext cx="4885125" cy="35886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2"/>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MERGE statement</a:t>
            </a:r>
            <a:endParaRPr/>
          </a:p>
        </p:txBody>
      </p:sp>
      <p:sp>
        <p:nvSpPr>
          <p:cNvPr id="267" name="Google Shape;267;p42"/>
          <p:cNvSpPr txBox="1"/>
          <p:nvPr/>
        </p:nvSpPr>
        <p:spPr>
          <a:xfrm>
            <a:off x="0" y="849000"/>
            <a:ext cx="5433000" cy="3801900"/>
          </a:xfrm>
          <a:prstGeom prst="rect">
            <a:avLst/>
          </a:prstGeom>
          <a:noFill/>
          <a:ln>
            <a:noFill/>
          </a:ln>
        </p:spPr>
        <p:txBody>
          <a:bodyPr spcFirstLastPara="1" wrap="square" lIns="91425" tIns="91425" rIns="91425" bIns="91425" anchor="t" anchorCtr="0">
            <a:spAutoFit/>
          </a:bodyPr>
          <a:lstStyle/>
          <a:p>
            <a:pPr marL="228600" lvl="0" indent="0" algn="l" rtl="0">
              <a:lnSpc>
                <a:spcPct val="90000"/>
              </a:lnSpc>
              <a:spcBef>
                <a:spcPts val="1200"/>
              </a:spcBef>
              <a:spcAft>
                <a:spcPts val="0"/>
              </a:spcAft>
              <a:buNone/>
            </a:pPr>
            <a:r>
              <a:rPr lang="vi" sz="1500">
                <a:latin typeface="Tahoma"/>
                <a:ea typeface="Tahoma"/>
                <a:cs typeface="Tahoma"/>
                <a:sym typeface="Tahoma"/>
              </a:rPr>
              <a:t>MERGE [Destination table] AS ds</a:t>
            </a:r>
            <a:endParaRPr sz="1500">
              <a:latin typeface="Tahoma"/>
              <a:ea typeface="Tahoma"/>
              <a:cs typeface="Tahoma"/>
              <a:sym typeface="Tahoma"/>
            </a:endParaRPr>
          </a:p>
          <a:p>
            <a:pPr marL="228600" lvl="0" indent="0" algn="l" rtl="0">
              <a:lnSpc>
                <a:spcPct val="90000"/>
              </a:lnSpc>
              <a:spcBef>
                <a:spcPts val="1200"/>
              </a:spcBef>
              <a:spcAft>
                <a:spcPts val="0"/>
              </a:spcAft>
              <a:buNone/>
            </a:pPr>
            <a:r>
              <a:rPr lang="vi" sz="1500">
                <a:latin typeface="Tahoma"/>
                <a:ea typeface="Tahoma"/>
                <a:cs typeface="Tahoma"/>
                <a:sym typeface="Tahoma"/>
              </a:rPr>
              <a:t>USING  [Source Table] AS st -- Include the columns Name</a:t>
            </a:r>
            <a:endParaRPr sz="1500">
              <a:latin typeface="Tahoma"/>
              <a:ea typeface="Tahoma"/>
              <a:cs typeface="Tahoma"/>
              <a:sym typeface="Tahoma"/>
            </a:endParaRPr>
          </a:p>
          <a:p>
            <a:pPr marL="228600" lvl="0" indent="0" algn="l" rtl="0">
              <a:lnSpc>
                <a:spcPct val="90000"/>
              </a:lnSpc>
              <a:spcBef>
                <a:spcPts val="1200"/>
              </a:spcBef>
              <a:spcAft>
                <a:spcPts val="0"/>
              </a:spcAft>
              <a:buNone/>
            </a:pPr>
            <a:r>
              <a:rPr lang="vi" sz="1500">
                <a:latin typeface="Tahoma"/>
                <a:ea typeface="Tahoma"/>
                <a:cs typeface="Tahoma"/>
                <a:sym typeface="Tahoma"/>
              </a:rPr>
              <a:t>ON ds.[Common column] = st.[Common Column]</a:t>
            </a:r>
            <a:endParaRPr sz="1500">
              <a:latin typeface="Tahoma"/>
              <a:ea typeface="Tahoma"/>
              <a:cs typeface="Tahoma"/>
              <a:sym typeface="Tahoma"/>
            </a:endParaRPr>
          </a:p>
          <a:p>
            <a:pPr marL="228600" lvl="0" indent="0" algn="l" rtl="0">
              <a:lnSpc>
                <a:spcPct val="90000"/>
              </a:lnSpc>
              <a:spcBef>
                <a:spcPts val="1200"/>
              </a:spcBef>
              <a:spcAft>
                <a:spcPts val="0"/>
              </a:spcAft>
              <a:buNone/>
            </a:pPr>
            <a:r>
              <a:rPr lang="vi" sz="1500">
                <a:latin typeface="Tahoma"/>
                <a:ea typeface="Tahoma"/>
                <a:cs typeface="Tahoma"/>
                <a:sym typeface="Tahoma"/>
              </a:rPr>
              <a:t>-- It's not about matching, You have to add the expressions</a:t>
            </a:r>
            <a:endParaRPr sz="1500">
              <a:latin typeface="Tahoma"/>
              <a:ea typeface="Tahoma"/>
              <a:cs typeface="Tahoma"/>
              <a:sym typeface="Tahoma"/>
            </a:endParaRPr>
          </a:p>
          <a:p>
            <a:pPr marL="228600" lvl="0" indent="0" algn="l" rtl="0">
              <a:lnSpc>
                <a:spcPct val="90000"/>
              </a:lnSpc>
              <a:spcBef>
                <a:spcPts val="1200"/>
              </a:spcBef>
              <a:spcAft>
                <a:spcPts val="0"/>
              </a:spcAft>
              <a:buNone/>
            </a:pPr>
            <a:r>
              <a:rPr lang="vi" sz="1500">
                <a:latin typeface="Tahoma"/>
                <a:ea typeface="Tahoma"/>
                <a:cs typeface="Tahoma"/>
                <a:sym typeface="Tahoma"/>
              </a:rPr>
              <a:t>WHEN MATCHED THEN INSERT | DELETE | UPDATE</a:t>
            </a:r>
            <a:endParaRPr sz="1500">
              <a:latin typeface="Tahoma"/>
              <a:ea typeface="Tahoma"/>
              <a:cs typeface="Tahoma"/>
              <a:sym typeface="Tahoma"/>
            </a:endParaRPr>
          </a:p>
          <a:p>
            <a:pPr marL="228600" lvl="0" indent="0" algn="l" rtl="0">
              <a:lnSpc>
                <a:spcPct val="90000"/>
              </a:lnSpc>
              <a:spcBef>
                <a:spcPts val="1200"/>
              </a:spcBef>
              <a:spcAft>
                <a:spcPts val="0"/>
              </a:spcAft>
              <a:buNone/>
            </a:pPr>
            <a:r>
              <a:rPr lang="vi" sz="1500">
                <a:latin typeface="Tahoma"/>
                <a:ea typeface="Tahoma"/>
                <a:cs typeface="Tahoma"/>
                <a:sym typeface="Tahoma"/>
              </a:rPr>
              <a:t>WHEN NOT MATCHED THEN INSERT | DELETE | UPDATE</a:t>
            </a:r>
            <a:endParaRPr sz="1500">
              <a:latin typeface="Tahoma"/>
              <a:ea typeface="Tahoma"/>
              <a:cs typeface="Tahoma"/>
              <a:sym typeface="Tahoma"/>
            </a:endParaRPr>
          </a:p>
          <a:p>
            <a:pPr marL="114300" lvl="0" indent="0" algn="l" rtl="0">
              <a:lnSpc>
                <a:spcPct val="90000"/>
              </a:lnSpc>
              <a:spcBef>
                <a:spcPts val="1200"/>
              </a:spcBef>
              <a:spcAft>
                <a:spcPts val="0"/>
              </a:spcAft>
              <a:buNone/>
            </a:pPr>
            <a:r>
              <a:rPr lang="vi" sz="1500" b="1"/>
              <a:t>Ví dụ: </a:t>
            </a:r>
            <a:r>
              <a:rPr lang="vi" sz="1500"/>
              <a:t>Nếu bạn có hai bảng dữ liệu bảng A và bảng B.</a:t>
            </a:r>
            <a:endParaRPr sz="1500"/>
          </a:p>
          <a:p>
            <a:pPr marL="114300" lvl="0" indent="0" algn="l" rtl="0">
              <a:lnSpc>
                <a:spcPct val="90000"/>
              </a:lnSpc>
              <a:spcBef>
                <a:spcPts val="1200"/>
              </a:spcBef>
              <a:spcAft>
                <a:spcPts val="0"/>
              </a:spcAft>
              <a:buNone/>
            </a:pPr>
            <a:r>
              <a:rPr lang="vi" sz="1500"/>
              <a:t>Công việc cần làm  là copy dữ liệu từ bảng A sang bảng B, nếu bảng </a:t>
            </a:r>
            <a:r>
              <a:rPr lang="vi" sz="1500">
                <a:latin typeface="Calibri"/>
                <a:ea typeface="Calibri"/>
                <a:cs typeface="Calibri"/>
                <a:sym typeface="Calibri"/>
              </a:rPr>
              <a:t>B</a:t>
            </a:r>
            <a:r>
              <a:rPr lang="vi" sz="1500"/>
              <a:t> có tồn tại dữ liệu của bảng </a:t>
            </a:r>
            <a:r>
              <a:rPr lang="vi" sz="1500">
                <a:latin typeface="Calibri"/>
                <a:ea typeface="Calibri"/>
                <a:cs typeface="Calibri"/>
                <a:sym typeface="Calibri"/>
              </a:rPr>
              <a:t>A</a:t>
            </a:r>
            <a:r>
              <a:rPr lang="vi" sz="1500"/>
              <a:t> thì update, còn nếu chưa có thì sử dụng lệnh insert.</a:t>
            </a:r>
            <a:endParaRPr sz="1500"/>
          </a:p>
        </p:txBody>
      </p:sp>
      <p:pic>
        <p:nvPicPr>
          <p:cNvPr id="268" name="Google Shape;268;p42"/>
          <p:cNvPicPr preferRelativeResize="0"/>
          <p:nvPr/>
        </p:nvPicPr>
        <p:blipFill>
          <a:blip r:embed="rId3">
            <a:alphaModFix/>
          </a:blip>
          <a:stretch>
            <a:fillRect/>
          </a:stretch>
        </p:blipFill>
        <p:spPr>
          <a:xfrm>
            <a:off x="5303500" y="849000"/>
            <a:ext cx="3855501" cy="29381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3"/>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MERGE statement</a:t>
            </a:r>
            <a:endParaRPr/>
          </a:p>
        </p:txBody>
      </p:sp>
      <p:sp>
        <p:nvSpPr>
          <p:cNvPr id="274" name="Google Shape;274;p43"/>
          <p:cNvSpPr txBox="1"/>
          <p:nvPr/>
        </p:nvSpPr>
        <p:spPr>
          <a:xfrm>
            <a:off x="0" y="704200"/>
            <a:ext cx="5433000" cy="176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vi" sz="1300">
                <a:latin typeface="Tahoma"/>
                <a:ea typeface="Tahoma"/>
                <a:cs typeface="Tahoma"/>
                <a:sym typeface="Tahoma"/>
              </a:rPr>
              <a:t>MERGE dataset.Inventory T</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USING dataset.NewArrivals S</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ON T.product = S.product</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WHEN MATCHED THEN</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  UPDATE SET quantity = T.quantity + S.quantity</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WHEN </a:t>
            </a:r>
            <a:r>
              <a:rPr lang="vi" sz="1300">
                <a:solidFill>
                  <a:srgbClr val="FF0000"/>
                </a:solidFill>
                <a:latin typeface="Tahoma"/>
                <a:ea typeface="Tahoma"/>
                <a:cs typeface="Tahoma"/>
                <a:sym typeface="Tahoma"/>
              </a:rPr>
              <a:t>NOT</a:t>
            </a:r>
            <a:r>
              <a:rPr lang="vi" sz="1300">
                <a:latin typeface="Tahoma"/>
                <a:ea typeface="Tahoma"/>
                <a:cs typeface="Tahoma"/>
                <a:sym typeface="Tahoma"/>
              </a:rPr>
              <a:t> MATCHED THEN</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  INSERT (product, quantity) VALUES(product, quantity)</a:t>
            </a:r>
            <a:endParaRPr sz="1300">
              <a:latin typeface="Tahoma"/>
              <a:ea typeface="Tahoma"/>
              <a:cs typeface="Tahoma"/>
              <a:sym typeface="Tahoma"/>
            </a:endParaRPr>
          </a:p>
        </p:txBody>
      </p:sp>
      <p:pic>
        <p:nvPicPr>
          <p:cNvPr id="275" name="Google Shape;275;p43"/>
          <p:cNvPicPr preferRelativeResize="0"/>
          <p:nvPr/>
        </p:nvPicPr>
        <p:blipFill>
          <a:blip r:embed="rId3">
            <a:alphaModFix/>
          </a:blip>
          <a:stretch>
            <a:fillRect/>
          </a:stretch>
        </p:blipFill>
        <p:spPr>
          <a:xfrm>
            <a:off x="5585400" y="771450"/>
            <a:ext cx="3187270" cy="4219650"/>
          </a:xfrm>
          <a:prstGeom prst="rect">
            <a:avLst/>
          </a:prstGeom>
          <a:noFill/>
          <a:ln>
            <a:noFill/>
          </a:ln>
        </p:spPr>
      </p:pic>
      <p:pic>
        <p:nvPicPr>
          <p:cNvPr id="276" name="Google Shape;276;p43"/>
          <p:cNvPicPr preferRelativeResize="0"/>
          <p:nvPr/>
        </p:nvPicPr>
        <p:blipFill>
          <a:blip r:embed="rId4">
            <a:alphaModFix/>
          </a:blip>
          <a:stretch>
            <a:fillRect/>
          </a:stretch>
        </p:blipFill>
        <p:spPr>
          <a:xfrm>
            <a:off x="502925" y="2554850"/>
            <a:ext cx="2579578" cy="2369000"/>
          </a:xfrm>
          <a:prstGeom prst="rect">
            <a:avLst/>
          </a:prstGeom>
          <a:noFill/>
          <a:ln>
            <a:noFill/>
          </a:ln>
        </p:spPr>
      </p:pic>
      <p:sp>
        <p:nvSpPr>
          <p:cNvPr id="277" name="Google Shape;277;p43"/>
          <p:cNvSpPr/>
          <p:nvPr/>
        </p:nvSpPr>
        <p:spPr>
          <a:xfrm>
            <a:off x="3865350" y="3131825"/>
            <a:ext cx="937200" cy="571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4"/>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MERGE statement</a:t>
            </a:r>
            <a:endParaRPr/>
          </a:p>
        </p:txBody>
      </p:sp>
      <p:sp>
        <p:nvSpPr>
          <p:cNvPr id="283" name="Google Shape;283;p44"/>
          <p:cNvSpPr txBox="1"/>
          <p:nvPr/>
        </p:nvSpPr>
        <p:spPr>
          <a:xfrm>
            <a:off x="0" y="704200"/>
            <a:ext cx="8153400" cy="199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vi" sz="1300">
                <a:latin typeface="Tahoma"/>
                <a:ea typeface="Tahoma"/>
                <a:cs typeface="Tahoma"/>
                <a:sym typeface="Tahoma"/>
              </a:rPr>
              <a:t>MERGE dataset.NewArrivals T</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USING (SELECT * FROM dataset.NewArrivals WHERE warehouse &lt;&gt; 'warehouse #2') S</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ON T.product = S.product</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WHEN MATCHED AND T.warehouse = 'warehouse #1' THEN</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  UPDATE SET quantity = T.quantity + 20</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WHEN MATCHED THEN</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  </a:t>
            </a:r>
            <a:r>
              <a:rPr lang="vi" sz="1300" b="1">
                <a:latin typeface="Tahoma"/>
                <a:ea typeface="Tahoma"/>
                <a:cs typeface="Tahoma"/>
                <a:sym typeface="Tahoma"/>
              </a:rPr>
              <a:t>DELETE</a:t>
            </a:r>
            <a:endParaRPr sz="1300" b="1">
              <a:latin typeface="Tahoma"/>
              <a:ea typeface="Tahoma"/>
              <a:cs typeface="Tahoma"/>
              <a:sym typeface="Tahoma"/>
            </a:endParaRPr>
          </a:p>
          <a:p>
            <a:pPr marL="0" lvl="0" indent="0" algn="l" rtl="0">
              <a:lnSpc>
                <a:spcPct val="115000"/>
              </a:lnSpc>
              <a:spcBef>
                <a:spcPts val="0"/>
              </a:spcBef>
              <a:spcAft>
                <a:spcPts val="0"/>
              </a:spcAft>
              <a:buNone/>
            </a:pPr>
            <a:endParaRPr sz="1300">
              <a:latin typeface="Tahoma"/>
              <a:ea typeface="Tahoma"/>
              <a:cs typeface="Tahoma"/>
              <a:sym typeface="Tahoma"/>
            </a:endParaRPr>
          </a:p>
        </p:txBody>
      </p:sp>
      <p:sp>
        <p:nvSpPr>
          <p:cNvPr id="284" name="Google Shape;284;p44"/>
          <p:cNvSpPr/>
          <p:nvPr/>
        </p:nvSpPr>
        <p:spPr>
          <a:xfrm rot="10800000">
            <a:off x="4042956" y="3444328"/>
            <a:ext cx="937200" cy="571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5" name="Google Shape;285;p44"/>
          <p:cNvPicPr preferRelativeResize="0"/>
          <p:nvPr/>
        </p:nvPicPr>
        <p:blipFill>
          <a:blip r:embed="rId3">
            <a:alphaModFix/>
          </a:blip>
          <a:stretch>
            <a:fillRect/>
          </a:stretch>
        </p:blipFill>
        <p:spPr>
          <a:xfrm>
            <a:off x="182900" y="2929900"/>
            <a:ext cx="3276910" cy="1908800"/>
          </a:xfrm>
          <a:prstGeom prst="rect">
            <a:avLst/>
          </a:prstGeom>
          <a:noFill/>
          <a:ln>
            <a:noFill/>
          </a:ln>
        </p:spPr>
      </p:pic>
      <p:pic>
        <p:nvPicPr>
          <p:cNvPr id="286" name="Google Shape;286;p44"/>
          <p:cNvPicPr preferRelativeResize="0"/>
          <p:nvPr/>
        </p:nvPicPr>
        <p:blipFill>
          <a:blip r:embed="rId4">
            <a:alphaModFix/>
          </a:blip>
          <a:stretch>
            <a:fillRect/>
          </a:stretch>
        </p:blipFill>
        <p:spPr>
          <a:xfrm>
            <a:off x="5433000" y="2866950"/>
            <a:ext cx="3406200" cy="182131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5"/>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MERGE statement</a:t>
            </a:r>
            <a:endParaRPr/>
          </a:p>
        </p:txBody>
      </p:sp>
      <p:sp>
        <p:nvSpPr>
          <p:cNvPr id="292" name="Google Shape;292;p45"/>
          <p:cNvSpPr txBox="1"/>
          <p:nvPr/>
        </p:nvSpPr>
        <p:spPr>
          <a:xfrm>
            <a:off x="220975" y="742300"/>
            <a:ext cx="5433000" cy="1535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vi" sz="1300">
                <a:latin typeface="Tahoma"/>
                <a:ea typeface="Tahoma"/>
                <a:cs typeface="Tahoma"/>
                <a:sym typeface="Tahoma"/>
              </a:rPr>
              <a:t>MERGE dataset.Inventory T</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USING dataset.NewArrivals S</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ON T.product = S.product</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WHEN MATCHED THEN</a:t>
            </a:r>
            <a:endParaRPr sz="1300">
              <a:latin typeface="Tahoma"/>
              <a:ea typeface="Tahoma"/>
              <a:cs typeface="Tahoma"/>
              <a:sym typeface="Tahoma"/>
            </a:endParaRPr>
          </a:p>
          <a:p>
            <a:pPr marL="0" lvl="0" indent="0" algn="l" rtl="0">
              <a:lnSpc>
                <a:spcPct val="115000"/>
              </a:lnSpc>
              <a:spcBef>
                <a:spcPts val="0"/>
              </a:spcBef>
              <a:spcAft>
                <a:spcPts val="0"/>
              </a:spcAft>
              <a:buNone/>
            </a:pPr>
            <a:r>
              <a:rPr lang="vi" sz="1300">
                <a:latin typeface="Tahoma"/>
                <a:ea typeface="Tahoma"/>
                <a:cs typeface="Tahoma"/>
                <a:sym typeface="Tahoma"/>
              </a:rPr>
              <a:t>  UPDATE SET quantity = T.quantity + S.quantity</a:t>
            </a:r>
            <a:endParaRPr sz="1300">
              <a:latin typeface="Tahoma"/>
              <a:ea typeface="Tahoma"/>
              <a:cs typeface="Tahoma"/>
              <a:sym typeface="Tahoma"/>
            </a:endParaRPr>
          </a:p>
          <a:p>
            <a:pPr marL="0" lvl="0" indent="0" algn="l" rtl="0">
              <a:lnSpc>
                <a:spcPct val="115000"/>
              </a:lnSpc>
              <a:spcBef>
                <a:spcPts val="0"/>
              </a:spcBef>
              <a:spcAft>
                <a:spcPts val="0"/>
              </a:spcAft>
              <a:buNone/>
            </a:pPr>
            <a:endParaRPr sz="1300">
              <a:latin typeface="Tahoma"/>
              <a:ea typeface="Tahoma"/>
              <a:cs typeface="Tahoma"/>
              <a:sym typeface="Tahoma"/>
            </a:endParaRPr>
          </a:p>
        </p:txBody>
      </p:sp>
      <p:pic>
        <p:nvPicPr>
          <p:cNvPr id="293" name="Google Shape;293;p45"/>
          <p:cNvPicPr preferRelativeResize="0"/>
          <p:nvPr/>
        </p:nvPicPr>
        <p:blipFill>
          <a:blip r:embed="rId3">
            <a:alphaModFix/>
          </a:blip>
          <a:stretch>
            <a:fillRect/>
          </a:stretch>
        </p:blipFill>
        <p:spPr>
          <a:xfrm>
            <a:off x="5570150" y="916225"/>
            <a:ext cx="3406200" cy="4092653"/>
          </a:xfrm>
          <a:prstGeom prst="rect">
            <a:avLst/>
          </a:prstGeom>
          <a:noFill/>
          <a:ln>
            <a:noFill/>
          </a:ln>
        </p:spPr>
      </p:pic>
      <p:pic>
        <p:nvPicPr>
          <p:cNvPr id="294" name="Google Shape;294;p45"/>
          <p:cNvPicPr preferRelativeResize="0"/>
          <p:nvPr/>
        </p:nvPicPr>
        <p:blipFill>
          <a:blip r:embed="rId4">
            <a:alphaModFix/>
          </a:blip>
          <a:stretch>
            <a:fillRect/>
          </a:stretch>
        </p:blipFill>
        <p:spPr>
          <a:xfrm>
            <a:off x="160025" y="2656100"/>
            <a:ext cx="4023350" cy="612900"/>
          </a:xfrm>
          <a:prstGeom prst="rect">
            <a:avLst/>
          </a:prstGeom>
          <a:noFill/>
          <a:ln>
            <a:noFill/>
          </a:ln>
        </p:spPr>
      </p:pic>
      <p:sp>
        <p:nvSpPr>
          <p:cNvPr id="295" name="Google Shape;295;p45"/>
          <p:cNvSpPr/>
          <p:nvPr/>
        </p:nvSpPr>
        <p:spPr>
          <a:xfrm>
            <a:off x="4457700" y="2676800"/>
            <a:ext cx="937200" cy="571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vi"/>
              <a:t>TRUNCATE TABLE statement</a:t>
            </a:r>
            <a:endParaRPr/>
          </a:p>
        </p:txBody>
      </p:sp>
      <p:sp>
        <p:nvSpPr>
          <p:cNvPr id="301" name="Google Shape;301;p46"/>
          <p:cNvSpPr txBox="1"/>
          <p:nvPr/>
        </p:nvSpPr>
        <p:spPr>
          <a:xfrm>
            <a:off x="312425" y="830575"/>
            <a:ext cx="8763000" cy="354000"/>
          </a:xfrm>
          <a:prstGeom prst="rect">
            <a:avLst/>
          </a:prstGeom>
          <a:noFill/>
          <a:ln>
            <a:noFill/>
          </a:ln>
        </p:spPr>
        <p:txBody>
          <a:bodyPr spcFirstLastPara="1" wrap="square" lIns="91425" tIns="91425" rIns="91425" bIns="91425" anchor="t" anchorCtr="0">
            <a:spAutoFit/>
          </a:bodyPr>
          <a:lstStyle/>
          <a:p>
            <a:pPr marL="457200" lvl="0" indent="0" algn="l" rtl="0">
              <a:lnSpc>
                <a:spcPct val="90000"/>
              </a:lnSpc>
              <a:spcBef>
                <a:spcPts val="800"/>
              </a:spcBef>
              <a:spcAft>
                <a:spcPts val="0"/>
              </a:spcAft>
              <a:buNone/>
            </a:pPr>
            <a:endParaRPr sz="1100">
              <a:latin typeface="Roboto"/>
              <a:ea typeface="Roboto"/>
              <a:cs typeface="Roboto"/>
              <a:sym typeface="Roboto"/>
            </a:endParaRPr>
          </a:p>
        </p:txBody>
      </p:sp>
      <p:sp>
        <p:nvSpPr>
          <p:cNvPr id="302" name="Google Shape;302;p46"/>
          <p:cNvSpPr txBox="1"/>
          <p:nvPr/>
        </p:nvSpPr>
        <p:spPr>
          <a:xfrm>
            <a:off x="38100" y="830575"/>
            <a:ext cx="4785300" cy="2115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vi" sz="1800" b="1">
                <a:latin typeface="Tahoma"/>
                <a:ea typeface="Tahoma"/>
                <a:cs typeface="Tahoma"/>
                <a:sym typeface="Tahoma"/>
              </a:rPr>
              <a:t>Cú Pháp:</a:t>
            </a:r>
            <a:endParaRPr sz="1800" b="1">
              <a:latin typeface="Tahoma"/>
              <a:ea typeface="Tahoma"/>
              <a:cs typeface="Tahoma"/>
              <a:sym typeface="Tahoma"/>
            </a:endParaRPr>
          </a:p>
          <a:p>
            <a:pPr marL="0" lvl="0" indent="0" algn="l" rtl="0">
              <a:lnSpc>
                <a:spcPct val="115000"/>
              </a:lnSpc>
              <a:spcBef>
                <a:spcPts val="0"/>
              </a:spcBef>
              <a:spcAft>
                <a:spcPts val="0"/>
              </a:spcAft>
              <a:buNone/>
            </a:pPr>
            <a:r>
              <a:rPr lang="vi" sz="1800">
                <a:latin typeface="Tahoma"/>
                <a:ea typeface="Tahoma"/>
                <a:cs typeface="Tahoma"/>
                <a:sym typeface="Tahoma"/>
              </a:rPr>
              <a:t>TRUNCATE TABLE [[project_name.]dataset_name.]table_name</a:t>
            </a:r>
            <a:endParaRPr sz="1800">
              <a:latin typeface="Tahoma"/>
              <a:ea typeface="Tahoma"/>
              <a:cs typeface="Tahoma"/>
              <a:sym typeface="Tahoma"/>
            </a:endParaRPr>
          </a:p>
          <a:p>
            <a:pPr marL="0" lvl="0" indent="0" algn="l" rtl="0">
              <a:lnSpc>
                <a:spcPct val="115000"/>
              </a:lnSpc>
              <a:spcBef>
                <a:spcPts val="0"/>
              </a:spcBef>
              <a:spcAft>
                <a:spcPts val="0"/>
              </a:spcAft>
              <a:buNone/>
            </a:pPr>
            <a:endParaRPr sz="1800">
              <a:latin typeface="Tahoma"/>
              <a:ea typeface="Tahoma"/>
              <a:cs typeface="Tahoma"/>
              <a:sym typeface="Tahoma"/>
            </a:endParaRPr>
          </a:p>
          <a:p>
            <a:pPr marL="0" lvl="0" indent="0" algn="l" rtl="0">
              <a:lnSpc>
                <a:spcPct val="115000"/>
              </a:lnSpc>
              <a:spcBef>
                <a:spcPts val="0"/>
              </a:spcBef>
              <a:spcAft>
                <a:spcPts val="0"/>
              </a:spcAft>
              <a:buNone/>
            </a:pPr>
            <a:endParaRPr sz="1800">
              <a:latin typeface="Tahoma"/>
              <a:ea typeface="Tahoma"/>
              <a:cs typeface="Tahoma"/>
              <a:sym typeface="Tahoma"/>
            </a:endParaRPr>
          </a:p>
          <a:p>
            <a:pPr marL="0" lvl="0" indent="0" algn="l" rtl="0">
              <a:lnSpc>
                <a:spcPct val="90000"/>
              </a:lnSpc>
              <a:spcBef>
                <a:spcPts val="800"/>
              </a:spcBef>
              <a:spcAft>
                <a:spcPts val="0"/>
              </a:spcAft>
              <a:buNone/>
            </a:pPr>
            <a:endParaRPr sz="1800">
              <a:latin typeface="Tahoma"/>
              <a:ea typeface="Tahoma"/>
              <a:cs typeface="Tahoma"/>
              <a:sym typeface="Tahoma"/>
            </a:endParaRPr>
          </a:p>
        </p:txBody>
      </p:sp>
      <p:sp>
        <p:nvSpPr>
          <p:cNvPr id="303" name="Google Shape;303;p46"/>
          <p:cNvSpPr txBox="1"/>
          <p:nvPr/>
        </p:nvSpPr>
        <p:spPr>
          <a:xfrm>
            <a:off x="129550" y="2202175"/>
            <a:ext cx="7162800" cy="841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vi" sz="1800" b="1">
                <a:latin typeface="Tahoma"/>
                <a:ea typeface="Tahoma"/>
                <a:cs typeface="Tahoma"/>
                <a:sym typeface="Tahoma"/>
              </a:rPr>
              <a:t>Ví dụ:</a:t>
            </a:r>
            <a:endParaRPr sz="1800">
              <a:latin typeface="Tahoma"/>
              <a:ea typeface="Tahoma"/>
              <a:cs typeface="Tahoma"/>
              <a:sym typeface="Tahoma"/>
            </a:endParaRPr>
          </a:p>
          <a:p>
            <a:pPr marL="0" lvl="0" indent="0" algn="l" rtl="0">
              <a:lnSpc>
                <a:spcPct val="90000"/>
              </a:lnSpc>
              <a:spcBef>
                <a:spcPts val="800"/>
              </a:spcBef>
              <a:spcAft>
                <a:spcPts val="0"/>
              </a:spcAft>
              <a:buNone/>
            </a:pPr>
            <a:r>
              <a:rPr lang="vi" sz="1800">
                <a:latin typeface="Tahoma"/>
                <a:ea typeface="Tahoma"/>
                <a:cs typeface="Tahoma"/>
                <a:sym typeface="Tahoma"/>
              </a:rPr>
              <a:t>TRUNCATE TABLE dataset.Inventory</a:t>
            </a:r>
            <a:endParaRPr sz="1800">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2191</Words>
  <Application>Microsoft Office PowerPoint</Application>
  <PresentationFormat>On-screen Show (16:9)</PresentationFormat>
  <Paragraphs>448</Paragraphs>
  <Slides>38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Roboto</vt:lpstr>
      <vt:lpstr>Calibri</vt:lpstr>
      <vt:lpstr>Tahoma</vt:lpstr>
      <vt:lpstr>Arial</vt:lpstr>
      <vt:lpstr>Roboto Mono</vt:lpstr>
      <vt:lpstr>Material</vt:lpstr>
      <vt:lpstr>GOOGLE BIQQUERY</vt:lpstr>
      <vt:lpstr>SQL (BigQuery)</vt:lpstr>
      <vt:lpstr>DDL (Data Definition Language)</vt:lpstr>
      <vt:lpstr>Data definition language</vt:lpstr>
      <vt:lpstr>CREATE SCHEMA</vt:lpstr>
      <vt:lpstr>CREATE TABLE</vt:lpstr>
      <vt:lpstr>CREATE TABLE</vt:lpstr>
      <vt:lpstr>CREATE VIEW</vt:lpstr>
      <vt:lpstr>CREATE FUNCTION</vt:lpstr>
      <vt:lpstr>CREATE PROCEDURE</vt:lpstr>
      <vt:lpstr>ALTER TABLE ADD COLUMN </vt:lpstr>
      <vt:lpstr>ALTER TABLE ADD COLUMN</vt:lpstr>
      <vt:lpstr>DROP SCHEMA</vt:lpstr>
      <vt:lpstr>DROP TABLE</vt:lpstr>
      <vt:lpstr>DROP VIEW</vt:lpstr>
      <vt:lpstr>DROP FUNCTION</vt:lpstr>
      <vt:lpstr>DROP PROCEDURE</vt:lpstr>
      <vt:lpstr>ALTER TABLE DROP COLUMN </vt:lpstr>
      <vt:lpstr>SQL (BigQuery)</vt:lpstr>
      <vt:lpstr>Data manipulation language</vt:lpstr>
      <vt:lpstr>CÁC BẢNG SỬ DỤNG TRONG BÀI HỌC</vt:lpstr>
      <vt:lpstr>SELECT</vt:lpstr>
      <vt:lpstr>SELECT</vt:lpstr>
      <vt:lpstr>SELECT</vt:lpstr>
      <vt:lpstr>INSERT statement</vt:lpstr>
      <vt:lpstr>INSERT statement</vt:lpstr>
      <vt:lpstr>INSERT statement</vt:lpstr>
      <vt:lpstr>DELETE statement</vt:lpstr>
      <vt:lpstr>DELETE statement</vt:lpstr>
      <vt:lpstr>DELETE statement</vt:lpstr>
      <vt:lpstr>UPDATE statement</vt:lpstr>
      <vt:lpstr>UPDATE statement</vt:lpstr>
      <vt:lpstr>UPDATE statement</vt:lpstr>
      <vt:lpstr>MERGE statement</vt:lpstr>
      <vt:lpstr>MERGE statement</vt:lpstr>
      <vt:lpstr>MERGE statement</vt:lpstr>
      <vt:lpstr>MERGE statement</vt:lpstr>
      <vt:lpstr>TRUNCATE TABLE statement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BIQQUERY</dc:title>
  <cp:lastModifiedBy>Ha Vu Phuong</cp:lastModifiedBy>
  <cp:revision>8</cp:revision>
  <dcterms:modified xsi:type="dcterms:W3CDTF">2021-04-19T04:40:09Z</dcterms:modified>
</cp:coreProperties>
</file>