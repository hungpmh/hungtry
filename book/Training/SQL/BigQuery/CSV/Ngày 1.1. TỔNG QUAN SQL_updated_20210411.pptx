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88" r:id="rId3"/>
    <p:sldId id="289" r:id="rId4"/>
    <p:sldId id="290" r:id="rId5"/>
    <p:sldId id="291" r:id="rId6"/>
    <p:sldId id="257" r:id="rId7"/>
    <p:sldId id="259" r:id="rId8"/>
    <p:sldId id="292" r:id="rId9"/>
    <p:sldId id="293" r:id="rId10"/>
    <p:sldId id="297" r:id="rId11"/>
    <p:sldId id="296" r:id="rId12"/>
    <p:sldId id="303" r:id="rId13"/>
    <p:sldId id="304" r:id="rId14"/>
    <p:sldId id="305" r:id="rId15"/>
    <p:sldId id="306" r:id="rId16"/>
    <p:sldId id="307" r:id="rId17"/>
    <p:sldId id="308" r:id="rId18"/>
    <p:sldId id="294" r:id="rId19"/>
    <p:sldId id="295" r:id="rId20"/>
    <p:sldId id="309" r:id="rId21"/>
    <p:sldId id="302" r:id="rId22"/>
    <p:sldId id="299" r:id="rId23"/>
    <p:sldId id="260" r:id="rId24"/>
  </p:sldIdLst>
  <p:sldSz cx="12192000" cy="6858000"/>
  <p:notesSz cx="6858000" cy="9144000"/>
  <p:embeddedFontLst>
    <p:embeddedFont>
      <p:font typeface="Calibri" panose="020F0502020204030204" pitchFamily="34" charset="0"/>
      <p:regular r:id="rId26"/>
      <p:bold r:id="rId27"/>
      <p:italic r:id="rId28"/>
      <p:boldItalic r:id="rId29"/>
    </p:embeddedFont>
    <p:embeddedFont>
      <p:font typeface="Tahoma" panose="020B0604030504040204" pitchFamily="3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gOr6lfkzfpF5QJi6+KqpzKHQZ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C239858-8D09-44BC-B0F5-D56A4BC3F1E4}">
  <a:tblStyle styleId="{6C239858-8D09-44BC-B0F5-D56A4BC3F1E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88" autoAdjust="0"/>
    <p:restoredTop sz="94660"/>
  </p:normalViewPr>
  <p:slideViewPr>
    <p:cSldViewPr snapToGrid="0">
      <p:cViewPr varScale="1">
        <p:scale>
          <a:sx n="108" d="100"/>
          <a:sy n="108"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1672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99" name="Google Shape;99;p1: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8927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105" name="Google Shape;105;p2: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4283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125" name="Google Shape;125;p4: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6359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82605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381000" y="3124200"/>
            <a:ext cx="6096000" cy="5334000"/>
          </a:xfrm>
          <a:prstGeom prst="rect">
            <a:avLst/>
          </a:prstGeom>
          <a:noFill/>
          <a:ln>
            <a:noFill/>
          </a:ln>
        </p:spPr>
        <p:txBody>
          <a:bodyPr spcFirstLastPara="1" wrap="square" lIns="0" tIns="0" rIns="0" bIns="91425" anchor="t" anchorCtr="0">
            <a:noAutofit/>
          </a:bodyPr>
          <a:lstStyle/>
          <a:p>
            <a:pPr marL="0" lvl="0" indent="0" algn="l" rtl="0">
              <a:spcBef>
                <a:spcPts val="600"/>
              </a:spcBef>
              <a:spcAft>
                <a:spcPts val="0"/>
              </a:spcAft>
              <a:buClr>
                <a:schemeClr val="dk1"/>
              </a:buClr>
              <a:buSzPts val="1200"/>
              <a:buFont typeface="Calibri"/>
              <a:buNone/>
            </a:pPr>
            <a:endParaRPr/>
          </a:p>
        </p:txBody>
      </p:sp>
      <p:sp>
        <p:nvSpPr>
          <p:cNvPr id="142" name="Google Shape;142;p5:notes"/>
          <p:cNvSpPr>
            <a:spLocks noGrp="1" noRot="1" noChangeAspect="1"/>
          </p:cNvSpPr>
          <p:nvPr>
            <p:ph type="sldImg" idx="2"/>
          </p:nvPr>
        </p:nvSpPr>
        <p:spPr>
          <a:xfrm>
            <a:off x="382588" y="381000"/>
            <a:ext cx="4572000" cy="2573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10588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New Template_Graphic Section Divider">
  <p:cSld name="New Template_Graphic Section Divider">
    <p:spTree>
      <p:nvGrpSpPr>
        <p:cNvPr id="1" name="Shape 15"/>
        <p:cNvGrpSpPr/>
        <p:nvPr/>
      </p:nvGrpSpPr>
      <p:grpSpPr>
        <a:xfrm>
          <a:off x="0" y="0"/>
          <a:ext cx="0" cy="0"/>
          <a:chOff x="0" y="0"/>
          <a:chExt cx="0" cy="0"/>
        </a:xfrm>
      </p:grpSpPr>
      <p:sp>
        <p:nvSpPr>
          <p:cNvPr id="16" name="Google Shape;16;p29"/>
          <p:cNvSpPr/>
          <p:nvPr/>
        </p:nvSpPr>
        <p:spPr>
          <a:xfrm>
            <a:off x="7620001" y="1"/>
            <a:ext cx="4572000" cy="6174317"/>
          </a:xfrm>
          <a:prstGeom prst="rect">
            <a:avLst/>
          </a:prstGeom>
          <a:gradFill>
            <a:gsLst>
              <a:gs pos="0">
                <a:srgbClr val="AA0000"/>
              </a:gs>
              <a:gs pos="100000">
                <a:srgbClr val="FF1414"/>
              </a:gs>
            </a:gsLst>
            <a:lin ang="16200000" scaled="0"/>
          </a:gradFill>
          <a:ln>
            <a:noFill/>
          </a:ln>
          <a:effectLst>
            <a:outerShdw blurRad="152400" dist="63500" dir="105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grpSp>
        <p:nvGrpSpPr>
          <p:cNvPr id="17" name="Google Shape;17;p29"/>
          <p:cNvGrpSpPr/>
          <p:nvPr/>
        </p:nvGrpSpPr>
        <p:grpSpPr>
          <a:xfrm>
            <a:off x="1" y="6172203"/>
            <a:ext cx="12192000" cy="224367"/>
            <a:chOff x="0" y="4629150"/>
            <a:chExt cx="9144000" cy="168275"/>
          </a:xfrm>
        </p:grpSpPr>
        <p:pic>
          <p:nvPicPr>
            <p:cNvPr id="18" name="Google Shape;18;p29" descr="Red Bar"/>
            <p:cNvPicPr preferRelativeResize="0"/>
            <p:nvPr/>
          </p:nvPicPr>
          <p:blipFill rotWithShape="1">
            <a:blip r:embed="rId2">
              <a:alphaModFix/>
            </a:blip>
            <a:srcRect/>
            <a:stretch/>
          </p:blipFill>
          <p:spPr>
            <a:xfrm>
              <a:off x="0" y="4629150"/>
              <a:ext cx="9144000" cy="168275"/>
            </a:xfrm>
            <a:prstGeom prst="rect">
              <a:avLst/>
            </a:prstGeom>
            <a:solidFill>
              <a:schemeClr val="accent1"/>
            </a:solidFill>
            <a:ln>
              <a:noFill/>
            </a:ln>
          </p:spPr>
        </p:pic>
        <p:pic>
          <p:nvPicPr>
            <p:cNvPr id="19" name="Google Shape;19;p29" descr="Oracle WHITE"/>
            <p:cNvPicPr preferRelativeResize="0"/>
            <p:nvPr/>
          </p:nvPicPr>
          <p:blipFill rotWithShape="1">
            <a:blip r:embed="rId3">
              <a:alphaModFix/>
            </a:blip>
            <a:srcRect/>
            <a:stretch/>
          </p:blipFill>
          <p:spPr>
            <a:xfrm>
              <a:off x="8015479" y="4668926"/>
              <a:ext cx="704056" cy="88722"/>
            </a:xfrm>
            <a:prstGeom prst="rect">
              <a:avLst/>
            </a:prstGeom>
            <a:noFill/>
            <a:ln>
              <a:noFill/>
            </a:ln>
          </p:spPr>
        </p:pic>
      </p:grpSp>
      <p:sp>
        <p:nvSpPr>
          <p:cNvPr id="20" name="Google Shape;20;p29"/>
          <p:cNvSpPr txBox="1">
            <a:spLocks noGrp="1"/>
          </p:cNvSpPr>
          <p:nvPr>
            <p:ph type="title"/>
          </p:nvPr>
        </p:nvSpPr>
        <p:spPr>
          <a:xfrm>
            <a:off x="1070352" y="2095794"/>
            <a:ext cx="6278737" cy="1467631"/>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dk1"/>
              </a:buClr>
              <a:buSzPts val="1400"/>
              <a:buFont typeface="Calibri"/>
              <a:buNone/>
              <a:defRPr sz="3732" b="1">
                <a:solidFill>
                  <a:schemeClr val="dk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1"/>
        <p:cNvGrpSpPr/>
        <p:nvPr/>
      </p:nvGrpSpPr>
      <p:grpSpPr>
        <a:xfrm>
          <a:off x="0" y="0"/>
          <a:ext cx="0" cy="0"/>
          <a:chOff x="0" y="0"/>
          <a:chExt cx="0" cy="0"/>
        </a:xfrm>
      </p:grpSpPr>
      <p:sp>
        <p:nvSpPr>
          <p:cNvPr id="22" name="Google Shape;22;p30"/>
          <p:cNvSpPr txBox="1">
            <a:spLocks noGrp="1"/>
          </p:cNvSpPr>
          <p:nvPr>
            <p:ph type="title"/>
          </p:nvPr>
        </p:nvSpPr>
        <p:spPr>
          <a:xfrm>
            <a:off x="531952" y="406401"/>
            <a:ext cx="11128098" cy="527251"/>
          </a:xfrm>
          <a:prstGeom prst="rect">
            <a:avLst/>
          </a:prstGeom>
          <a:noFill/>
          <a:ln>
            <a:noFill/>
          </a:ln>
        </p:spPr>
        <p:txBody>
          <a:bodyPr spcFirstLastPara="1" wrap="square" lIns="0" tIns="0" rIns="0" bIns="0" anchor="b" anchorCtr="0">
            <a:noAutofit/>
          </a:bodyPr>
          <a:lstStyle>
            <a:lvl1pPr lvl="0" algn="l">
              <a:lnSpc>
                <a:spcPct val="80000"/>
              </a:lnSpc>
              <a:spcBef>
                <a:spcPts val="0"/>
              </a:spcBef>
              <a:spcAft>
                <a:spcPts val="0"/>
              </a:spcAft>
              <a:buClr>
                <a:schemeClr val="dk1"/>
              </a:buClr>
              <a:buSzPts val="1400"/>
              <a:buFont typeface="Calibri"/>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a:endParaRPr/>
          </a:p>
        </p:txBody>
      </p:sp>
      <p:sp>
        <p:nvSpPr>
          <p:cNvPr id="23" name="Google Shape;23;p30"/>
          <p:cNvSpPr txBox="1">
            <a:spLocks noGrp="1"/>
          </p:cNvSpPr>
          <p:nvPr>
            <p:ph type="body" idx="1"/>
          </p:nvPr>
        </p:nvSpPr>
        <p:spPr>
          <a:xfrm>
            <a:off x="531289" y="1347537"/>
            <a:ext cx="11129420" cy="4596063"/>
          </a:xfrm>
          <a:prstGeom prst="rect">
            <a:avLst/>
          </a:prstGeom>
          <a:noFill/>
          <a:ln>
            <a:noFill/>
          </a:ln>
        </p:spPr>
        <p:txBody>
          <a:bodyPr spcFirstLastPara="1" wrap="square" lIns="0" tIns="0" rIns="0" bIns="0" anchor="t" anchorCtr="0">
            <a:noAutofit/>
          </a:bodyPr>
          <a:lstStyle>
            <a:lvl1pPr marL="457200" lvl="0" indent="-342900" algn="l">
              <a:lnSpc>
                <a:spcPct val="90000"/>
              </a:lnSpc>
              <a:spcBef>
                <a:spcPts val="1200"/>
              </a:spcBef>
              <a:spcAft>
                <a:spcPts val="0"/>
              </a:spcAft>
              <a:buClr>
                <a:schemeClr val="dk1"/>
              </a:buClr>
              <a:buSzPts val="1800"/>
              <a:buChar char="•"/>
              <a:defRPr/>
            </a:lvl1pPr>
            <a:lvl2pPr marL="914400" lvl="1" indent="-342900" algn="l">
              <a:lnSpc>
                <a:spcPct val="90000"/>
              </a:lnSpc>
              <a:spcBef>
                <a:spcPts val="8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600"/>
              </a:spcBef>
              <a:spcAft>
                <a:spcPts val="0"/>
              </a:spcAft>
              <a:buClr>
                <a:schemeClr val="dk1"/>
              </a:buClr>
              <a:buSzPts val="1800"/>
              <a:buChar char="•"/>
              <a:defRPr/>
            </a:lvl7pPr>
            <a:lvl8pPr marL="3657600" lvl="7" indent="-342900" algn="l">
              <a:lnSpc>
                <a:spcPct val="90000"/>
              </a:lnSpc>
              <a:spcBef>
                <a:spcPts val="600"/>
              </a:spcBef>
              <a:spcAft>
                <a:spcPts val="0"/>
              </a:spcAft>
              <a:buClr>
                <a:schemeClr val="dk1"/>
              </a:buClr>
              <a:buSzPts val="1800"/>
              <a:buChar char="–"/>
              <a:defRPr/>
            </a:lvl8pPr>
            <a:lvl9pPr marL="4114800" lvl="8" indent="-342900" algn="l">
              <a:lnSpc>
                <a:spcPct val="90000"/>
              </a:lnSpc>
              <a:spcBef>
                <a:spcPts val="600"/>
              </a:spcBef>
              <a:spcAft>
                <a:spcPts val="0"/>
              </a:spcAft>
              <a:buClr>
                <a:schemeClr val="dk1"/>
              </a:buClr>
              <a:buSzPts val="1800"/>
              <a:buChar char="•"/>
              <a:defRPr/>
            </a:lvl9pPr>
          </a:lstStyle>
          <a:p>
            <a:endParaRPr/>
          </a:p>
        </p:txBody>
      </p:sp>
      <p:sp>
        <p:nvSpPr>
          <p:cNvPr id="24" name="Google Shape;24;p30"/>
          <p:cNvSpPr txBox="1">
            <a:spLocks noGrp="1"/>
          </p:cNvSpPr>
          <p:nvPr>
            <p:ph type="body" idx="2"/>
          </p:nvPr>
        </p:nvSpPr>
        <p:spPr>
          <a:xfrm>
            <a:off x="531952" y="950242"/>
            <a:ext cx="11128097" cy="343299"/>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2400"/>
              <a:buFont typeface="Calibri"/>
              <a:buNone/>
              <a:defRPr sz="2400" b="1"/>
            </a:lvl1pPr>
            <a:lvl2pPr marL="914400" lvl="1" indent="-228600" algn="l">
              <a:lnSpc>
                <a:spcPct val="90000"/>
              </a:lnSpc>
              <a:spcBef>
                <a:spcPts val="800"/>
              </a:spcBef>
              <a:spcAft>
                <a:spcPts val="0"/>
              </a:spcAft>
              <a:buClr>
                <a:schemeClr val="dk1"/>
              </a:buClr>
              <a:buSzPts val="2400"/>
              <a:buFont typeface="Calibri"/>
              <a:buNone/>
              <a:defRPr sz="2400"/>
            </a:lvl2pPr>
            <a:lvl3pPr marL="1371600" lvl="2" indent="-228600" algn="l">
              <a:lnSpc>
                <a:spcPct val="90000"/>
              </a:lnSpc>
              <a:spcBef>
                <a:spcPts val="600"/>
              </a:spcBef>
              <a:spcAft>
                <a:spcPts val="0"/>
              </a:spcAft>
              <a:buClr>
                <a:schemeClr val="dk1"/>
              </a:buClr>
              <a:buSzPts val="2400"/>
              <a:buFont typeface="Calibri"/>
              <a:buNone/>
              <a:defRPr sz="2400"/>
            </a:lvl3pPr>
            <a:lvl4pPr marL="1828800" lvl="3" indent="-228600" algn="l">
              <a:lnSpc>
                <a:spcPct val="90000"/>
              </a:lnSpc>
              <a:spcBef>
                <a:spcPts val="600"/>
              </a:spcBef>
              <a:spcAft>
                <a:spcPts val="0"/>
              </a:spcAft>
              <a:buClr>
                <a:schemeClr val="dk1"/>
              </a:buClr>
              <a:buSzPts val="2400"/>
              <a:buFont typeface="Calibri"/>
              <a:buNone/>
              <a:defRPr sz="2400"/>
            </a:lvl4pPr>
            <a:lvl5pPr marL="2286000" lvl="4" indent="-228600" algn="l">
              <a:lnSpc>
                <a:spcPct val="90000"/>
              </a:lnSpc>
              <a:spcBef>
                <a:spcPts val="600"/>
              </a:spcBef>
              <a:spcAft>
                <a:spcPts val="0"/>
              </a:spcAft>
              <a:buClr>
                <a:schemeClr val="dk1"/>
              </a:buClr>
              <a:buSzPts val="2400"/>
              <a:buFont typeface="Calibri"/>
              <a:buNone/>
              <a:defRPr sz="2400"/>
            </a:lvl5pPr>
            <a:lvl6pPr marL="2743200" lvl="5" indent="-228600" algn="l">
              <a:lnSpc>
                <a:spcPct val="90000"/>
              </a:lnSpc>
              <a:spcBef>
                <a:spcPts val="600"/>
              </a:spcBef>
              <a:spcAft>
                <a:spcPts val="0"/>
              </a:spcAft>
              <a:buClr>
                <a:schemeClr val="dk1"/>
              </a:buClr>
              <a:buSzPts val="2400"/>
              <a:buFont typeface="Calibri"/>
              <a:buNone/>
              <a:defRPr sz="2400"/>
            </a:lvl6pPr>
            <a:lvl7pPr marL="3200400" lvl="6" indent="-228600" algn="l">
              <a:lnSpc>
                <a:spcPct val="90000"/>
              </a:lnSpc>
              <a:spcBef>
                <a:spcPts val="600"/>
              </a:spcBef>
              <a:spcAft>
                <a:spcPts val="0"/>
              </a:spcAft>
              <a:buClr>
                <a:schemeClr val="dk1"/>
              </a:buClr>
              <a:buSzPts val="2400"/>
              <a:buFont typeface="Calibri"/>
              <a:buNone/>
              <a:defRPr sz="2400"/>
            </a:lvl7pPr>
            <a:lvl8pPr marL="3657600" lvl="7" indent="-228600" algn="l">
              <a:lnSpc>
                <a:spcPct val="90000"/>
              </a:lnSpc>
              <a:spcBef>
                <a:spcPts val="600"/>
              </a:spcBef>
              <a:spcAft>
                <a:spcPts val="0"/>
              </a:spcAft>
              <a:buClr>
                <a:schemeClr val="dk1"/>
              </a:buClr>
              <a:buSzPts val="2400"/>
              <a:buFont typeface="Calibri"/>
              <a:buNone/>
              <a:defRPr sz="2400"/>
            </a:lvl8pPr>
            <a:lvl9pPr marL="4114800" lvl="8" indent="-228600" algn="l">
              <a:lnSpc>
                <a:spcPct val="90000"/>
              </a:lnSpc>
              <a:spcBef>
                <a:spcPts val="600"/>
              </a:spcBef>
              <a:spcAft>
                <a:spcPts val="0"/>
              </a:spcAft>
              <a:buClr>
                <a:schemeClr val="dk1"/>
              </a:buClr>
              <a:buSzPts val="2400"/>
              <a:buFont typeface="Calibri"/>
              <a:buNone/>
              <a:defRPr sz="2400"/>
            </a:lvl9pPr>
          </a:lstStyle>
          <a:p>
            <a:endParaRPr/>
          </a:p>
        </p:txBody>
      </p:sp>
      <p:sp>
        <p:nvSpPr>
          <p:cNvPr id="25" name="Google Shape;25;p30"/>
          <p:cNvSpPr txBox="1">
            <a:spLocks noGrp="1"/>
          </p:cNvSpPr>
          <p:nvPr>
            <p:ph type="dt" idx="10"/>
          </p:nvPr>
        </p:nvSpPr>
        <p:spPr>
          <a:xfrm>
            <a:off x="4182564" y="6556376"/>
            <a:ext cx="1227458" cy="182563"/>
          </a:xfrm>
          <a:prstGeom prst="rect">
            <a:avLst/>
          </a:prstGeom>
          <a:noFill/>
          <a:ln>
            <a:noFill/>
          </a:ln>
        </p:spPr>
        <p:txBody>
          <a:bodyPr spcFirstLastPara="1" wrap="square" lIns="0" tIns="0" rIns="0" bIns="0" anchor="ctr" anchorCtr="0">
            <a:noAutofit/>
          </a:bodyPr>
          <a:lstStyle>
            <a:lvl1pPr lvl="0" algn="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26" name="Google Shape;26;p30"/>
          <p:cNvSpPr txBox="1">
            <a:spLocks noGrp="1"/>
          </p:cNvSpPr>
          <p:nvPr>
            <p:ph type="ftr" idx="11"/>
          </p:nvPr>
        </p:nvSpPr>
        <p:spPr>
          <a:xfrm>
            <a:off x="8623959" y="6556376"/>
            <a:ext cx="2702629" cy="182563"/>
          </a:xfrm>
          <a:prstGeom prst="rect">
            <a:avLst/>
          </a:prstGeom>
          <a:noFill/>
          <a:ln>
            <a:noFill/>
          </a:ln>
        </p:spPr>
        <p:txBody>
          <a:bodyPr spcFirstLastPara="1" wrap="square" lIns="0" tIns="0" rIns="0" bIns="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27" name="Google Shape;27;p30"/>
          <p:cNvSpPr txBox="1">
            <a:spLocks noGrp="1"/>
          </p:cNvSpPr>
          <p:nvPr>
            <p:ph type="sldNum" idx="12"/>
          </p:nvPr>
        </p:nvSpPr>
        <p:spPr>
          <a:xfrm>
            <a:off x="11326588" y="6556376"/>
            <a:ext cx="333462" cy="182563"/>
          </a:xfrm>
          <a:prstGeom prst="rect">
            <a:avLst/>
          </a:prstGeom>
          <a:noFill/>
          <a:ln>
            <a:noFill/>
          </a:ln>
        </p:spPr>
        <p:txBody>
          <a:bodyPr spcFirstLastPara="1" wrap="square" lIns="0" tIns="0" rIns="0" bIns="0" anchor="ctr" anchorCtr="0">
            <a:noAutofit/>
          </a:bodyPr>
          <a:lstStyle>
            <a:lvl1pPr marL="0" lvl="0"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1pPr>
            <a:lvl2pPr marL="0" lvl="1"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2pPr>
            <a:lvl3pPr marL="0" lvl="2"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3pPr>
            <a:lvl4pPr marL="0" lvl="3"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4pPr>
            <a:lvl5pPr marL="0" lvl="4"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5pPr>
            <a:lvl6pPr marL="0" lvl="5"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6pPr>
            <a:lvl7pPr marL="0" lvl="6"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7pPr>
            <a:lvl8pPr marL="0" lvl="7"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8pPr>
            <a:lvl9pPr marL="0" lvl="8" indent="0" algn="r">
              <a:spcBef>
                <a:spcPts val="0"/>
              </a:spcBef>
              <a:spcAft>
                <a:spcPts val="0"/>
              </a:spcAft>
              <a:buClr>
                <a:schemeClr val="dk1"/>
              </a:buClr>
              <a:buSzPts val="800"/>
              <a:buFont typeface="Calibri"/>
              <a:buNone/>
              <a:defRPr sz="8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sp>
        <p:nvSpPr>
          <p:cNvPr id="35" name="Google Shape;35;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3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3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3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3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
        <p:nvSpPr>
          <p:cNvPr id="68" name="Google Shape;68;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3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3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9"/>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1" name="Google Shape;81;p3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4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4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4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Relational_mode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title"/>
          </p:nvPr>
        </p:nvSpPr>
        <p:spPr>
          <a:xfrm>
            <a:off x="155645" y="1237314"/>
            <a:ext cx="7354110" cy="2887213"/>
          </a:xfrm>
          <a:prstGeom prst="rect">
            <a:avLst/>
          </a:prstGeom>
          <a:noFill/>
          <a:ln>
            <a:noFill/>
          </a:ln>
        </p:spPr>
        <p:txBody>
          <a:bodyPr spcFirstLastPara="1" wrap="square" lIns="0" tIns="0" rIns="0" bIns="0" anchor="b" anchorCtr="0">
            <a:noAutofit/>
          </a:bodyPr>
          <a:lstStyle/>
          <a:p>
            <a:pPr marL="0" lvl="0" indent="0" algn="ctr" rtl="0">
              <a:lnSpc>
                <a:spcPct val="200000"/>
              </a:lnSpc>
              <a:spcBef>
                <a:spcPts val="0"/>
              </a:spcBef>
              <a:spcAft>
                <a:spcPts val="0"/>
              </a:spcAft>
              <a:buClr>
                <a:schemeClr val="dk1"/>
              </a:buClr>
              <a:buSzPts val="1400"/>
              <a:buFont typeface="Tahoma"/>
              <a:buNone/>
            </a:pPr>
            <a:r>
              <a:rPr lang="en-US" sz="4800" dirty="0">
                <a:latin typeface="+mn-lt"/>
                <a:ea typeface="Tahoma"/>
                <a:cs typeface="Tahoma"/>
                <a:sym typeface="Tahoma"/>
              </a:rPr>
              <a:t>TỔNG QUAN </a:t>
            </a:r>
            <a:br>
              <a:rPr lang="en-US" sz="4800" dirty="0">
                <a:latin typeface="+mn-lt"/>
                <a:ea typeface="Tahoma"/>
                <a:cs typeface="Tahoma"/>
                <a:sym typeface="Tahoma"/>
              </a:rPr>
            </a:br>
            <a:r>
              <a:rPr lang="en-US" sz="4000" dirty="0">
                <a:latin typeface="+mn-lt"/>
                <a:ea typeface="Tahoma"/>
                <a:cs typeface="Tahoma"/>
                <a:sym typeface="Tahoma"/>
              </a:rPr>
              <a:t>CƠ SỞ DỮ LIỆU &amp; SQL</a:t>
            </a:r>
            <a:endParaRPr b="0" dirty="0">
              <a:latin typeface="+mn-lt"/>
            </a:endParaRPr>
          </a:p>
        </p:txBody>
      </p:sp>
      <p:sp>
        <p:nvSpPr>
          <p:cNvPr id="102" name="Google Shape;102;p1"/>
          <p:cNvSpPr/>
          <p:nvPr/>
        </p:nvSpPr>
        <p:spPr>
          <a:xfrm>
            <a:off x="10538454" y="6182834"/>
            <a:ext cx="1144093" cy="207335"/>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 name="Google Shape;101;p1"/>
          <p:cNvSpPr txBox="1">
            <a:spLocks/>
          </p:cNvSpPr>
          <p:nvPr/>
        </p:nvSpPr>
        <p:spPr>
          <a:xfrm>
            <a:off x="233465" y="5330756"/>
            <a:ext cx="7354110" cy="6387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1400"/>
              <a:buFont typeface="Calibri"/>
              <a:buNone/>
              <a:defRPr sz="3732" b="1" i="0" u="none" strike="noStrike" cap="none">
                <a:solidFill>
                  <a:schemeClr val="dk1"/>
                </a:solidFill>
                <a:latin typeface="Calibri"/>
                <a:ea typeface="Calibri"/>
                <a:cs typeface="Calibri"/>
                <a:sym typeface="Calibri"/>
              </a:defRPr>
            </a:lvl1pPr>
            <a:lvl2pPr marR="0" lvl="1" algn="l" rtl="0">
              <a:lnSpc>
                <a:spcPct val="8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8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8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8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8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8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8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8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200000"/>
              </a:lnSpc>
              <a:buFont typeface="Tahoma"/>
              <a:buNone/>
            </a:pPr>
            <a:r>
              <a:rPr lang="en-US" sz="1800" dirty="0" err="1">
                <a:latin typeface="+mj-lt"/>
                <a:ea typeface="Tahoma"/>
                <a:cs typeface="Tahoma"/>
                <a:sym typeface="Tahoma"/>
              </a:rPr>
              <a:t>Hà</a:t>
            </a:r>
            <a:r>
              <a:rPr lang="en-US" sz="1800" dirty="0">
                <a:latin typeface="+mj-lt"/>
                <a:ea typeface="Tahoma"/>
                <a:cs typeface="Tahoma"/>
                <a:sym typeface="Tahoma"/>
              </a:rPr>
              <a:t> </a:t>
            </a:r>
            <a:r>
              <a:rPr lang="en-US" sz="1800" dirty="0" err="1">
                <a:latin typeface="+mj-lt"/>
                <a:ea typeface="Tahoma"/>
                <a:cs typeface="Tahoma"/>
                <a:sym typeface="Tahoma"/>
              </a:rPr>
              <a:t>Nội</a:t>
            </a:r>
            <a:r>
              <a:rPr lang="en-US" sz="1800" dirty="0">
                <a:latin typeface="+mj-lt"/>
                <a:ea typeface="Tahoma"/>
                <a:cs typeface="Tahoma"/>
                <a:sym typeface="Tahoma"/>
              </a:rPr>
              <a:t>, 4/2021</a:t>
            </a:r>
            <a:endParaRPr lang="vi-VN" sz="1800" b="0"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Nội</a:t>
            </a:r>
            <a:r>
              <a:rPr lang="en-US" dirty="0"/>
              <a:t> dung</a:t>
            </a:r>
          </a:p>
        </p:txBody>
      </p:sp>
      <p:sp>
        <p:nvSpPr>
          <p:cNvPr id="3" name="Text Placeholder 2"/>
          <p:cNvSpPr>
            <a:spLocks noGrp="1"/>
          </p:cNvSpPr>
          <p:nvPr>
            <p:ph type="body" idx="1"/>
          </p:nvPr>
        </p:nvSpPr>
        <p:spPr/>
        <p:txBody>
          <a:bodyPr/>
          <a:lstStyle/>
          <a:p>
            <a:r>
              <a:rPr lang="en-US" dirty="0" err="1"/>
              <a:t>Tại</a:t>
            </a:r>
            <a:r>
              <a:rPr lang="en-US" dirty="0"/>
              <a:t> </a:t>
            </a:r>
            <a:r>
              <a:rPr lang="en-US" dirty="0" err="1"/>
              <a:t>sao</a:t>
            </a:r>
            <a:r>
              <a:rPr lang="en-US" dirty="0"/>
              <a:t> </a:t>
            </a:r>
            <a:r>
              <a:rPr lang="en-US" dirty="0" err="1"/>
              <a:t>phải</a:t>
            </a:r>
            <a:r>
              <a:rPr lang="en-US" dirty="0"/>
              <a:t> </a:t>
            </a:r>
            <a:r>
              <a:rPr lang="en-US" dirty="0" err="1"/>
              <a:t>có</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a:p>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là</a:t>
            </a:r>
            <a:r>
              <a:rPr lang="en-US" dirty="0"/>
              <a:t> </a:t>
            </a:r>
            <a:r>
              <a:rPr lang="en-US" dirty="0" err="1"/>
              <a:t>gì</a:t>
            </a:r>
            <a:endParaRPr lang="en-US" dirty="0"/>
          </a:p>
          <a:p>
            <a:r>
              <a:rPr lang="en-US" dirty="0" err="1"/>
              <a:t>Mô</a:t>
            </a:r>
            <a:r>
              <a:rPr lang="en-US" dirty="0"/>
              <a:t> </a:t>
            </a:r>
            <a:r>
              <a:rPr lang="en-US" dirty="0" err="1"/>
              <a:t>hình</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quan</a:t>
            </a:r>
            <a:r>
              <a:rPr lang="en-US" dirty="0"/>
              <a:t> </a:t>
            </a:r>
            <a:r>
              <a:rPr lang="en-US" dirty="0" err="1"/>
              <a:t>hệ</a:t>
            </a:r>
            <a:endParaRPr lang="en-US" dirty="0"/>
          </a:p>
          <a:p>
            <a:r>
              <a:rPr lang="en-US" dirty="0" err="1"/>
              <a:t>Hệ</a:t>
            </a:r>
            <a:r>
              <a:rPr lang="en-US" dirty="0"/>
              <a:t> </a:t>
            </a:r>
            <a:r>
              <a:rPr lang="en-US" dirty="0" err="1"/>
              <a:t>quản</a:t>
            </a:r>
            <a:r>
              <a:rPr lang="en-US" dirty="0"/>
              <a:t> </a:t>
            </a:r>
            <a:r>
              <a:rPr lang="en-US" dirty="0" err="1"/>
              <a:t>trị</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a:p>
            <a:r>
              <a:rPr lang="en-US" dirty="0" err="1"/>
              <a:t>Hệ</a:t>
            </a:r>
            <a:r>
              <a:rPr lang="en-US" dirty="0"/>
              <a:t> </a:t>
            </a:r>
            <a:r>
              <a:rPr lang="en-US" dirty="0" err="1"/>
              <a:t>quản</a:t>
            </a:r>
            <a:r>
              <a:rPr lang="en-US" dirty="0"/>
              <a:t> </a:t>
            </a:r>
            <a:r>
              <a:rPr lang="en-US" dirty="0" err="1"/>
              <a:t>trị</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quan</a:t>
            </a:r>
            <a:r>
              <a:rPr lang="en-US" dirty="0"/>
              <a:t> </a:t>
            </a:r>
            <a:r>
              <a:rPr lang="en-US" dirty="0" err="1"/>
              <a:t>hệ</a:t>
            </a:r>
            <a:endParaRPr lang="en-US" dirty="0"/>
          </a:p>
          <a:p>
            <a:r>
              <a:rPr lang="en-US" dirty="0"/>
              <a:t>Structured Query Language - SQL</a:t>
            </a:r>
          </a:p>
        </p:txBody>
      </p:sp>
    </p:spTree>
    <p:extLst>
      <p:ext uri="{BB962C8B-B14F-4D97-AF65-F5344CB8AC3E}">
        <p14:creationId xmlns:p14="http://schemas.microsoft.com/office/powerpoint/2010/main" val="1970328990"/>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Tại</a:t>
            </a:r>
            <a:r>
              <a:rPr lang="en-US" dirty="0"/>
              <a:t> </a:t>
            </a:r>
            <a:r>
              <a:rPr lang="en-US" dirty="0" err="1"/>
              <a:t>sao</a:t>
            </a:r>
            <a:r>
              <a:rPr lang="en-US" dirty="0"/>
              <a:t> </a:t>
            </a:r>
            <a:r>
              <a:rPr lang="en-US" dirty="0" err="1"/>
              <a:t>phải</a:t>
            </a:r>
            <a:r>
              <a:rPr lang="en-US" dirty="0"/>
              <a:t> </a:t>
            </a:r>
            <a:r>
              <a:rPr lang="en-US" dirty="0" err="1"/>
              <a:t>có</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a:t>
            </a:r>
          </a:p>
        </p:txBody>
      </p:sp>
      <p:sp>
        <p:nvSpPr>
          <p:cNvPr id="3" name="Text Placeholder 2"/>
          <p:cNvSpPr>
            <a:spLocks noGrp="1"/>
          </p:cNvSpPr>
          <p:nvPr>
            <p:ph type="body" idx="1"/>
          </p:nvPr>
        </p:nvSpPr>
        <p:spPr>
          <a:xfrm>
            <a:off x="344003" y="1138216"/>
            <a:ext cx="11129420" cy="4596063"/>
          </a:xfrm>
        </p:spPr>
        <p:txBody>
          <a:bodyPr/>
          <a:lstStyle/>
          <a:p>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truyền</a:t>
            </a:r>
            <a:r>
              <a:rPr lang="en-US" dirty="0"/>
              <a:t> </a:t>
            </a:r>
            <a:r>
              <a:rPr lang="en-US" dirty="0" err="1"/>
              <a:t>thống</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069" y="2530065"/>
            <a:ext cx="2326931" cy="2717713"/>
          </a:xfrm>
          <a:prstGeom prst="rect">
            <a:avLst/>
          </a:prstGeom>
        </p:spPr>
      </p:pic>
      <p:pic>
        <p:nvPicPr>
          <p:cNvPr id="6" name="Picture 5"/>
          <p:cNvPicPr>
            <a:picLocks noChangeAspect="1"/>
          </p:cNvPicPr>
          <p:nvPr/>
        </p:nvPicPr>
        <p:blipFill>
          <a:blip r:embed="rId3"/>
          <a:stretch>
            <a:fillRect/>
          </a:stretch>
        </p:blipFill>
        <p:spPr>
          <a:xfrm>
            <a:off x="4330157" y="2136616"/>
            <a:ext cx="7329893" cy="3884102"/>
          </a:xfrm>
          <a:prstGeom prst="rect">
            <a:avLst/>
          </a:prstGeom>
        </p:spPr>
      </p:pic>
      <p:cxnSp>
        <p:nvCxnSpPr>
          <p:cNvPr id="8" name="Straight Arrow Connector 7"/>
          <p:cNvCxnSpPr/>
          <p:nvPr/>
        </p:nvCxnSpPr>
        <p:spPr>
          <a:xfrm>
            <a:off x="3084723" y="3888921"/>
            <a:ext cx="815249"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438670"/>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Tại</a:t>
            </a:r>
            <a:r>
              <a:rPr lang="en-US" dirty="0"/>
              <a:t> </a:t>
            </a:r>
            <a:r>
              <a:rPr lang="en-US" dirty="0" err="1"/>
              <a:t>sao</a:t>
            </a:r>
            <a:r>
              <a:rPr lang="en-US" dirty="0"/>
              <a:t> </a:t>
            </a:r>
            <a:r>
              <a:rPr lang="en-US" dirty="0" err="1"/>
              <a:t>phải</a:t>
            </a:r>
            <a:r>
              <a:rPr lang="en-US" dirty="0"/>
              <a:t> </a:t>
            </a:r>
            <a:r>
              <a:rPr lang="en-US" dirty="0" err="1"/>
              <a:t>có</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a:t>
            </a:r>
          </a:p>
        </p:txBody>
      </p:sp>
      <p:sp>
        <p:nvSpPr>
          <p:cNvPr id="3" name="Text Placeholder 2"/>
          <p:cNvSpPr>
            <a:spLocks noGrp="1"/>
          </p:cNvSpPr>
          <p:nvPr>
            <p:ph type="body" idx="1"/>
          </p:nvPr>
        </p:nvSpPr>
        <p:spPr>
          <a:xfrm>
            <a:off x="344003" y="1138217"/>
            <a:ext cx="11129420" cy="690584"/>
          </a:xfrm>
        </p:spPr>
        <p:txBody>
          <a:bodyPr/>
          <a:lstStyle/>
          <a:p>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truyền</a:t>
            </a:r>
            <a:r>
              <a:rPr lang="en-US" dirty="0"/>
              <a:t> </a:t>
            </a:r>
            <a:r>
              <a:rPr lang="en-US" dirty="0" err="1"/>
              <a:t>thống</a:t>
            </a:r>
            <a:endParaRPr lang="en-US" dirty="0"/>
          </a:p>
        </p:txBody>
      </p:sp>
      <p:sp>
        <p:nvSpPr>
          <p:cNvPr id="7" name="Text Placeholder 2"/>
          <p:cNvSpPr>
            <a:spLocks noGrp="1"/>
          </p:cNvSpPr>
          <p:nvPr>
            <p:ph type="body" idx="1"/>
          </p:nvPr>
        </p:nvSpPr>
        <p:spPr>
          <a:xfrm>
            <a:off x="710412" y="1916635"/>
            <a:ext cx="11129420" cy="4737084"/>
          </a:xfrm>
        </p:spPr>
        <p:txBody>
          <a:bodyPr/>
          <a:lstStyle/>
          <a:p>
            <a:r>
              <a:rPr lang="en-US" dirty="0" err="1"/>
              <a:t>Ưu</a:t>
            </a:r>
            <a:r>
              <a:rPr lang="en-US" dirty="0"/>
              <a:t> </a:t>
            </a:r>
            <a:r>
              <a:rPr lang="en-US" dirty="0" err="1"/>
              <a:t>điểm</a:t>
            </a:r>
            <a:endParaRPr lang="en-US" dirty="0"/>
          </a:p>
          <a:p>
            <a:pPr lvl="1">
              <a:buFontTx/>
              <a:buChar char="-"/>
            </a:pPr>
            <a:r>
              <a:rPr lang="en-US" dirty="0" err="1"/>
              <a:t>Không</a:t>
            </a:r>
            <a:r>
              <a:rPr lang="en-US" dirty="0"/>
              <a:t> </a:t>
            </a:r>
            <a:r>
              <a:rPr lang="en-US" dirty="0" err="1"/>
              <a:t>yêu</a:t>
            </a:r>
            <a:r>
              <a:rPr lang="en-US" dirty="0"/>
              <a:t> </a:t>
            </a:r>
            <a:r>
              <a:rPr lang="en-US" dirty="0" err="1"/>
              <a:t>cầu</a:t>
            </a:r>
            <a:r>
              <a:rPr lang="en-US" dirty="0"/>
              <a:t> </a:t>
            </a:r>
            <a:r>
              <a:rPr lang="en-US" dirty="0" err="1"/>
              <a:t>cao</a:t>
            </a:r>
            <a:r>
              <a:rPr lang="en-US" dirty="0"/>
              <a:t> </a:t>
            </a:r>
            <a:r>
              <a:rPr lang="en-US" dirty="0" err="1"/>
              <a:t>về</a:t>
            </a:r>
            <a:r>
              <a:rPr lang="en-US" dirty="0"/>
              <a:t> </a:t>
            </a:r>
            <a:r>
              <a:rPr lang="en-US" dirty="0" err="1"/>
              <a:t>cơ</a:t>
            </a:r>
            <a:r>
              <a:rPr lang="en-US" dirty="0"/>
              <a:t> </a:t>
            </a:r>
            <a:r>
              <a:rPr lang="en-US" dirty="0" err="1"/>
              <a:t>sở</a:t>
            </a:r>
            <a:r>
              <a:rPr lang="en-US" dirty="0"/>
              <a:t> </a:t>
            </a:r>
            <a:r>
              <a:rPr lang="en-US" dirty="0" err="1"/>
              <a:t>hạ</a:t>
            </a:r>
            <a:r>
              <a:rPr lang="en-US" dirty="0"/>
              <a:t> </a:t>
            </a:r>
            <a:r>
              <a:rPr lang="en-US" dirty="0" err="1"/>
              <a:t>tầng</a:t>
            </a:r>
            <a:r>
              <a:rPr lang="en-US" dirty="0"/>
              <a:t>, </a:t>
            </a:r>
            <a:r>
              <a:rPr lang="en-US" dirty="0" err="1"/>
              <a:t>thiết</a:t>
            </a:r>
            <a:r>
              <a:rPr lang="en-US" dirty="0"/>
              <a:t> </a:t>
            </a:r>
            <a:r>
              <a:rPr lang="en-US" dirty="0" err="1"/>
              <a:t>bị</a:t>
            </a:r>
            <a:r>
              <a:rPr lang="en-US" dirty="0"/>
              <a:t> </a:t>
            </a:r>
            <a:r>
              <a:rPr lang="en-US" dirty="0" err="1"/>
              <a:t>lưu</a:t>
            </a:r>
            <a:r>
              <a:rPr lang="en-US" dirty="0"/>
              <a:t> </a:t>
            </a:r>
            <a:r>
              <a:rPr lang="en-US" dirty="0" err="1"/>
              <a:t>trữ</a:t>
            </a:r>
            <a:endParaRPr lang="en-US" dirty="0"/>
          </a:p>
          <a:p>
            <a:pPr lvl="1">
              <a:buFontTx/>
              <a:buChar char="-"/>
            </a:pPr>
            <a:r>
              <a:rPr lang="en-US" dirty="0" err="1"/>
              <a:t>Không</a:t>
            </a:r>
            <a:r>
              <a:rPr lang="en-US" dirty="0"/>
              <a:t> </a:t>
            </a:r>
            <a:r>
              <a:rPr lang="en-US" dirty="0" err="1"/>
              <a:t>yêu</a:t>
            </a:r>
            <a:r>
              <a:rPr lang="en-US" dirty="0"/>
              <a:t> </a:t>
            </a:r>
            <a:r>
              <a:rPr lang="en-US" dirty="0" err="1"/>
              <a:t>cầu</a:t>
            </a:r>
            <a:r>
              <a:rPr lang="en-US" dirty="0"/>
              <a:t> </a:t>
            </a:r>
            <a:r>
              <a:rPr lang="en-US" dirty="0" err="1"/>
              <a:t>cao</a:t>
            </a:r>
            <a:r>
              <a:rPr lang="en-US" dirty="0"/>
              <a:t> </a:t>
            </a:r>
            <a:r>
              <a:rPr lang="en-US" dirty="0" err="1"/>
              <a:t>về</a:t>
            </a:r>
            <a:r>
              <a:rPr lang="en-US" dirty="0"/>
              <a:t> </a:t>
            </a:r>
            <a:r>
              <a:rPr lang="en-US" dirty="0" err="1"/>
              <a:t>trình</a:t>
            </a:r>
            <a:r>
              <a:rPr lang="en-US" dirty="0"/>
              <a:t> </a:t>
            </a:r>
            <a:r>
              <a:rPr lang="en-US" dirty="0" err="1"/>
              <a:t>độ</a:t>
            </a:r>
            <a:r>
              <a:rPr lang="en-US" dirty="0"/>
              <a:t> </a:t>
            </a:r>
            <a:r>
              <a:rPr lang="en-US" dirty="0" err="1"/>
              <a:t>khai</a:t>
            </a:r>
            <a:r>
              <a:rPr lang="en-US" dirty="0"/>
              <a:t> </a:t>
            </a:r>
            <a:r>
              <a:rPr lang="en-US" dirty="0" err="1"/>
              <a:t>thác</a:t>
            </a:r>
            <a:r>
              <a:rPr lang="en-US" dirty="0"/>
              <a:t>, </a:t>
            </a:r>
            <a:r>
              <a:rPr lang="en-US" dirty="0" err="1"/>
              <a:t>quản</a:t>
            </a:r>
            <a:r>
              <a:rPr lang="en-US" dirty="0"/>
              <a:t> </a:t>
            </a:r>
            <a:r>
              <a:rPr lang="en-US" dirty="0" err="1"/>
              <a:t>lý</a:t>
            </a:r>
            <a:endParaRPr lang="en-US" dirty="0"/>
          </a:p>
          <a:p>
            <a:pPr lvl="1">
              <a:buFontTx/>
              <a:buChar char="-"/>
            </a:pPr>
            <a:r>
              <a:rPr lang="en-US" dirty="0" err="1"/>
              <a:t>Triển</a:t>
            </a:r>
            <a:r>
              <a:rPr lang="en-US" dirty="0"/>
              <a:t> </a:t>
            </a:r>
            <a:r>
              <a:rPr lang="en-US" dirty="0" err="1"/>
              <a:t>khai</a:t>
            </a:r>
            <a:r>
              <a:rPr lang="en-US" dirty="0"/>
              <a:t> </a:t>
            </a:r>
            <a:r>
              <a:rPr lang="en-US" dirty="0" err="1"/>
              <a:t>nhanh</a:t>
            </a:r>
            <a:r>
              <a:rPr lang="en-US" dirty="0"/>
              <a:t> </a:t>
            </a:r>
          </a:p>
          <a:p>
            <a:r>
              <a:rPr lang="en-US" dirty="0" err="1"/>
              <a:t>Nhược</a:t>
            </a:r>
            <a:r>
              <a:rPr lang="en-US" dirty="0"/>
              <a:t> </a:t>
            </a:r>
            <a:r>
              <a:rPr lang="en-US" dirty="0" err="1"/>
              <a:t>điểm</a:t>
            </a:r>
            <a:endParaRPr lang="en-US" dirty="0"/>
          </a:p>
          <a:p>
            <a:pPr lvl="1">
              <a:buFontTx/>
              <a:buChar char="-"/>
            </a:pPr>
            <a:r>
              <a:rPr lang="en-US" dirty="0" err="1"/>
              <a:t>Thông</a:t>
            </a:r>
            <a:r>
              <a:rPr lang="en-US" dirty="0"/>
              <a:t> tin </a:t>
            </a:r>
            <a:r>
              <a:rPr lang="en-US" dirty="0" err="1"/>
              <a:t>tổ</a:t>
            </a:r>
            <a:r>
              <a:rPr lang="en-US" dirty="0"/>
              <a:t> </a:t>
            </a:r>
            <a:r>
              <a:rPr lang="en-US" dirty="0" err="1"/>
              <a:t>chức</a:t>
            </a:r>
            <a:r>
              <a:rPr lang="en-US" dirty="0"/>
              <a:t> </a:t>
            </a:r>
            <a:r>
              <a:rPr lang="en-US" dirty="0" err="1"/>
              <a:t>riêng</a:t>
            </a:r>
            <a:r>
              <a:rPr lang="en-US" dirty="0"/>
              <a:t> </a:t>
            </a:r>
            <a:r>
              <a:rPr lang="en-US" dirty="0" err="1"/>
              <a:t>rẽ</a:t>
            </a:r>
            <a:r>
              <a:rPr lang="en-US" dirty="0"/>
              <a:t>, </a:t>
            </a:r>
            <a:r>
              <a:rPr lang="en-US" dirty="0" err="1"/>
              <a:t>không</a:t>
            </a:r>
            <a:r>
              <a:rPr lang="en-US" dirty="0"/>
              <a:t> </a:t>
            </a:r>
            <a:r>
              <a:rPr lang="en-US" dirty="0" err="1"/>
              <a:t>nhất</a:t>
            </a:r>
            <a:r>
              <a:rPr lang="en-US" dirty="0"/>
              <a:t> </a:t>
            </a:r>
            <a:r>
              <a:rPr lang="en-US" dirty="0" err="1"/>
              <a:t>quán</a:t>
            </a:r>
            <a:endParaRPr lang="en-US" dirty="0"/>
          </a:p>
          <a:p>
            <a:pPr lvl="1">
              <a:buFontTx/>
              <a:buChar char="-"/>
            </a:pPr>
            <a:r>
              <a:rPr lang="en-US" dirty="0" err="1"/>
              <a:t>Thiếu</a:t>
            </a:r>
            <a:r>
              <a:rPr lang="en-US" dirty="0"/>
              <a:t> </a:t>
            </a:r>
            <a:r>
              <a:rPr lang="en-US" dirty="0" err="1"/>
              <a:t>sự</a:t>
            </a:r>
            <a:r>
              <a:rPr lang="en-US" dirty="0"/>
              <a:t> chia </a:t>
            </a:r>
            <a:r>
              <a:rPr lang="en-US" dirty="0" err="1"/>
              <a:t>sẻ</a:t>
            </a:r>
            <a:r>
              <a:rPr lang="en-US" dirty="0"/>
              <a:t> </a:t>
            </a:r>
            <a:r>
              <a:rPr lang="en-US" dirty="0" err="1"/>
              <a:t>thông</a:t>
            </a:r>
            <a:r>
              <a:rPr lang="en-US" dirty="0"/>
              <a:t> tin</a:t>
            </a:r>
          </a:p>
          <a:p>
            <a:pPr lvl="1">
              <a:buFontTx/>
              <a:buChar char="-"/>
            </a:pPr>
            <a:r>
              <a:rPr lang="en-US" dirty="0" err="1"/>
              <a:t>Khó</a:t>
            </a:r>
            <a:r>
              <a:rPr lang="en-US" dirty="0"/>
              <a:t> </a:t>
            </a:r>
            <a:r>
              <a:rPr lang="en-US" dirty="0" err="1"/>
              <a:t>quản</a:t>
            </a:r>
            <a:r>
              <a:rPr lang="en-US" dirty="0"/>
              <a:t> </a:t>
            </a:r>
            <a:r>
              <a:rPr lang="en-US" dirty="0" err="1"/>
              <a:t>lý</a:t>
            </a:r>
            <a:r>
              <a:rPr lang="en-US" dirty="0"/>
              <a:t>, </a:t>
            </a:r>
            <a:r>
              <a:rPr lang="en-US" dirty="0" err="1"/>
              <a:t>kiểm</a:t>
            </a:r>
            <a:r>
              <a:rPr lang="en-US" dirty="0"/>
              <a:t> </a:t>
            </a:r>
            <a:r>
              <a:rPr lang="en-US" dirty="0" err="1"/>
              <a:t>soát</a:t>
            </a:r>
            <a:r>
              <a:rPr lang="en-US" dirty="0"/>
              <a:t> </a:t>
            </a:r>
            <a:r>
              <a:rPr lang="en-US" dirty="0" err="1"/>
              <a:t>khi</a:t>
            </a:r>
            <a:r>
              <a:rPr lang="en-US" dirty="0"/>
              <a:t> </a:t>
            </a:r>
            <a:r>
              <a:rPr lang="en-US" dirty="0" err="1"/>
              <a:t>lượng</a:t>
            </a:r>
            <a:r>
              <a:rPr lang="en-US" dirty="0"/>
              <a:t> </a:t>
            </a:r>
            <a:r>
              <a:rPr lang="en-US" dirty="0" err="1"/>
              <a:t>các</a:t>
            </a:r>
            <a:r>
              <a:rPr lang="en-US" dirty="0"/>
              <a:t> file </a:t>
            </a:r>
            <a:r>
              <a:rPr lang="en-US" dirty="0" err="1"/>
              <a:t>lưu</a:t>
            </a:r>
            <a:r>
              <a:rPr lang="en-US" dirty="0"/>
              <a:t> </a:t>
            </a:r>
            <a:r>
              <a:rPr lang="en-US" dirty="0" err="1"/>
              <a:t>trữ</a:t>
            </a:r>
            <a:r>
              <a:rPr lang="en-US" dirty="0"/>
              <a:t> </a:t>
            </a:r>
            <a:r>
              <a:rPr lang="en-US" dirty="0" err="1"/>
              <a:t>lớn</a:t>
            </a:r>
            <a:r>
              <a:rPr lang="en-US" dirty="0"/>
              <a:t> </a:t>
            </a:r>
            <a:r>
              <a:rPr lang="en-US" dirty="0" err="1"/>
              <a:t>hoặc</a:t>
            </a:r>
            <a:r>
              <a:rPr lang="en-US" dirty="0"/>
              <a:t> </a:t>
            </a:r>
            <a:r>
              <a:rPr lang="en-US" dirty="0" err="1"/>
              <a:t>dữ</a:t>
            </a:r>
            <a:r>
              <a:rPr lang="en-US" dirty="0"/>
              <a:t> </a:t>
            </a:r>
            <a:r>
              <a:rPr lang="en-US" dirty="0" err="1"/>
              <a:t>liệu</a:t>
            </a:r>
            <a:r>
              <a:rPr lang="en-US" dirty="0"/>
              <a:t> </a:t>
            </a:r>
            <a:r>
              <a:rPr lang="en-US" dirty="0" err="1"/>
              <a:t>trong</a:t>
            </a:r>
            <a:r>
              <a:rPr lang="en-US" dirty="0"/>
              <a:t> </a:t>
            </a:r>
            <a:r>
              <a:rPr lang="en-US" dirty="0" err="1"/>
              <a:t>các</a:t>
            </a:r>
            <a:r>
              <a:rPr lang="en-US" dirty="0"/>
              <a:t> file </a:t>
            </a:r>
            <a:r>
              <a:rPr lang="en-US" dirty="0" err="1"/>
              <a:t>lớn</a:t>
            </a:r>
            <a:endParaRPr lang="en-US" dirty="0"/>
          </a:p>
        </p:txBody>
      </p:sp>
    </p:spTree>
    <p:extLst>
      <p:ext uri="{BB962C8B-B14F-4D97-AF65-F5344CB8AC3E}">
        <p14:creationId xmlns:p14="http://schemas.microsoft.com/office/powerpoint/2010/main" val="2679094298"/>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1403" y="1194745"/>
            <a:ext cx="7981005" cy="5247511"/>
          </a:xfrm>
          <a:prstGeom prst="rect">
            <a:avLst/>
          </a:prstGeom>
        </p:spPr>
      </p:pic>
    </p:spTree>
    <p:extLst>
      <p:ext uri="{BB962C8B-B14F-4D97-AF65-F5344CB8AC3E}">
        <p14:creationId xmlns:p14="http://schemas.microsoft.com/office/powerpoint/2010/main" val="2236478483"/>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title"/>
          </p:nvPr>
        </p:nvSpPr>
        <p:spPr>
          <a:xfrm>
            <a:off x="533401" y="406401"/>
            <a:ext cx="11125200" cy="527251"/>
          </a:xfrm>
          <a:prstGeom prst="rect">
            <a:avLst/>
          </a:prstGeom>
          <a:noFill/>
          <a:ln>
            <a:noFill/>
          </a:ln>
        </p:spPr>
        <p:txBody>
          <a:bodyPr spcFirstLastPara="1" wrap="square" lIns="0" tIns="0" rIns="0" bIns="0" anchor="b" anchorCtr="0">
            <a:noAutofit/>
          </a:bodyPr>
          <a:lstStyle/>
          <a:p>
            <a:pPr marL="0" lvl="0" indent="0" algn="l" rtl="0">
              <a:lnSpc>
                <a:spcPct val="80000"/>
              </a:lnSpc>
              <a:spcBef>
                <a:spcPts val="0"/>
              </a:spcBef>
              <a:spcAft>
                <a:spcPts val="0"/>
              </a:spcAft>
              <a:buClr>
                <a:schemeClr val="dk1"/>
              </a:buClr>
              <a:buSzPts val="1400"/>
              <a:buFont typeface="Tahoma"/>
              <a:buNone/>
            </a:pPr>
            <a:r>
              <a:rPr lang="en-US" sz="4000" b="1">
                <a:latin typeface="Tahoma"/>
                <a:ea typeface="Tahoma"/>
                <a:cs typeface="Tahoma"/>
                <a:sym typeface="Tahoma"/>
              </a:rPr>
              <a:t>Chúng ta thấy:</a:t>
            </a:r>
            <a:endParaRPr sz="4000" b="1">
              <a:latin typeface="Tahoma"/>
              <a:ea typeface="Tahoma"/>
              <a:cs typeface="Tahoma"/>
              <a:sym typeface="Tahoma"/>
            </a:endParaRPr>
          </a:p>
        </p:txBody>
      </p:sp>
      <p:sp>
        <p:nvSpPr>
          <p:cNvPr id="108" name="Google Shape;108;p2"/>
          <p:cNvSpPr txBox="1">
            <a:spLocks noGrp="1"/>
          </p:cNvSpPr>
          <p:nvPr>
            <p:ph type="body" idx="1"/>
          </p:nvPr>
        </p:nvSpPr>
        <p:spPr>
          <a:xfrm>
            <a:off x="532739" y="1347538"/>
            <a:ext cx="11126522" cy="4596063"/>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2400"/>
              <a:buNone/>
            </a:pPr>
            <a:r>
              <a:rPr lang="en-US" sz="2400">
                <a:latin typeface="Tahoma"/>
                <a:ea typeface="Tahoma"/>
                <a:cs typeface="Tahoma"/>
                <a:sym typeface="Tahoma"/>
              </a:rPr>
              <a:t>	</a:t>
            </a:r>
            <a:endParaRPr sz="2400">
              <a:latin typeface="Tahoma"/>
              <a:ea typeface="Tahoma"/>
              <a:cs typeface="Tahoma"/>
              <a:sym typeface="Tahoma"/>
            </a:endParaRPr>
          </a:p>
        </p:txBody>
      </p:sp>
      <p:sp>
        <p:nvSpPr>
          <p:cNvPr id="109" name="Google Shape;109;p2"/>
          <p:cNvSpPr txBox="1">
            <a:spLocks noGrp="1"/>
          </p:cNvSpPr>
          <p:nvPr>
            <p:ph type="ftr" idx="11"/>
          </p:nvPr>
        </p:nvSpPr>
        <p:spPr>
          <a:xfrm>
            <a:off x="8623302" y="6556376"/>
            <a:ext cx="2701925" cy="18256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888888"/>
              </a:buClr>
              <a:buSzPts val="1400"/>
              <a:buFont typeface="Calibri"/>
              <a:buNone/>
            </a:pPr>
            <a:r>
              <a:rPr lang="en-US"/>
              <a:t>Confidential – Oracle Restricted</a:t>
            </a:r>
            <a:endParaRPr/>
          </a:p>
        </p:txBody>
      </p:sp>
      <p:sp>
        <p:nvSpPr>
          <p:cNvPr id="110" name="Google Shape;110;p2"/>
          <p:cNvSpPr txBox="1">
            <a:spLocks noGrp="1"/>
          </p:cNvSpPr>
          <p:nvPr>
            <p:ph type="sldNum" idx="12"/>
          </p:nvPr>
        </p:nvSpPr>
        <p:spPr>
          <a:xfrm>
            <a:off x="11325227" y="6556376"/>
            <a:ext cx="333375" cy="182563"/>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dk1"/>
              </a:buClr>
              <a:buSzPts val="800"/>
              <a:buFont typeface="Calibri"/>
              <a:buNone/>
            </a:pPr>
            <a:fld id="{00000000-1234-1234-1234-123412341234}" type="slidenum">
              <a:rPr lang="en-US"/>
              <a:t>6</a:t>
            </a:fld>
            <a:endParaRPr/>
          </a:p>
        </p:txBody>
      </p:sp>
      <p:sp>
        <p:nvSpPr>
          <p:cNvPr id="111" name="Google Shape;111;p2"/>
          <p:cNvSpPr/>
          <p:nvPr/>
        </p:nvSpPr>
        <p:spPr>
          <a:xfrm>
            <a:off x="5975511" y="6557164"/>
            <a:ext cx="4628831" cy="182563"/>
          </a:xfrm>
          <a:prstGeom prst="rect">
            <a:avLst/>
          </a:prstGeom>
          <a:solidFill>
            <a:srgbClr val="D1DDE5"/>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12" name="Google Shape;112;p2"/>
          <p:cNvPicPr preferRelativeResize="0"/>
          <p:nvPr/>
        </p:nvPicPr>
        <p:blipFill rotWithShape="1">
          <a:blip r:embed="rId3">
            <a:alphaModFix/>
          </a:blip>
          <a:srcRect/>
          <a:stretch/>
        </p:blipFill>
        <p:spPr>
          <a:xfrm>
            <a:off x="366714" y="1094705"/>
            <a:ext cx="11125200" cy="523507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23" name="Arrow: Right 22">
            <a:extLst>
              <a:ext uri="{FF2B5EF4-FFF2-40B4-BE49-F238E27FC236}">
                <a16:creationId xmlns:a16="http://schemas.microsoft.com/office/drawing/2014/main" id="{0C91EF6D-FCA1-40E1-A304-2A135918AB2E}"/>
              </a:ext>
            </a:extLst>
          </p:cNvPr>
          <p:cNvSpPr/>
          <p:nvPr/>
        </p:nvSpPr>
        <p:spPr>
          <a:xfrm rot="10800000">
            <a:off x="3111270" y="3219691"/>
            <a:ext cx="6060484" cy="426709"/>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0" name="Google Shape;130;p4"/>
          <p:cNvSpPr txBox="1">
            <a:spLocks noGrp="1"/>
          </p:cNvSpPr>
          <p:nvPr>
            <p:ph type="sldNum" idx="12"/>
          </p:nvPr>
        </p:nvSpPr>
        <p:spPr>
          <a:xfrm>
            <a:off x="11325227" y="6556376"/>
            <a:ext cx="333375" cy="182563"/>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dk1"/>
              </a:buClr>
              <a:buSzPts val="800"/>
              <a:buFont typeface="Calibri"/>
              <a:buNone/>
            </a:pPr>
            <a:fld id="{00000000-1234-1234-1234-123412341234}" type="slidenum">
              <a:rPr lang="en-US"/>
              <a:t>7</a:t>
            </a:fld>
            <a:endParaRPr/>
          </a:p>
        </p:txBody>
      </p:sp>
      <p:pic>
        <p:nvPicPr>
          <p:cNvPr id="132" name="Google Shape;132;p4"/>
          <p:cNvPicPr preferRelativeResize="0"/>
          <p:nvPr/>
        </p:nvPicPr>
        <p:blipFill rotWithShape="1">
          <a:blip r:embed="rId3">
            <a:alphaModFix/>
          </a:blip>
          <a:srcRect/>
          <a:stretch/>
        </p:blipFill>
        <p:spPr>
          <a:xfrm>
            <a:off x="908179" y="2301367"/>
            <a:ext cx="1973171" cy="1558102"/>
          </a:xfrm>
          <a:prstGeom prst="rect">
            <a:avLst/>
          </a:prstGeom>
          <a:noFill/>
          <a:ln>
            <a:noFill/>
          </a:ln>
        </p:spPr>
      </p:pic>
      <p:sp>
        <p:nvSpPr>
          <p:cNvPr id="137" name="Google Shape;137;p4"/>
          <p:cNvSpPr/>
          <p:nvPr/>
        </p:nvSpPr>
        <p:spPr>
          <a:xfrm>
            <a:off x="9305158" y="2509856"/>
            <a:ext cx="1858852" cy="1429554"/>
          </a:xfrm>
          <a:prstGeom prst="flowChartMagneticDisk">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Nơi lưu trữ thông tin, dữ liệu</a:t>
            </a:r>
            <a:endParaRPr sz="1800" b="0" i="0" u="none" strike="noStrike" cap="none">
              <a:solidFill>
                <a:schemeClr val="lt1"/>
              </a:solidFill>
              <a:latin typeface="Calibri"/>
              <a:ea typeface="Calibri"/>
              <a:cs typeface="Calibri"/>
              <a:sym typeface="Calibri"/>
            </a:endParaRPr>
          </a:p>
        </p:txBody>
      </p:sp>
      <p:sp>
        <p:nvSpPr>
          <p:cNvPr id="139" name="Google Shape;139;p4"/>
          <p:cNvSpPr txBox="1"/>
          <p:nvPr/>
        </p:nvSpPr>
        <p:spPr>
          <a:xfrm>
            <a:off x="5596433" y="3250156"/>
            <a:ext cx="2142603"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Tra cứu thông tin</a:t>
            </a:r>
            <a:endParaRPr sz="1800">
              <a:solidFill>
                <a:schemeClr val="dk1"/>
              </a:solidFill>
              <a:latin typeface="Calibri"/>
              <a:ea typeface="Calibri"/>
              <a:cs typeface="Calibri"/>
              <a:sym typeface="Calibri"/>
            </a:endParaRPr>
          </a:p>
        </p:txBody>
      </p:sp>
      <p:sp>
        <p:nvSpPr>
          <p:cNvPr id="2" name="Arrow: Right 1">
            <a:extLst>
              <a:ext uri="{FF2B5EF4-FFF2-40B4-BE49-F238E27FC236}">
                <a16:creationId xmlns:a16="http://schemas.microsoft.com/office/drawing/2014/main" id="{34F4A5B3-0470-40F9-BEE3-D218C4015070}"/>
              </a:ext>
            </a:extLst>
          </p:cNvPr>
          <p:cNvSpPr/>
          <p:nvPr/>
        </p:nvSpPr>
        <p:spPr>
          <a:xfrm>
            <a:off x="3139821" y="2597354"/>
            <a:ext cx="6060484" cy="4267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Google Shape;112;p2">
            <a:extLst>
              <a:ext uri="{FF2B5EF4-FFF2-40B4-BE49-F238E27FC236}">
                <a16:creationId xmlns:a16="http://schemas.microsoft.com/office/drawing/2014/main" id="{DD2691B3-9739-48D9-9891-9E2D99F03715}"/>
              </a:ext>
            </a:extLst>
          </p:cNvPr>
          <p:cNvPicPr preferRelativeResize="0"/>
          <p:nvPr/>
        </p:nvPicPr>
        <p:blipFill rotWithShape="1">
          <a:blip r:embed="rId4">
            <a:alphaModFix/>
          </a:blip>
          <a:srcRect t="4431" r="63544" b="37911"/>
          <a:stretch/>
        </p:blipFill>
        <p:spPr>
          <a:xfrm>
            <a:off x="181232" y="0"/>
            <a:ext cx="3502365" cy="2401440"/>
          </a:xfrm>
          <a:prstGeom prst="rect">
            <a:avLst/>
          </a:prstGeom>
          <a:noFill/>
          <a:ln>
            <a:noFill/>
          </a:ln>
        </p:spPr>
      </p:pic>
      <p:graphicFrame>
        <p:nvGraphicFramePr>
          <p:cNvPr id="5" name="Table 5">
            <a:extLst>
              <a:ext uri="{FF2B5EF4-FFF2-40B4-BE49-F238E27FC236}">
                <a16:creationId xmlns:a16="http://schemas.microsoft.com/office/drawing/2014/main" id="{79D7D1A6-72CB-4DB0-BDB9-CB17BCE2B71A}"/>
              </a:ext>
            </a:extLst>
          </p:cNvPr>
          <p:cNvGraphicFramePr>
            <a:graphicFrameLocks noGrp="1"/>
          </p:cNvGraphicFramePr>
          <p:nvPr>
            <p:extLst>
              <p:ext uri="{D42A27DB-BD31-4B8C-83A1-F6EECF244321}">
                <p14:modId xmlns:p14="http://schemas.microsoft.com/office/powerpoint/2010/main" val="332283231"/>
              </p:ext>
            </p:extLst>
          </p:nvPr>
        </p:nvGraphicFramePr>
        <p:xfrm>
          <a:off x="6584267" y="1512907"/>
          <a:ext cx="5462730" cy="888033"/>
        </p:xfrm>
        <a:graphic>
          <a:graphicData uri="http://schemas.openxmlformats.org/drawingml/2006/table">
            <a:tbl>
              <a:tblPr firstRow="1" bandRow="1">
                <a:tableStyleId>{6C239858-8D09-44BC-B0F5-D56A4BC3F1E4}</a:tableStyleId>
              </a:tblPr>
              <a:tblGrid>
                <a:gridCol w="897555">
                  <a:extLst>
                    <a:ext uri="{9D8B030D-6E8A-4147-A177-3AD203B41FA5}">
                      <a16:colId xmlns:a16="http://schemas.microsoft.com/office/drawing/2014/main" val="1627132900"/>
                    </a:ext>
                  </a:extLst>
                </a:gridCol>
                <a:gridCol w="1065390">
                  <a:extLst>
                    <a:ext uri="{9D8B030D-6E8A-4147-A177-3AD203B41FA5}">
                      <a16:colId xmlns:a16="http://schemas.microsoft.com/office/drawing/2014/main" val="3624337236"/>
                    </a:ext>
                  </a:extLst>
                </a:gridCol>
                <a:gridCol w="3499785">
                  <a:extLst>
                    <a:ext uri="{9D8B030D-6E8A-4147-A177-3AD203B41FA5}">
                      <a16:colId xmlns:a16="http://schemas.microsoft.com/office/drawing/2014/main" val="2310320367"/>
                    </a:ext>
                  </a:extLst>
                </a:gridCol>
              </a:tblGrid>
              <a:tr h="296011">
                <a:tc gridSpan="3">
                  <a:txBody>
                    <a:bodyPr/>
                    <a:lstStyle/>
                    <a:p>
                      <a:pPr algn="ctr"/>
                      <a:r>
                        <a:rPr lang="en-US" sz="1200" b="1"/>
                        <a:t>Bảng thông tin Khách Hàng</a:t>
                      </a:r>
                      <a:endParaRPr lang="en-GB" sz="1200" b="1"/>
                    </a:p>
                  </a:txBody>
                  <a:tcPr>
                    <a:solidFill>
                      <a:schemeClr val="accent1">
                        <a:lumMod val="60000"/>
                        <a:lumOff val="40000"/>
                      </a:schemeClr>
                    </a:solidFill>
                  </a:tcPr>
                </a:tc>
                <a:tc hMerge="1">
                  <a:txBody>
                    <a:bodyPr/>
                    <a:lstStyle/>
                    <a:p>
                      <a:pPr algn="ctr"/>
                      <a:endParaRPr lang="en-GB" b="1"/>
                    </a:p>
                  </a:txBody>
                  <a:tcPr>
                    <a:solidFill>
                      <a:schemeClr val="accent1">
                        <a:lumMod val="60000"/>
                        <a:lumOff val="40000"/>
                      </a:schemeClr>
                    </a:solidFill>
                  </a:tcPr>
                </a:tc>
                <a:tc hMerge="1">
                  <a:txBody>
                    <a:bodyPr/>
                    <a:lstStyle/>
                    <a:p>
                      <a:pPr algn="ctr"/>
                      <a:endParaRPr lang="en-GB" b="1"/>
                    </a:p>
                  </a:txBody>
                  <a:tcPr>
                    <a:solidFill>
                      <a:schemeClr val="accent1">
                        <a:lumMod val="60000"/>
                        <a:lumOff val="40000"/>
                      </a:schemeClr>
                    </a:solidFill>
                  </a:tcPr>
                </a:tc>
                <a:extLst>
                  <a:ext uri="{0D108BD9-81ED-4DB2-BD59-A6C34878D82A}">
                    <a16:rowId xmlns:a16="http://schemas.microsoft.com/office/drawing/2014/main" val="1947116539"/>
                  </a:ext>
                </a:extLst>
              </a:tr>
              <a:tr h="296011">
                <a:tc>
                  <a:txBody>
                    <a:bodyPr/>
                    <a:lstStyle/>
                    <a:p>
                      <a:pPr algn="ctr"/>
                      <a:r>
                        <a:rPr lang="en-US" sz="1200" b="1"/>
                        <a:t>Tên KH</a:t>
                      </a:r>
                      <a:endParaRPr lang="en-GB" sz="1200" b="1"/>
                    </a:p>
                  </a:txBody>
                  <a:tcPr>
                    <a:solidFill>
                      <a:schemeClr val="accent1">
                        <a:lumMod val="60000"/>
                        <a:lumOff val="40000"/>
                      </a:schemeClr>
                    </a:solidFill>
                  </a:tcPr>
                </a:tc>
                <a:tc>
                  <a:txBody>
                    <a:bodyPr/>
                    <a:lstStyle/>
                    <a:p>
                      <a:pPr algn="ctr"/>
                      <a:r>
                        <a:rPr lang="en-US" sz="1200" b="1"/>
                        <a:t>SĐT</a:t>
                      </a:r>
                      <a:endParaRPr lang="en-GB" sz="1200" b="1"/>
                    </a:p>
                  </a:txBody>
                  <a:tcPr>
                    <a:solidFill>
                      <a:schemeClr val="accent1">
                        <a:lumMod val="60000"/>
                        <a:lumOff val="40000"/>
                      </a:schemeClr>
                    </a:solidFill>
                  </a:tcPr>
                </a:tc>
                <a:tc>
                  <a:txBody>
                    <a:bodyPr/>
                    <a:lstStyle/>
                    <a:p>
                      <a:pPr algn="ctr"/>
                      <a:r>
                        <a:rPr lang="en-US" sz="1200" b="1"/>
                        <a:t>Địa chỉ</a:t>
                      </a:r>
                      <a:endParaRPr lang="en-GB" sz="1200" b="1"/>
                    </a:p>
                  </a:txBody>
                  <a:tcPr>
                    <a:solidFill>
                      <a:schemeClr val="accent1">
                        <a:lumMod val="60000"/>
                        <a:lumOff val="40000"/>
                      </a:schemeClr>
                    </a:solidFill>
                  </a:tcPr>
                </a:tc>
                <a:extLst>
                  <a:ext uri="{0D108BD9-81ED-4DB2-BD59-A6C34878D82A}">
                    <a16:rowId xmlns:a16="http://schemas.microsoft.com/office/drawing/2014/main" val="3237417564"/>
                  </a:ext>
                </a:extLst>
              </a:tr>
              <a:tr h="296011">
                <a:tc>
                  <a:txBody>
                    <a:bodyPr/>
                    <a:lstStyle/>
                    <a:p>
                      <a:r>
                        <a:rPr lang="en-US" sz="1200"/>
                        <a:t>Chị Loan</a:t>
                      </a:r>
                      <a:endParaRPr lang="en-GB" sz="1200"/>
                    </a:p>
                  </a:txBody>
                  <a:tcPr/>
                </a:tc>
                <a:tc>
                  <a:txBody>
                    <a:bodyPr/>
                    <a:lstStyle/>
                    <a:p>
                      <a:r>
                        <a:rPr lang="en-US" sz="1200"/>
                        <a:t>0979089863</a:t>
                      </a:r>
                      <a:endParaRPr lang="en-GB" sz="1200"/>
                    </a:p>
                  </a:txBody>
                  <a:tcPr/>
                </a:tc>
                <a:tc>
                  <a:txBody>
                    <a:bodyPr/>
                    <a:lstStyle/>
                    <a:p>
                      <a:r>
                        <a:rPr lang="en-US" sz="1200"/>
                        <a:t>Thôn 3, xã Th</a:t>
                      </a:r>
                      <a:r>
                        <a:rPr lang="vi-VN" sz="1200"/>
                        <a:t>ư</a:t>
                      </a:r>
                      <a:r>
                        <a:rPr lang="en-US" sz="1200"/>
                        <a:t>ợng Đông, Tam Nông, Phú Thọ</a:t>
                      </a:r>
                      <a:endParaRPr lang="en-GB" sz="1200"/>
                    </a:p>
                  </a:txBody>
                  <a:tcPr/>
                </a:tc>
                <a:extLst>
                  <a:ext uri="{0D108BD9-81ED-4DB2-BD59-A6C34878D82A}">
                    <a16:rowId xmlns:a16="http://schemas.microsoft.com/office/drawing/2014/main" val="324511826"/>
                  </a:ext>
                </a:extLst>
              </a:tr>
            </a:tbl>
          </a:graphicData>
        </a:graphic>
      </p:graphicFrame>
      <p:pic>
        <p:nvPicPr>
          <p:cNvPr id="24" name="Google Shape;122;p3">
            <a:extLst>
              <a:ext uri="{FF2B5EF4-FFF2-40B4-BE49-F238E27FC236}">
                <a16:creationId xmlns:a16="http://schemas.microsoft.com/office/drawing/2014/main" id="{4447A559-A965-4D4A-ADE0-12352FD853CA}"/>
              </a:ext>
            </a:extLst>
          </p:cNvPr>
          <p:cNvPicPr preferRelativeResize="0"/>
          <p:nvPr/>
        </p:nvPicPr>
        <p:blipFill rotWithShape="1">
          <a:blip r:embed="rId5">
            <a:alphaModFix/>
          </a:blip>
          <a:srcRect r="46408"/>
          <a:stretch/>
        </p:blipFill>
        <p:spPr>
          <a:xfrm>
            <a:off x="4713516" y="3622173"/>
            <a:ext cx="3403726" cy="3025484"/>
          </a:xfrm>
          <a:prstGeom prst="rect">
            <a:avLst/>
          </a:prstGeom>
          <a:noFill/>
          <a:ln>
            <a:noFill/>
          </a:ln>
        </p:spPr>
      </p:pic>
      <p:sp>
        <p:nvSpPr>
          <p:cNvPr id="138" name="Google Shape;138;p4"/>
          <p:cNvSpPr txBox="1"/>
          <p:nvPr/>
        </p:nvSpPr>
        <p:spPr>
          <a:xfrm>
            <a:off x="5029968" y="2616803"/>
            <a:ext cx="2223087"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L</a:t>
            </a:r>
            <a:r>
              <a:rPr lang="vi-VN" sz="1800" b="0" i="0" u="none" strike="noStrike" cap="none">
                <a:solidFill>
                  <a:schemeClr val="dk1"/>
                </a:solidFill>
                <a:latin typeface="Calibri"/>
                <a:ea typeface="Calibri"/>
                <a:cs typeface="Calibri"/>
                <a:sym typeface="Calibri"/>
              </a:rPr>
              <a:t>ư</a:t>
            </a:r>
            <a:r>
              <a:rPr lang="en-US" sz="1800" b="0" i="0" u="none" strike="noStrike" cap="none">
                <a:solidFill>
                  <a:schemeClr val="dk1"/>
                </a:solidFill>
                <a:latin typeface="Calibri"/>
                <a:ea typeface="Calibri"/>
                <a:cs typeface="Calibri"/>
                <a:sym typeface="Calibri"/>
              </a:rPr>
              <a:t>u trữ thông tin</a:t>
            </a:r>
            <a:endParaRPr sz="1800">
              <a:solidFill>
                <a:schemeClr val="dk1"/>
              </a:solidFill>
              <a:latin typeface="Calibri"/>
              <a:ea typeface="Calibri"/>
              <a:cs typeface="Calibri"/>
              <a:sym typeface="Calibri"/>
            </a:endParaRPr>
          </a:p>
        </p:txBody>
      </p:sp>
      <p:sp>
        <p:nvSpPr>
          <p:cNvPr id="9" name="TextBox 8">
            <a:extLst>
              <a:ext uri="{FF2B5EF4-FFF2-40B4-BE49-F238E27FC236}">
                <a16:creationId xmlns:a16="http://schemas.microsoft.com/office/drawing/2014/main" id="{6B6BEBD0-B615-420B-88EB-8F7E8D363C85}"/>
              </a:ext>
            </a:extLst>
          </p:cNvPr>
          <p:cNvSpPr txBox="1"/>
          <p:nvPr/>
        </p:nvSpPr>
        <p:spPr>
          <a:xfrm>
            <a:off x="9377362" y="4078548"/>
            <a:ext cx="2114552" cy="400110"/>
          </a:xfrm>
          <a:prstGeom prst="rect">
            <a:avLst/>
          </a:prstGeom>
          <a:noFill/>
        </p:spPr>
        <p:txBody>
          <a:bodyPr wrap="square" rtlCol="0">
            <a:spAutoFit/>
          </a:bodyPr>
          <a:lstStyle/>
          <a:p>
            <a:r>
              <a:rPr lang="en-US" sz="2000"/>
              <a:t>C</a:t>
            </a:r>
            <a:r>
              <a:rPr lang="vi-VN" sz="2000"/>
              <a:t>ơ</a:t>
            </a:r>
            <a:r>
              <a:rPr lang="en-US" sz="2000"/>
              <a:t> sở dữ liệu</a:t>
            </a:r>
            <a:endParaRPr lang="en-GB" sz="20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wipe(left)">
                                      <p:cBhvr>
                                        <p:cTn id="7" dur="500"/>
                                        <p:tgtEl>
                                          <p:spTgt spid="138"/>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500"/>
                            </p:stCondLst>
                            <p:childTnLst>
                              <p:par>
                                <p:cTn id="15" presetID="22" presetClass="entr" presetSubtype="4" fill="hold" grpId="0" nodeType="afterEffect">
                                  <p:stCondLst>
                                    <p:cond delay="0"/>
                                  </p:stCondLst>
                                  <p:childTnLst>
                                    <p:set>
                                      <p:cBhvr>
                                        <p:cTn id="16" dur="1" fill="hold">
                                          <p:stCondLst>
                                            <p:cond delay="0"/>
                                          </p:stCondLst>
                                        </p:cTn>
                                        <p:tgtEl>
                                          <p:spTgt spid="137"/>
                                        </p:tgtEl>
                                        <p:attrNameLst>
                                          <p:attrName>style.visibility</p:attrName>
                                        </p:attrNameLst>
                                      </p:cBhvr>
                                      <p:to>
                                        <p:strVal val="visible"/>
                                      </p:to>
                                    </p:set>
                                    <p:animEffect transition="in" filter="wipe(down)">
                                      <p:cBhvr>
                                        <p:cTn id="17" dur="500"/>
                                        <p:tgtEl>
                                          <p:spTgt spid="13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500"/>
                                        <p:tgtEl>
                                          <p:spTgt spid="2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39"/>
                                        </p:tgtEl>
                                        <p:attrNameLst>
                                          <p:attrName>style.visibility</p:attrName>
                                        </p:attrNameLst>
                                      </p:cBhvr>
                                      <p:to>
                                        <p:strVal val="visible"/>
                                      </p:to>
                                    </p:set>
                                    <p:animEffect transition="in" filter="wipe(down)">
                                      <p:cBhvr>
                                        <p:cTn id="25" dur="500"/>
                                        <p:tgtEl>
                                          <p:spTgt spid="139"/>
                                        </p:tgtEl>
                                      </p:cBhvr>
                                    </p:animEffect>
                                  </p:childTnLst>
                                </p:cTn>
                              </p:par>
                              <p:par>
                                <p:cTn id="26" presetID="22" presetClass="entr" presetSubtype="4" fill="hold"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down)">
                                      <p:cBhvr>
                                        <p:cTn id="28" dur="5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37" grpId="0" animBg="1"/>
      <p:bldP spid="139" grpId="0"/>
      <p:bldP spid="2" grpId="0" animBg="1"/>
      <p:bldP spid="13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4" name="Text Placeholder 2"/>
          <p:cNvSpPr>
            <a:spLocks noGrp="1"/>
          </p:cNvSpPr>
          <p:nvPr>
            <p:ph type="body" idx="1"/>
          </p:nvPr>
        </p:nvSpPr>
        <p:spPr>
          <a:xfrm>
            <a:off x="344003" y="1138216"/>
            <a:ext cx="11129420" cy="4678923"/>
          </a:xfrm>
        </p:spPr>
        <p:txBody>
          <a:bodyPr/>
          <a:lstStyle/>
          <a:p>
            <a:r>
              <a:rPr lang="vi-VN"/>
              <a:t>Cơ sở dữ liệu là cách thức tổ chức lưu trữ dữ liệu hiệu quả để đảm bảo việc nhập và khai thác dữ liệu nhanh và chính xác</a:t>
            </a:r>
            <a:endParaRPr lang="en-US"/>
          </a:p>
          <a:p>
            <a:r>
              <a:rPr lang="en-US"/>
              <a:t>Ví </a:t>
            </a:r>
            <a:r>
              <a:rPr lang="en-US" dirty="0" err="1"/>
              <a:t>dụ</a:t>
            </a:r>
            <a:r>
              <a:rPr lang="en-US" dirty="0"/>
              <a:t>: </a:t>
            </a:r>
          </a:p>
          <a:p>
            <a:pPr lvl="1">
              <a:buFontTx/>
              <a:buChar char="-"/>
            </a:pP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bán</a:t>
            </a:r>
            <a:r>
              <a:rPr lang="en-US" dirty="0"/>
              <a:t> </a:t>
            </a:r>
            <a:r>
              <a:rPr lang="en-US" dirty="0" err="1"/>
              <a:t>hàng</a:t>
            </a:r>
            <a:endParaRPr lang="en-US" dirty="0"/>
          </a:p>
          <a:p>
            <a:pPr lvl="1">
              <a:buFontTx/>
              <a:buChar char="-"/>
            </a:pPr>
            <a:r>
              <a:rPr lang="en-US" dirty="0" err="1"/>
              <a:t>Cơ</a:t>
            </a:r>
            <a:r>
              <a:rPr lang="en-US" dirty="0"/>
              <a:t> </a:t>
            </a:r>
            <a:r>
              <a:rPr lang="en-US" dirty="0" err="1"/>
              <a:t>sở</a:t>
            </a:r>
            <a:r>
              <a:rPr lang="en-US" dirty="0"/>
              <a:t> </a:t>
            </a:r>
            <a:r>
              <a:rPr lang="en-US" dirty="0" err="1"/>
              <a:t>dữ</a:t>
            </a:r>
            <a:r>
              <a:rPr lang="en-US" dirty="0"/>
              <a:t> </a:t>
            </a:r>
            <a:r>
              <a:rPr lang="en-US" err="1"/>
              <a:t>liệu</a:t>
            </a:r>
            <a:r>
              <a:rPr lang="en-US"/>
              <a:t> tính l</a:t>
            </a:r>
            <a:r>
              <a:rPr lang="vi-VN"/>
              <a:t>ư</a:t>
            </a:r>
            <a:r>
              <a:rPr lang="en-US"/>
              <a:t>ơng</a:t>
            </a:r>
            <a:endParaRPr lang="en-US" dirty="0"/>
          </a:p>
          <a:p>
            <a:pPr lvl="1">
              <a:buFontTx/>
              <a:buChar char="-"/>
            </a:pPr>
            <a:r>
              <a:rPr lang="en-US" dirty="0" err="1"/>
              <a:t>Cơ</a:t>
            </a:r>
            <a:r>
              <a:rPr lang="en-US" dirty="0"/>
              <a:t> </a:t>
            </a:r>
            <a:r>
              <a:rPr lang="en-US" dirty="0" err="1"/>
              <a:t>sở</a:t>
            </a:r>
            <a:r>
              <a:rPr lang="en-US" dirty="0"/>
              <a:t> </a:t>
            </a:r>
            <a:r>
              <a:rPr lang="en-US" dirty="0" err="1"/>
              <a:t>dữ</a:t>
            </a:r>
            <a:r>
              <a:rPr lang="en-US" dirty="0"/>
              <a:t> </a:t>
            </a:r>
            <a:r>
              <a:rPr lang="en-US" err="1"/>
              <a:t>liệu</a:t>
            </a:r>
            <a:r>
              <a:rPr lang="en-US"/>
              <a:t> dữ liệu dân c</a:t>
            </a:r>
            <a:r>
              <a:rPr lang="vi-VN"/>
              <a:t>ư</a:t>
            </a:r>
            <a:r>
              <a:rPr lang="en-US"/>
              <a:t> quốc gia</a:t>
            </a:r>
            <a:endParaRPr lang="en-US" dirty="0"/>
          </a:p>
        </p:txBody>
      </p:sp>
    </p:spTree>
    <p:extLst>
      <p:ext uri="{BB962C8B-B14F-4D97-AF65-F5344CB8AC3E}">
        <p14:creationId xmlns:p14="http://schemas.microsoft.com/office/powerpoint/2010/main" val="4076193496"/>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sp>
        <p:nvSpPr>
          <p:cNvPr id="7" name="Text Placeholder 2"/>
          <p:cNvSpPr>
            <a:spLocks noGrp="1"/>
          </p:cNvSpPr>
          <p:nvPr>
            <p:ph type="body" idx="1"/>
          </p:nvPr>
        </p:nvSpPr>
        <p:spPr>
          <a:xfrm>
            <a:off x="710412" y="1274609"/>
            <a:ext cx="11129420" cy="4737084"/>
          </a:xfrm>
        </p:spPr>
        <p:txBody>
          <a:bodyPr/>
          <a:lstStyle/>
          <a:p>
            <a:r>
              <a:rPr lang="en-US" dirty="0" err="1"/>
              <a:t>Ưu</a:t>
            </a:r>
            <a:r>
              <a:rPr lang="en-US" dirty="0"/>
              <a:t> </a:t>
            </a:r>
            <a:r>
              <a:rPr lang="en-US" dirty="0" err="1"/>
              <a:t>điểm</a:t>
            </a:r>
            <a:endParaRPr lang="en-US" dirty="0"/>
          </a:p>
          <a:p>
            <a:pPr lvl="1">
              <a:buFontTx/>
              <a:buChar char="-"/>
            </a:pPr>
            <a:r>
              <a:rPr lang="en-US" dirty="0" err="1"/>
              <a:t>Giảm</a:t>
            </a:r>
            <a:r>
              <a:rPr lang="en-US" dirty="0"/>
              <a:t> </a:t>
            </a:r>
            <a:r>
              <a:rPr lang="en-US" dirty="0" err="1"/>
              <a:t>thiểu</a:t>
            </a:r>
            <a:r>
              <a:rPr lang="en-US" dirty="0"/>
              <a:t> </a:t>
            </a:r>
            <a:r>
              <a:rPr lang="en-US" dirty="0" err="1"/>
              <a:t>tối</a:t>
            </a:r>
            <a:r>
              <a:rPr lang="en-US" dirty="0"/>
              <a:t> </a:t>
            </a:r>
            <a:r>
              <a:rPr lang="en-US" dirty="0" err="1"/>
              <a:t>đa</a:t>
            </a:r>
            <a:r>
              <a:rPr lang="en-US" dirty="0"/>
              <a:t> </a:t>
            </a:r>
            <a:r>
              <a:rPr lang="en-US" dirty="0" err="1"/>
              <a:t>việc</a:t>
            </a:r>
            <a:r>
              <a:rPr lang="en-US" dirty="0"/>
              <a:t> </a:t>
            </a:r>
            <a:r>
              <a:rPr lang="en-US" dirty="0" err="1"/>
              <a:t>dữ</a:t>
            </a:r>
            <a:r>
              <a:rPr lang="en-US" dirty="0"/>
              <a:t> </a:t>
            </a:r>
            <a:r>
              <a:rPr lang="en-US" dirty="0" err="1"/>
              <a:t>liệu</a:t>
            </a:r>
            <a:r>
              <a:rPr lang="en-US" dirty="0"/>
              <a:t> </a:t>
            </a:r>
            <a:r>
              <a:rPr lang="en-US" dirty="0" err="1"/>
              <a:t>bị</a:t>
            </a:r>
            <a:r>
              <a:rPr lang="en-US" dirty="0"/>
              <a:t> </a:t>
            </a:r>
            <a:r>
              <a:rPr lang="en-US" dirty="0" err="1"/>
              <a:t>trùng</a:t>
            </a:r>
            <a:r>
              <a:rPr lang="en-US" dirty="0"/>
              <a:t> </a:t>
            </a:r>
            <a:r>
              <a:rPr lang="en-US" dirty="0" err="1"/>
              <a:t>lặp</a:t>
            </a:r>
            <a:r>
              <a:rPr lang="en-US" dirty="0"/>
              <a:t>, do </a:t>
            </a:r>
            <a:r>
              <a:rPr lang="en-US" dirty="0" err="1"/>
              <a:t>đó</a:t>
            </a:r>
            <a:r>
              <a:rPr lang="en-US" dirty="0"/>
              <a:t>, </a:t>
            </a:r>
            <a:r>
              <a:rPr lang="en-US" dirty="0" err="1"/>
              <a:t>đảm</a:t>
            </a:r>
            <a:r>
              <a:rPr lang="en-US" dirty="0"/>
              <a:t> </a:t>
            </a:r>
            <a:r>
              <a:rPr lang="en-US" dirty="0" err="1"/>
              <a:t>bảo</a:t>
            </a:r>
            <a:r>
              <a:rPr lang="en-US" dirty="0"/>
              <a:t> </a:t>
            </a:r>
            <a:r>
              <a:rPr lang="en-US" dirty="0" err="1"/>
              <a:t>được</a:t>
            </a:r>
            <a:r>
              <a:rPr lang="en-US" dirty="0"/>
              <a:t> </a:t>
            </a:r>
            <a:r>
              <a:rPr lang="en-US" dirty="0" err="1"/>
              <a:t>tính</a:t>
            </a:r>
            <a:r>
              <a:rPr lang="en-US" dirty="0"/>
              <a:t> </a:t>
            </a:r>
            <a:r>
              <a:rPr lang="en-US" dirty="0" err="1"/>
              <a:t>nhất</a:t>
            </a:r>
            <a:r>
              <a:rPr lang="en-US" dirty="0"/>
              <a:t> </a:t>
            </a:r>
            <a:r>
              <a:rPr lang="en-US" dirty="0" err="1"/>
              <a:t>quán</a:t>
            </a:r>
            <a:r>
              <a:rPr lang="en-US" dirty="0"/>
              <a:t> </a:t>
            </a:r>
            <a:r>
              <a:rPr lang="en-US" dirty="0" err="1"/>
              <a:t>và</a:t>
            </a:r>
            <a:r>
              <a:rPr lang="en-US" dirty="0"/>
              <a:t> </a:t>
            </a:r>
            <a:r>
              <a:rPr lang="en-US" dirty="0" err="1"/>
              <a:t>toàn</a:t>
            </a:r>
            <a:r>
              <a:rPr lang="en-US" dirty="0"/>
              <a:t> </a:t>
            </a:r>
            <a:r>
              <a:rPr lang="en-US" dirty="0" err="1"/>
              <a:t>vẹn</a:t>
            </a:r>
            <a:r>
              <a:rPr lang="en-US" dirty="0"/>
              <a:t> </a:t>
            </a:r>
            <a:r>
              <a:rPr lang="en-US" dirty="0" err="1"/>
              <a:t>dữ</a:t>
            </a:r>
            <a:r>
              <a:rPr lang="en-US" dirty="0"/>
              <a:t> </a:t>
            </a:r>
            <a:r>
              <a:rPr lang="en-US" dirty="0" err="1"/>
              <a:t>liệu</a:t>
            </a:r>
            <a:endParaRPr lang="en-US" dirty="0"/>
          </a:p>
          <a:p>
            <a:pPr lvl="1">
              <a:buFontTx/>
              <a:buChar char="-"/>
            </a:pPr>
            <a:r>
              <a:rPr lang="en-US" dirty="0" err="1"/>
              <a:t>Tăng</a:t>
            </a:r>
            <a:r>
              <a:rPr lang="en-US" dirty="0"/>
              <a:t> </a:t>
            </a:r>
            <a:r>
              <a:rPr lang="en-US" dirty="0" err="1"/>
              <a:t>khả</a:t>
            </a:r>
            <a:r>
              <a:rPr lang="en-US" dirty="0"/>
              <a:t> </a:t>
            </a:r>
            <a:r>
              <a:rPr lang="en-US" dirty="0" err="1"/>
              <a:t>năng</a:t>
            </a:r>
            <a:r>
              <a:rPr lang="en-US" dirty="0"/>
              <a:t> chia </a:t>
            </a:r>
            <a:r>
              <a:rPr lang="en-US" dirty="0" err="1"/>
              <a:t>sẻ</a:t>
            </a:r>
            <a:r>
              <a:rPr lang="en-US" dirty="0"/>
              <a:t> </a:t>
            </a:r>
            <a:r>
              <a:rPr lang="en-US" dirty="0" err="1"/>
              <a:t>thông</a:t>
            </a:r>
            <a:r>
              <a:rPr lang="en-US" dirty="0"/>
              <a:t> tin </a:t>
            </a:r>
            <a:r>
              <a:rPr lang="en-US" dirty="0" err="1"/>
              <a:t>với</a:t>
            </a:r>
            <a:r>
              <a:rPr lang="en-US" dirty="0"/>
              <a:t> </a:t>
            </a:r>
            <a:r>
              <a:rPr lang="en-US" dirty="0" err="1"/>
              <a:t>nhiều</a:t>
            </a:r>
            <a:r>
              <a:rPr lang="en-US" dirty="0"/>
              <a:t> </a:t>
            </a:r>
            <a:r>
              <a:rPr lang="en-US" dirty="0" err="1"/>
              <a:t>người</a:t>
            </a:r>
            <a:r>
              <a:rPr lang="en-US" dirty="0"/>
              <a:t> </a:t>
            </a:r>
            <a:r>
              <a:rPr lang="en-US" dirty="0" err="1"/>
              <a:t>sử</a:t>
            </a:r>
            <a:r>
              <a:rPr lang="en-US" dirty="0"/>
              <a:t> </a:t>
            </a:r>
            <a:r>
              <a:rPr lang="en-US" dirty="0" err="1"/>
              <a:t>dụng</a:t>
            </a:r>
            <a:endParaRPr lang="en-US" dirty="0"/>
          </a:p>
          <a:p>
            <a:pPr lvl="1">
              <a:buFontTx/>
              <a:buChar char="-"/>
            </a:pPr>
            <a:r>
              <a:rPr lang="en-US" dirty="0" err="1"/>
              <a:t>Dữ</a:t>
            </a:r>
            <a:r>
              <a:rPr lang="en-US" dirty="0"/>
              <a:t> </a:t>
            </a:r>
            <a:r>
              <a:rPr lang="en-US" dirty="0" err="1"/>
              <a:t>liệu</a:t>
            </a:r>
            <a:r>
              <a:rPr lang="en-US" dirty="0"/>
              <a:t> </a:t>
            </a:r>
            <a:r>
              <a:rPr lang="en-US" dirty="0" err="1"/>
              <a:t>được</a:t>
            </a:r>
            <a:r>
              <a:rPr lang="en-US" dirty="0"/>
              <a:t> </a:t>
            </a:r>
            <a:r>
              <a:rPr lang="en-US" dirty="0" err="1"/>
              <a:t>truy</a:t>
            </a:r>
            <a:r>
              <a:rPr lang="en-US" dirty="0"/>
              <a:t> </a:t>
            </a:r>
            <a:r>
              <a:rPr lang="en-US" dirty="0" err="1"/>
              <a:t>xuất</a:t>
            </a:r>
            <a:r>
              <a:rPr lang="en-US" dirty="0"/>
              <a:t> </a:t>
            </a:r>
            <a:r>
              <a:rPr lang="en-US" dirty="0" err="1"/>
              <a:t>theo</a:t>
            </a:r>
            <a:r>
              <a:rPr lang="en-US" dirty="0"/>
              <a:t> </a:t>
            </a:r>
            <a:r>
              <a:rPr lang="en-US" dirty="0" err="1"/>
              <a:t>nhiều</a:t>
            </a:r>
            <a:r>
              <a:rPr lang="en-US" dirty="0"/>
              <a:t> </a:t>
            </a:r>
            <a:r>
              <a:rPr lang="en-US" dirty="0" err="1"/>
              <a:t>cách</a:t>
            </a:r>
            <a:r>
              <a:rPr lang="en-US" dirty="0"/>
              <a:t> </a:t>
            </a:r>
            <a:r>
              <a:rPr lang="en-US" dirty="0" err="1"/>
              <a:t>khác</a:t>
            </a:r>
            <a:r>
              <a:rPr lang="en-US" dirty="0"/>
              <a:t> </a:t>
            </a:r>
            <a:r>
              <a:rPr lang="en-US" dirty="0" err="1"/>
              <a:t>nhau</a:t>
            </a:r>
            <a:endParaRPr lang="en-US" dirty="0"/>
          </a:p>
          <a:p>
            <a:r>
              <a:rPr lang="en-US" dirty="0" err="1"/>
              <a:t>Thách</a:t>
            </a:r>
            <a:r>
              <a:rPr lang="en-US" dirty="0"/>
              <a:t> </a:t>
            </a:r>
            <a:r>
              <a:rPr lang="en-US" dirty="0" err="1"/>
              <a:t>thức</a:t>
            </a:r>
            <a:endParaRPr lang="en-US" dirty="0"/>
          </a:p>
          <a:p>
            <a:pPr lvl="1">
              <a:buFontTx/>
              <a:buChar char="-"/>
            </a:pPr>
            <a:r>
              <a:rPr lang="en-US" dirty="0" err="1"/>
              <a:t>Đảm</a:t>
            </a:r>
            <a:r>
              <a:rPr lang="en-US" dirty="0"/>
              <a:t> </a:t>
            </a:r>
            <a:r>
              <a:rPr lang="en-US" dirty="0" err="1"/>
              <a:t>bảo</a:t>
            </a:r>
            <a:r>
              <a:rPr lang="en-US" dirty="0"/>
              <a:t> </a:t>
            </a:r>
            <a:r>
              <a:rPr lang="en-US" dirty="0" err="1"/>
              <a:t>tính</a:t>
            </a:r>
            <a:r>
              <a:rPr lang="en-US" dirty="0"/>
              <a:t> </a:t>
            </a:r>
            <a:r>
              <a:rPr lang="en-US" dirty="0" err="1"/>
              <a:t>bảo</a:t>
            </a:r>
            <a:r>
              <a:rPr lang="en-US" dirty="0"/>
              <a:t> </a:t>
            </a:r>
            <a:r>
              <a:rPr lang="en-US" dirty="0" err="1"/>
              <a:t>mật</a:t>
            </a:r>
            <a:r>
              <a:rPr lang="en-US" dirty="0"/>
              <a:t> </a:t>
            </a:r>
            <a:r>
              <a:rPr lang="en-US" dirty="0" err="1"/>
              <a:t>của</a:t>
            </a:r>
            <a:r>
              <a:rPr lang="en-US" dirty="0"/>
              <a:t> </a:t>
            </a:r>
            <a:r>
              <a:rPr lang="en-US" dirty="0" err="1"/>
              <a:t>dữ</a:t>
            </a:r>
            <a:r>
              <a:rPr lang="en-US" dirty="0"/>
              <a:t> </a:t>
            </a:r>
            <a:r>
              <a:rPr lang="en-US" dirty="0" err="1"/>
              <a:t>liệu</a:t>
            </a:r>
            <a:endParaRPr lang="en-US" dirty="0"/>
          </a:p>
          <a:p>
            <a:pPr lvl="1">
              <a:buFontTx/>
              <a:buChar char="-"/>
            </a:pPr>
            <a:r>
              <a:rPr lang="en-US" dirty="0" err="1"/>
              <a:t>Đảm</a:t>
            </a:r>
            <a:r>
              <a:rPr lang="en-US" dirty="0"/>
              <a:t> </a:t>
            </a:r>
            <a:r>
              <a:rPr lang="en-US" dirty="0" err="1"/>
              <a:t>bảo</a:t>
            </a:r>
            <a:r>
              <a:rPr lang="en-US" dirty="0"/>
              <a:t> </a:t>
            </a:r>
            <a:r>
              <a:rPr lang="en-US" dirty="0" err="1"/>
              <a:t>vấn</a:t>
            </a:r>
            <a:r>
              <a:rPr lang="en-US" dirty="0"/>
              <a:t> </a:t>
            </a:r>
            <a:r>
              <a:rPr lang="en-US" dirty="0" err="1"/>
              <a:t>đề</a:t>
            </a:r>
            <a:r>
              <a:rPr lang="en-US" dirty="0"/>
              <a:t> </a:t>
            </a:r>
            <a:r>
              <a:rPr lang="en-US" dirty="0" err="1"/>
              <a:t>xung</a:t>
            </a:r>
            <a:r>
              <a:rPr lang="en-US" dirty="0"/>
              <a:t> </a:t>
            </a:r>
            <a:r>
              <a:rPr lang="en-US" dirty="0" err="1"/>
              <a:t>đột</a:t>
            </a:r>
            <a:r>
              <a:rPr lang="en-US" dirty="0"/>
              <a:t> </a:t>
            </a:r>
            <a:r>
              <a:rPr lang="en-US" dirty="0" err="1"/>
              <a:t>khi</a:t>
            </a:r>
            <a:r>
              <a:rPr lang="en-US" dirty="0"/>
              <a:t> </a:t>
            </a:r>
            <a:r>
              <a:rPr lang="en-US" dirty="0" err="1"/>
              <a:t>cùng</a:t>
            </a:r>
            <a:r>
              <a:rPr lang="en-US" dirty="0"/>
              <a:t> </a:t>
            </a:r>
            <a:r>
              <a:rPr lang="en-US" dirty="0" err="1"/>
              <a:t>truy</a:t>
            </a:r>
            <a:r>
              <a:rPr lang="en-US" dirty="0"/>
              <a:t> </a:t>
            </a:r>
            <a:r>
              <a:rPr lang="en-US" dirty="0" err="1"/>
              <a:t>cập</a:t>
            </a:r>
            <a:r>
              <a:rPr lang="en-US" dirty="0"/>
              <a:t> </a:t>
            </a:r>
            <a:r>
              <a:rPr lang="en-US" dirty="0" err="1"/>
              <a:t>và</a:t>
            </a:r>
            <a:r>
              <a:rPr lang="en-US" dirty="0"/>
              <a:t> </a:t>
            </a:r>
            <a:r>
              <a:rPr lang="en-US" dirty="0" err="1"/>
              <a:t>truy</a:t>
            </a:r>
            <a:r>
              <a:rPr lang="en-US" dirty="0"/>
              <a:t> </a:t>
            </a:r>
            <a:r>
              <a:rPr lang="en-US" dirty="0" err="1"/>
              <a:t>xuất</a:t>
            </a:r>
            <a:r>
              <a:rPr lang="en-US" dirty="0"/>
              <a:t> </a:t>
            </a:r>
            <a:r>
              <a:rPr lang="en-US" dirty="0" err="1"/>
              <a:t>dữ</a:t>
            </a:r>
            <a:r>
              <a:rPr lang="en-US" dirty="0"/>
              <a:t> </a:t>
            </a:r>
            <a:r>
              <a:rPr lang="en-US" dirty="0" err="1"/>
              <a:t>liệu</a:t>
            </a:r>
            <a:endParaRPr lang="en-US" dirty="0"/>
          </a:p>
          <a:p>
            <a:pPr lvl="1">
              <a:buFontTx/>
              <a:buChar char="-"/>
            </a:pPr>
            <a:r>
              <a:rPr lang="en-US" dirty="0" err="1"/>
              <a:t>Đảm</a:t>
            </a:r>
            <a:r>
              <a:rPr lang="en-US" dirty="0"/>
              <a:t> </a:t>
            </a:r>
            <a:r>
              <a:rPr lang="en-US" dirty="0" err="1"/>
              <a:t>bảo</a:t>
            </a:r>
            <a:r>
              <a:rPr lang="en-US" dirty="0"/>
              <a:t> </a:t>
            </a:r>
            <a:r>
              <a:rPr lang="en-US" dirty="0" err="1"/>
              <a:t>dữ</a:t>
            </a:r>
            <a:r>
              <a:rPr lang="en-US" dirty="0"/>
              <a:t> </a:t>
            </a:r>
            <a:r>
              <a:rPr lang="en-US" dirty="0" err="1"/>
              <a:t>liệu</a:t>
            </a:r>
            <a:r>
              <a:rPr lang="en-US" dirty="0"/>
              <a:t> </a:t>
            </a:r>
            <a:r>
              <a:rPr lang="en-US" dirty="0" err="1"/>
              <a:t>được</a:t>
            </a:r>
            <a:r>
              <a:rPr lang="en-US" dirty="0"/>
              <a:t> </a:t>
            </a:r>
            <a:r>
              <a:rPr lang="en-US" dirty="0" err="1"/>
              <a:t>khôi</a:t>
            </a:r>
            <a:r>
              <a:rPr lang="en-US" dirty="0"/>
              <a:t> </a:t>
            </a:r>
            <a:r>
              <a:rPr lang="en-US" dirty="0" err="1"/>
              <a:t>phục</a:t>
            </a:r>
            <a:r>
              <a:rPr lang="en-US" dirty="0"/>
              <a:t> </a:t>
            </a:r>
            <a:r>
              <a:rPr lang="en-US" dirty="0" err="1"/>
              <a:t>khi</a:t>
            </a:r>
            <a:r>
              <a:rPr lang="en-US" dirty="0"/>
              <a:t> </a:t>
            </a:r>
            <a:r>
              <a:rPr lang="en-US" dirty="0" err="1"/>
              <a:t>có</a:t>
            </a:r>
            <a:r>
              <a:rPr lang="en-US" dirty="0"/>
              <a:t> </a:t>
            </a:r>
            <a:r>
              <a:rPr lang="en-US" dirty="0" err="1"/>
              <a:t>sự</a:t>
            </a:r>
            <a:r>
              <a:rPr lang="en-US" dirty="0"/>
              <a:t> </a:t>
            </a:r>
            <a:r>
              <a:rPr lang="en-US" dirty="0" err="1"/>
              <a:t>cố</a:t>
            </a:r>
            <a:endParaRPr lang="en-US" dirty="0"/>
          </a:p>
        </p:txBody>
      </p:sp>
    </p:spTree>
    <p:extLst>
      <p:ext uri="{BB962C8B-B14F-4D97-AF65-F5344CB8AC3E}">
        <p14:creationId xmlns:p14="http://schemas.microsoft.com/office/powerpoint/2010/main" val="439057837"/>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Mô</a:t>
            </a:r>
            <a:r>
              <a:rPr lang="en-US" dirty="0"/>
              <a:t> </a:t>
            </a:r>
            <a:r>
              <a:rPr lang="en-US" dirty="0" err="1"/>
              <a:t>hình</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Quan</a:t>
            </a:r>
            <a:r>
              <a:rPr lang="en-US" dirty="0"/>
              <a:t> </a:t>
            </a:r>
            <a:r>
              <a:rPr lang="en-US" dirty="0" err="1"/>
              <a:t>hệ</a:t>
            </a:r>
            <a:endParaRPr lang="en-US" dirty="0"/>
          </a:p>
        </p:txBody>
      </p:sp>
      <p:sp>
        <p:nvSpPr>
          <p:cNvPr id="5" name="Text Placeholder 2"/>
          <p:cNvSpPr>
            <a:spLocks noGrp="1"/>
          </p:cNvSpPr>
          <p:nvPr>
            <p:ph type="body" idx="1"/>
          </p:nvPr>
        </p:nvSpPr>
        <p:spPr>
          <a:xfrm>
            <a:off x="531952" y="1274609"/>
            <a:ext cx="11307880" cy="4737084"/>
          </a:xfrm>
        </p:spPr>
        <p:txBody>
          <a:bodyPr/>
          <a:lstStyle/>
          <a:p>
            <a:r>
              <a:rPr lang="vi-VN"/>
              <a:t>Cơ sở dữ liệu có nhiều cách tổ chức, trong đó cách hiệu quả nhất là tổ chức theo </a:t>
            </a:r>
            <a:r>
              <a:rPr lang="vi-VN" b="1" i="1">
                <a:hlinkClick r:id="rId2"/>
              </a:rPr>
              <a:t>mô hình quan hệ</a:t>
            </a:r>
            <a:r>
              <a:rPr lang="vi-VN"/>
              <a:t> do tiến sĩ E.F.Code người Đức đề xuất năm 1969 và người ta gọi đó là cơ sở dữ liệu quan hệ.</a:t>
            </a:r>
          </a:p>
          <a:p>
            <a:r>
              <a:rPr lang="vi-VN"/>
              <a:t>“Cơ sở dữ liệu quan hệ tổ chức dữ liệu theo các bảng và có quan hệ với nhau để giảm thiểu sự dư thừa dữ liệu đồng thời vẫn đảm bảo sự hiệu quả trong lưu trữ và truy xuất dữ liệu ”</a:t>
            </a:r>
          </a:p>
          <a:p>
            <a:r>
              <a:rPr lang="vi-VN"/>
              <a:t>Ngày nay, cơ sở dữ liệu quan hệ được dùng trong hầu hết các hệ thống phần mềm từ kế toán, ngân hàng, doanh nghiệp, …</a:t>
            </a:r>
          </a:p>
          <a:p>
            <a:endParaRPr lang="en-US" dirty="0"/>
          </a:p>
        </p:txBody>
      </p:sp>
    </p:spTree>
    <p:extLst>
      <p:ext uri="{BB962C8B-B14F-4D97-AF65-F5344CB8AC3E}">
        <p14:creationId xmlns:p14="http://schemas.microsoft.com/office/powerpoint/2010/main" val="3698703393"/>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Mô</a:t>
            </a:r>
            <a:r>
              <a:rPr lang="en-US" dirty="0"/>
              <a:t> </a:t>
            </a:r>
            <a:r>
              <a:rPr lang="en-US" dirty="0" err="1"/>
              <a:t>hình</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Quan</a:t>
            </a:r>
            <a:r>
              <a:rPr lang="en-US" dirty="0"/>
              <a:t> </a:t>
            </a:r>
            <a:r>
              <a:rPr lang="en-US" dirty="0" err="1"/>
              <a:t>hệ</a:t>
            </a:r>
            <a:endParaRPr lang="en-US" dirty="0"/>
          </a:p>
        </p:txBody>
      </p:sp>
      <p:pic>
        <p:nvPicPr>
          <p:cNvPr id="4" name="Picture 3"/>
          <p:cNvPicPr>
            <a:picLocks noChangeAspect="1"/>
          </p:cNvPicPr>
          <p:nvPr/>
        </p:nvPicPr>
        <p:blipFill>
          <a:blip r:embed="rId2"/>
          <a:stretch>
            <a:fillRect/>
          </a:stretch>
        </p:blipFill>
        <p:spPr>
          <a:xfrm>
            <a:off x="1820188" y="1299048"/>
            <a:ext cx="8240341" cy="4793186"/>
          </a:xfrm>
          <a:prstGeom prst="rect">
            <a:avLst/>
          </a:prstGeom>
        </p:spPr>
      </p:pic>
    </p:spTree>
    <p:extLst>
      <p:ext uri="{BB962C8B-B14F-4D97-AF65-F5344CB8AC3E}">
        <p14:creationId xmlns:p14="http://schemas.microsoft.com/office/powerpoint/2010/main" val="3520725356"/>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C11E-A8F3-432D-8932-43CEB90346E7}"/>
              </a:ext>
            </a:extLst>
          </p:cNvPr>
          <p:cNvSpPr>
            <a:spLocks noGrp="1"/>
          </p:cNvSpPr>
          <p:nvPr>
            <p:ph type="title"/>
          </p:nvPr>
        </p:nvSpPr>
        <p:spPr>
          <a:xfrm>
            <a:off x="838200" y="94780"/>
            <a:ext cx="10515600" cy="827571"/>
          </a:xfrm>
        </p:spPr>
        <p:txBody>
          <a:bodyPr>
            <a:normAutofit/>
          </a:bodyPr>
          <a:lstStyle/>
          <a:p>
            <a:r>
              <a:rPr lang="vi-VN" sz="3600"/>
              <a:t>Các thành phần cơ bản của một Cơ sở dữ liệu quan hệ</a:t>
            </a:r>
            <a:endParaRPr lang="en-GB" sz="3600"/>
          </a:p>
        </p:txBody>
      </p:sp>
      <p:sp>
        <p:nvSpPr>
          <p:cNvPr id="5" name="Text Placeholder 4">
            <a:extLst>
              <a:ext uri="{FF2B5EF4-FFF2-40B4-BE49-F238E27FC236}">
                <a16:creationId xmlns:a16="http://schemas.microsoft.com/office/drawing/2014/main" id="{A500D0D3-920D-4457-8F45-C6B2D862348B}"/>
              </a:ext>
            </a:extLst>
          </p:cNvPr>
          <p:cNvSpPr>
            <a:spLocks noGrp="1"/>
          </p:cNvSpPr>
          <p:nvPr>
            <p:ph type="body" idx="1"/>
          </p:nvPr>
        </p:nvSpPr>
        <p:spPr>
          <a:xfrm>
            <a:off x="106017" y="736296"/>
            <a:ext cx="11733475" cy="6121704"/>
          </a:xfrm>
        </p:spPr>
        <p:txBody>
          <a:bodyPr>
            <a:normAutofit fontScale="85000" lnSpcReduction="20000"/>
          </a:bodyPr>
          <a:lstStyle/>
          <a:p>
            <a:pPr marL="114300" indent="0">
              <a:buNone/>
            </a:pPr>
            <a:r>
              <a:rPr lang="en-US" b="1"/>
              <a:t>1. </a:t>
            </a:r>
            <a:r>
              <a:rPr lang="vi-VN" b="1"/>
              <a:t>Bảng dữ liệu (Table)</a:t>
            </a:r>
          </a:p>
          <a:p>
            <a:pPr lvl="1"/>
            <a:r>
              <a:rPr lang="vi-VN"/>
              <a:t>Bảng dữ liệu là thành phần chính trong cơ sở dữ liệu quan hệ. Bảng chứa dữ liệu</a:t>
            </a:r>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r>
              <a:rPr lang="vi-VN"/>
              <a:t>Trong đó:</a:t>
            </a:r>
          </a:p>
          <a:p>
            <a:pPr lvl="1"/>
            <a:r>
              <a:rPr lang="vi-VN" b="1"/>
              <a:t>Cột/Trường (Field)</a:t>
            </a:r>
            <a:r>
              <a:rPr lang="vi-VN"/>
              <a:t>: các trường thể hiện thuộc tính của bảng dữ liệu ví dụ tên, địa chỉ</a:t>
            </a:r>
            <a:r>
              <a:rPr lang="vi-VN" b="1"/>
              <a:t>…</a:t>
            </a:r>
            <a:endParaRPr lang="vi-VN"/>
          </a:p>
          <a:p>
            <a:pPr lvl="1"/>
            <a:r>
              <a:rPr lang="vi-VN" b="1"/>
              <a:t>Dòng(row): </a:t>
            </a:r>
            <a:r>
              <a:rPr lang="vi-VN"/>
              <a:t>là một dòng dữ liệu gồm các dữ liệu có liên quan với nhau hay còn gọi là bảng ghi (record).</a:t>
            </a:r>
          </a:p>
          <a:p>
            <a:pPr lvl="1"/>
            <a:r>
              <a:rPr lang="vi-VN" b="1"/>
              <a:t>Ô (cell): </a:t>
            </a:r>
            <a:r>
              <a:rPr lang="vi-VN"/>
              <a:t>Giao giữa dòng và cột và là nơi chứa dữ liệu.</a:t>
            </a:r>
          </a:p>
          <a:p>
            <a:pPr lvl="1"/>
            <a:r>
              <a:rPr lang="vi-VN" b="1"/>
              <a:t>Khóa chính(Primary Key): </a:t>
            </a:r>
            <a:r>
              <a:rPr lang="vi-VN"/>
              <a:t>là một trường hoặc nhiều trường gộp lại được sử dụng để định nghĩa bảng ghi. Khóa chính có 02 thuộc tính là không được trùng và không được rỗng</a:t>
            </a:r>
            <a:endParaRPr lang="en-US"/>
          </a:p>
          <a:p>
            <a:pPr marL="571500" lvl="1" indent="0">
              <a:buNone/>
            </a:pPr>
            <a:r>
              <a:rPr lang="vi-VN" b="1"/>
              <a:t>Ví dụ: </a:t>
            </a:r>
            <a:r>
              <a:rPr lang="vi-VN"/>
              <a:t>giá trị 1 của trường CustomerID đó sẽ suy ra được tất cả dữ liệu của dòng đầu tiên. Hay nói cách khác các giá trị của dòng đầu tiên là giá trị các thuộc tính của bảng ghi có customerID = 1</a:t>
            </a:r>
            <a:endParaRPr lang="en-US"/>
          </a:p>
          <a:p>
            <a:pPr marL="571500" lvl="1" indent="0">
              <a:buNone/>
            </a:pPr>
            <a:endParaRPr lang="vi-VN"/>
          </a:p>
          <a:p>
            <a:pPr marL="571500" lvl="1" indent="0">
              <a:buNone/>
            </a:pPr>
            <a:r>
              <a:rPr lang="vi-VN"/>
              <a:t>Một bảng có thể có khóa chính hoặc không, tuy nhiên để dễ quản lý người ta thường định nghĩa khóa chính cho các bảng.</a:t>
            </a:r>
            <a:endParaRPr lang="en-GB"/>
          </a:p>
        </p:txBody>
      </p:sp>
      <p:pic>
        <p:nvPicPr>
          <p:cNvPr id="8" name="Picture 7" descr="Diagram&#10;&#10;Description automatically generated">
            <a:extLst>
              <a:ext uri="{FF2B5EF4-FFF2-40B4-BE49-F238E27FC236}">
                <a16:creationId xmlns:a16="http://schemas.microsoft.com/office/drawing/2014/main" id="{57A429A1-AEAC-43C2-BEB4-C0F7C4D39C61}"/>
              </a:ext>
            </a:extLst>
          </p:cNvPr>
          <p:cNvPicPr>
            <a:picLocks noChangeAspect="1"/>
          </p:cNvPicPr>
          <p:nvPr/>
        </p:nvPicPr>
        <p:blipFill>
          <a:blip r:embed="rId2"/>
          <a:stretch>
            <a:fillRect/>
          </a:stretch>
        </p:blipFill>
        <p:spPr>
          <a:xfrm>
            <a:off x="2667284" y="1492305"/>
            <a:ext cx="7693266" cy="2392418"/>
          </a:xfrm>
          <a:prstGeom prst="rect">
            <a:avLst/>
          </a:prstGeom>
        </p:spPr>
      </p:pic>
    </p:spTree>
    <p:extLst>
      <p:ext uri="{BB962C8B-B14F-4D97-AF65-F5344CB8AC3E}">
        <p14:creationId xmlns:p14="http://schemas.microsoft.com/office/powerpoint/2010/main" val="2222557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C11E-A8F3-432D-8932-43CEB90346E7}"/>
              </a:ext>
            </a:extLst>
          </p:cNvPr>
          <p:cNvSpPr>
            <a:spLocks noGrp="1"/>
          </p:cNvSpPr>
          <p:nvPr>
            <p:ph type="title"/>
          </p:nvPr>
        </p:nvSpPr>
        <p:spPr>
          <a:xfrm>
            <a:off x="838200" y="94780"/>
            <a:ext cx="10515600" cy="827571"/>
          </a:xfrm>
        </p:spPr>
        <p:txBody>
          <a:bodyPr>
            <a:normAutofit/>
          </a:bodyPr>
          <a:lstStyle/>
          <a:p>
            <a:r>
              <a:rPr lang="vi-VN" sz="3600"/>
              <a:t>Các thành phần cơ bản của một Cơ sở dữ liệu quan hệ</a:t>
            </a:r>
            <a:endParaRPr lang="en-GB" sz="3600"/>
          </a:p>
        </p:txBody>
      </p:sp>
      <p:sp>
        <p:nvSpPr>
          <p:cNvPr id="5" name="Text Placeholder 4">
            <a:extLst>
              <a:ext uri="{FF2B5EF4-FFF2-40B4-BE49-F238E27FC236}">
                <a16:creationId xmlns:a16="http://schemas.microsoft.com/office/drawing/2014/main" id="{A500D0D3-920D-4457-8F45-C6B2D862348B}"/>
              </a:ext>
            </a:extLst>
          </p:cNvPr>
          <p:cNvSpPr>
            <a:spLocks noGrp="1"/>
          </p:cNvSpPr>
          <p:nvPr>
            <p:ph type="body" idx="1"/>
          </p:nvPr>
        </p:nvSpPr>
        <p:spPr>
          <a:xfrm>
            <a:off x="106017" y="736296"/>
            <a:ext cx="11733475" cy="6121704"/>
          </a:xfrm>
        </p:spPr>
        <p:txBody>
          <a:bodyPr>
            <a:normAutofit fontScale="92500" lnSpcReduction="20000"/>
          </a:bodyPr>
          <a:lstStyle/>
          <a:p>
            <a:pPr marL="114300" indent="0">
              <a:buNone/>
            </a:pPr>
            <a:r>
              <a:rPr lang="en-US" b="1"/>
              <a:t>2. Mối quan hệ</a:t>
            </a:r>
            <a:endParaRPr lang="vi-VN" b="1"/>
          </a:p>
          <a:p>
            <a:pPr marL="571500" lvl="1" indent="0">
              <a:buNone/>
            </a:pPr>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r>
              <a:rPr lang="vi-VN"/>
              <a:t>Trong đó:</a:t>
            </a:r>
          </a:p>
          <a:p>
            <a:pPr lvl="1"/>
            <a:r>
              <a:rPr lang="vi-VN" b="1"/>
              <a:t>Khóa ngoại (Foreign Key)</a:t>
            </a:r>
            <a:r>
              <a:rPr lang="vi-VN"/>
              <a:t>: là trường ở bảng này (bảng Invoice) nhưng có trường tương ứng làm khóa chính ở bảng kia (bảng Customer) để tạo ra mối quan hệ giữa hai bảng.</a:t>
            </a:r>
          </a:p>
          <a:p>
            <a:pPr lvl="1"/>
            <a:r>
              <a:rPr lang="vi-VN" b="1"/>
              <a:t>Mối quan hệ (Relationship): </a:t>
            </a:r>
            <a:r>
              <a:rPr lang="vi-VN"/>
              <a:t>tạo ra mối liên kết giữa hai bảng nhằm xác định mối liên quan giữa các trường dữ liệu của hai bảng</a:t>
            </a:r>
            <a:endParaRPr lang="en-US"/>
          </a:p>
          <a:p>
            <a:pPr lvl="1"/>
            <a:endParaRPr lang="en-US"/>
          </a:p>
          <a:p>
            <a:pPr marL="571500" lvl="1" indent="0">
              <a:buNone/>
            </a:pPr>
            <a:r>
              <a:rPr lang="vi-VN"/>
              <a:t>Ví dụ: nếu bạn muốn biết khách hàng có mã khách hàng số 1 mua những đơn hàng nào thì bạn phải dựa vào mối quan hệ trên. Trong cơ sở dữ liệu quan hệ mối quan hệ thể hiện ở 03 dạng sau</a:t>
            </a:r>
            <a:endParaRPr lang="vi-VN">
              <a:effectLst/>
            </a:endParaRPr>
          </a:p>
        </p:txBody>
      </p:sp>
      <p:pic>
        <p:nvPicPr>
          <p:cNvPr id="7" name="Picture 6" descr="Graphical user interface, table&#10;&#10;Description automatically generated">
            <a:extLst>
              <a:ext uri="{FF2B5EF4-FFF2-40B4-BE49-F238E27FC236}">
                <a16:creationId xmlns:a16="http://schemas.microsoft.com/office/drawing/2014/main" id="{7B632A42-5E3C-44EF-8614-F2A7EFB90939}"/>
              </a:ext>
            </a:extLst>
          </p:cNvPr>
          <p:cNvPicPr>
            <a:picLocks noChangeAspect="1"/>
          </p:cNvPicPr>
          <p:nvPr/>
        </p:nvPicPr>
        <p:blipFill>
          <a:blip r:embed="rId2"/>
          <a:stretch>
            <a:fillRect/>
          </a:stretch>
        </p:blipFill>
        <p:spPr>
          <a:xfrm>
            <a:off x="3163126" y="922351"/>
            <a:ext cx="5865748" cy="3357990"/>
          </a:xfrm>
          <a:prstGeom prst="rect">
            <a:avLst/>
          </a:prstGeom>
        </p:spPr>
      </p:pic>
    </p:spTree>
    <p:extLst>
      <p:ext uri="{BB962C8B-B14F-4D97-AF65-F5344CB8AC3E}">
        <p14:creationId xmlns:p14="http://schemas.microsoft.com/office/powerpoint/2010/main" val="1056545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C11E-A8F3-432D-8932-43CEB90346E7}"/>
              </a:ext>
            </a:extLst>
          </p:cNvPr>
          <p:cNvSpPr>
            <a:spLocks noGrp="1"/>
          </p:cNvSpPr>
          <p:nvPr>
            <p:ph type="title"/>
          </p:nvPr>
        </p:nvSpPr>
        <p:spPr>
          <a:xfrm>
            <a:off x="838200" y="94780"/>
            <a:ext cx="10515600" cy="827571"/>
          </a:xfrm>
        </p:spPr>
        <p:txBody>
          <a:bodyPr>
            <a:normAutofit/>
          </a:bodyPr>
          <a:lstStyle/>
          <a:p>
            <a:r>
              <a:rPr lang="vi-VN" sz="3600"/>
              <a:t>Các thành phần cơ bản của một Cơ sở dữ liệu quan hệ</a:t>
            </a:r>
            <a:endParaRPr lang="en-GB" sz="3600"/>
          </a:p>
        </p:txBody>
      </p:sp>
      <p:sp>
        <p:nvSpPr>
          <p:cNvPr id="5" name="Text Placeholder 4">
            <a:extLst>
              <a:ext uri="{FF2B5EF4-FFF2-40B4-BE49-F238E27FC236}">
                <a16:creationId xmlns:a16="http://schemas.microsoft.com/office/drawing/2014/main" id="{A500D0D3-920D-4457-8F45-C6B2D862348B}"/>
              </a:ext>
            </a:extLst>
          </p:cNvPr>
          <p:cNvSpPr>
            <a:spLocks noGrp="1"/>
          </p:cNvSpPr>
          <p:nvPr>
            <p:ph type="body" idx="1"/>
          </p:nvPr>
        </p:nvSpPr>
        <p:spPr>
          <a:xfrm>
            <a:off x="106017" y="736296"/>
            <a:ext cx="11733475" cy="6121704"/>
          </a:xfrm>
        </p:spPr>
        <p:txBody>
          <a:bodyPr>
            <a:normAutofit/>
          </a:bodyPr>
          <a:lstStyle/>
          <a:p>
            <a:pPr marL="114300" indent="0">
              <a:buNone/>
            </a:pPr>
            <a:r>
              <a:rPr lang="en-US" b="1"/>
              <a:t>2. Mối quan hệ</a:t>
            </a:r>
            <a:endParaRPr lang="vi-VN" b="1"/>
          </a:p>
          <a:p>
            <a:pPr marL="571500" lvl="1" indent="0">
              <a:buNone/>
            </a:pPr>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vi-VN">
              <a:effectLst/>
            </a:endParaRPr>
          </a:p>
        </p:txBody>
      </p:sp>
      <p:pic>
        <p:nvPicPr>
          <p:cNvPr id="4" name="Picture 3" descr="Diagram, venn diagram&#10;&#10;Description automatically generated">
            <a:extLst>
              <a:ext uri="{FF2B5EF4-FFF2-40B4-BE49-F238E27FC236}">
                <a16:creationId xmlns:a16="http://schemas.microsoft.com/office/drawing/2014/main" id="{5003BF0F-126B-4E9C-9062-5A1EB59DA6C3}"/>
              </a:ext>
            </a:extLst>
          </p:cNvPr>
          <p:cNvPicPr>
            <a:picLocks noChangeAspect="1"/>
          </p:cNvPicPr>
          <p:nvPr/>
        </p:nvPicPr>
        <p:blipFill>
          <a:blip r:embed="rId2"/>
          <a:stretch>
            <a:fillRect/>
          </a:stretch>
        </p:blipFill>
        <p:spPr>
          <a:xfrm>
            <a:off x="2065054" y="1218892"/>
            <a:ext cx="8411749" cy="2210108"/>
          </a:xfrm>
          <a:prstGeom prst="rect">
            <a:avLst/>
          </a:prstGeom>
        </p:spPr>
      </p:pic>
      <p:graphicFrame>
        <p:nvGraphicFramePr>
          <p:cNvPr id="6" name="Table 7">
            <a:extLst>
              <a:ext uri="{FF2B5EF4-FFF2-40B4-BE49-F238E27FC236}">
                <a16:creationId xmlns:a16="http://schemas.microsoft.com/office/drawing/2014/main" id="{0E6003C5-D200-4EC6-83B3-0E09B15D1F24}"/>
              </a:ext>
            </a:extLst>
          </p:cNvPr>
          <p:cNvGraphicFramePr>
            <a:graphicFrameLocks noGrp="1"/>
          </p:cNvGraphicFramePr>
          <p:nvPr>
            <p:extLst>
              <p:ext uri="{D42A27DB-BD31-4B8C-83A1-F6EECF244321}">
                <p14:modId xmlns:p14="http://schemas.microsoft.com/office/powerpoint/2010/main" val="4094902825"/>
              </p:ext>
            </p:extLst>
          </p:nvPr>
        </p:nvGraphicFramePr>
        <p:xfrm>
          <a:off x="1715196" y="3429000"/>
          <a:ext cx="9178092" cy="3139440"/>
        </p:xfrm>
        <a:graphic>
          <a:graphicData uri="http://schemas.openxmlformats.org/drawingml/2006/table">
            <a:tbl>
              <a:tblPr firstRow="1" bandRow="1">
                <a:tableStyleId>{6C239858-8D09-44BC-B0F5-D56A4BC3F1E4}</a:tableStyleId>
              </a:tblPr>
              <a:tblGrid>
                <a:gridCol w="3059364">
                  <a:extLst>
                    <a:ext uri="{9D8B030D-6E8A-4147-A177-3AD203B41FA5}">
                      <a16:colId xmlns:a16="http://schemas.microsoft.com/office/drawing/2014/main" val="2931692008"/>
                    </a:ext>
                  </a:extLst>
                </a:gridCol>
                <a:gridCol w="3059364">
                  <a:extLst>
                    <a:ext uri="{9D8B030D-6E8A-4147-A177-3AD203B41FA5}">
                      <a16:colId xmlns:a16="http://schemas.microsoft.com/office/drawing/2014/main" val="748357043"/>
                    </a:ext>
                  </a:extLst>
                </a:gridCol>
                <a:gridCol w="3059364">
                  <a:extLst>
                    <a:ext uri="{9D8B030D-6E8A-4147-A177-3AD203B41FA5}">
                      <a16:colId xmlns:a16="http://schemas.microsoft.com/office/drawing/2014/main" val="1346505153"/>
                    </a:ext>
                  </a:extLst>
                </a:gridCol>
              </a:tblGrid>
              <a:tr h="370840">
                <a:tc>
                  <a:txBody>
                    <a:bodyPr/>
                    <a:lstStyle/>
                    <a:p>
                      <a:r>
                        <a:rPr lang="vi-VN" sz="2000"/>
                        <a:t>Trong quan hệ này mỗi bảng chỉ có một và chỉ một bảng ghi tương ứng mà thôi. </a:t>
                      </a:r>
                      <a:endParaRPr lang="en-US" sz="2000"/>
                    </a:p>
                    <a:p>
                      <a:r>
                        <a:rPr lang="vi-VN" sz="2000"/>
                        <a:t>Ví dụ</a:t>
                      </a:r>
                      <a:r>
                        <a:rPr lang="en-US" sz="2000"/>
                        <a:t>:</a:t>
                      </a:r>
                      <a:r>
                        <a:rPr lang="vi-VN" sz="2000"/>
                        <a:t> quan hệ vợ – chồng, </a:t>
                      </a:r>
                      <a:endParaRPr lang="en-GB" sz="2000"/>
                    </a:p>
                  </a:txBody>
                  <a:tcPr/>
                </a:tc>
                <a:tc>
                  <a:txBody>
                    <a:bodyPr/>
                    <a:lstStyle/>
                    <a:p>
                      <a:r>
                        <a:rPr lang="vi-VN" sz="2000"/>
                        <a:t>Là quan hệ phổ biến nhất trong cơ sở dữ liệu, trong hệ này 1 bảng ghi ở bảng này có nhiều bảng ghi tương ứng ở bảng kia. </a:t>
                      </a:r>
                      <a:endParaRPr lang="en-US" sz="2000"/>
                    </a:p>
                    <a:p>
                      <a:r>
                        <a:rPr lang="en-US" sz="2000"/>
                        <a:t>V</a:t>
                      </a:r>
                      <a:r>
                        <a:rPr lang="vi-VN" sz="2000"/>
                        <a:t>í dụ</a:t>
                      </a:r>
                      <a:r>
                        <a:rPr lang="en-US" sz="2000"/>
                        <a:t>: 1</a:t>
                      </a:r>
                      <a:r>
                        <a:rPr lang="vi-VN" sz="2000"/>
                        <a:t> bảng ghi trong bảng Customer có nhiều bảng ghi trong bảng Invoice.</a:t>
                      </a:r>
                      <a:endParaRPr lang="en-GB" sz="2000"/>
                    </a:p>
                  </a:txBody>
                  <a:tcPr/>
                </a:tc>
                <a:tc>
                  <a:txBody>
                    <a:bodyPr/>
                    <a:lstStyle/>
                    <a:p>
                      <a:r>
                        <a:rPr lang="en-US" sz="2000"/>
                        <a:t>T</a:t>
                      </a:r>
                      <a:r>
                        <a:rPr lang="vi-VN" sz="2000"/>
                        <a:t>rong quan hệ này một bảng ghi trong bảng này tương ứng với nhiều bảng ghi trong bảng kia và ngược lại.</a:t>
                      </a:r>
                      <a:endParaRPr lang="en-US" sz="2000"/>
                    </a:p>
                    <a:p>
                      <a:r>
                        <a:rPr lang="en-US" sz="2000"/>
                        <a:t>Ví dụ: mỗi giảng viên có thể dạy nhiều lớp, mỗi lớp đ</a:t>
                      </a:r>
                      <a:r>
                        <a:rPr lang="vi-VN" sz="2000"/>
                        <a:t>ư</a:t>
                      </a:r>
                      <a:r>
                        <a:rPr lang="en-US" sz="2000"/>
                        <a:t>ợc nhiều giảng viên giảng dạy</a:t>
                      </a:r>
                      <a:endParaRPr lang="en-GB" sz="2000"/>
                    </a:p>
                  </a:txBody>
                  <a:tcPr/>
                </a:tc>
                <a:extLst>
                  <a:ext uri="{0D108BD9-81ED-4DB2-BD59-A6C34878D82A}">
                    <a16:rowId xmlns:a16="http://schemas.microsoft.com/office/drawing/2014/main" val="2167391927"/>
                  </a:ext>
                </a:extLst>
              </a:tr>
            </a:tbl>
          </a:graphicData>
        </a:graphic>
      </p:graphicFrame>
    </p:spTree>
    <p:extLst>
      <p:ext uri="{BB962C8B-B14F-4D97-AF65-F5344CB8AC3E}">
        <p14:creationId xmlns:p14="http://schemas.microsoft.com/office/powerpoint/2010/main" val="4234709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C11E-A8F3-432D-8932-43CEB90346E7}"/>
              </a:ext>
            </a:extLst>
          </p:cNvPr>
          <p:cNvSpPr>
            <a:spLocks noGrp="1"/>
          </p:cNvSpPr>
          <p:nvPr>
            <p:ph type="title"/>
          </p:nvPr>
        </p:nvSpPr>
        <p:spPr>
          <a:xfrm>
            <a:off x="838200" y="94780"/>
            <a:ext cx="10515600" cy="827571"/>
          </a:xfrm>
        </p:spPr>
        <p:txBody>
          <a:bodyPr>
            <a:normAutofit/>
          </a:bodyPr>
          <a:lstStyle/>
          <a:p>
            <a:r>
              <a:rPr lang="vi-VN" sz="3600"/>
              <a:t>Các thành phần cơ bản của một Cơ sở dữ liệu quan hệ</a:t>
            </a:r>
            <a:endParaRPr lang="en-GB" sz="3600"/>
          </a:p>
        </p:txBody>
      </p:sp>
      <p:sp>
        <p:nvSpPr>
          <p:cNvPr id="5" name="Text Placeholder 4">
            <a:extLst>
              <a:ext uri="{FF2B5EF4-FFF2-40B4-BE49-F238E27FC236}">
                <a16:creationId xmlns:a16="http://schemas.microsoft.com/office/drawing/2014/main" id="{A500D0D3-920D-4457-8F45-C6B2D862348B}"/>
              </a:ext>
            </a:extLst>
          </p:cNvPr>
          <p:cNvSpPr>
            <a:spLocks noGrp="1"/>
          </p:cNvSpPr>
          <p:nvPr>
            <p:ph type="body" idx="1"/>
          </p:nvPr>
        </p:nvSpPr>
        <p:spPr>
          <a:xfrm>
            <a:off x="106017" y="736296"/>
            <a:ext cx="11733475" cy="6121704"/>
          </a:xfrm>
        </p:spPr>
        <p:txBody>
          <a:bodyPr>
            <a:normAutofit/>
          </a:bodyPr>
          <a:lstStyle/>
          <a:p>
            <a:pPr marL="114300" indent="0">
              <a:buNone/>
            </a:pPr>
            <a:r>
              <a:rPr lang="en-US" b="1"/>
              <a:t>2. Mối quan hệ</a:t>
            </a:r>
            <a:endParaRPr lang="vi-VN" b="1"/>
          </a:p>
          <a:p>
            <a:pPr marL="571500" lvl="1" indent="0">
              <a:buNone/>
            </a:pPr>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vi-VN">
              <a:effectLst/>
            </a:endParaRPr>
          </a:p>
        </p:txBody>
      </p:sp>
      <p:pic>
        <p:nvPicPr>
          <p:cNvPr id="7" name="Picture 6" descr="Diagram&#10;&#10;Description automatically generated">
            <a:extLst>
              <a:ext uri="{FF2B5EF4-FFF2-40B4-BE49-F238E27FC236}">
                <a16:creationId xmlns:a16="http://schemas.microsoft.com/office/drawing/2014/main" id="{BB29D3E7-B585-4607-B5E2-FAA08E7BCB05}"/>
              </a:ext>
            </a:extLst>
          </p:cNvPr>
          <p:cNvPicPr>
            <a:picLocks noChangeAspect="1"/>
          </p:cNvPicPr>
          <p:nvPr/>
        </p:nvPicPr>
        <p:blipFill>
          <a:blip r:embed="rId2"/>
          <a:stretch>
            <a:fillRect/>
          </a:stretch>
        </p:blipFill>
        <p:spPr>
          <a:xfrm>
            <a:off x="3399886" y="1499069"/>
            <a:ext cx="4772025" cy="2200275"/>
          </a:xfrm>
          <a:prstGeom prst="rect">
            <a:avLst/>
          </a:prstGeom>
        </p:spPr>
      </p:pic>
    </p:spTree>
    <p:extLst>
      <p:ext uri="{BB962C8B-B14F-4D97-AF65-F5344CB8AC3E}">
        <p14:creationId xmlns:p14="http://schemas.microsoft.com/office/powerpoint/2010/main" val="1945191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C11E-A8F3-432D-8932-43CEB90346E7}"/>
              </a:ext>
            </a:extLst>
          </p:cNvPr>
          <p:cNvSpPr>
            <a:spLocks noGrp="1"/>
          </p:cNvSpPr>
          <p:nvPr>
            <p:ph type="title"/>
          </p:nvPr>
        </p:nvSpPr>
        <p:spPr>
          <a:xfrm>
            <a:off x="838200" y="94780"/>
            <a:ext cx="10515600" cy="827571"/>
          </a:xfrm>
        </p:spPr>
        <p:txBody>
          <a:bodyPr>
            <a:normAutofit/>
          </a:bodyPr>
          <a:lstStyle/>
          <a:p>
            <a:r>
              <a:rPr lang="vi-VN" sz="3600"/>
              <a:t>Các thành phần cơ bản của một Cơ sở dữ liệu quan hệ</a:t>
            </a:r>
            <a:endParaRPr lang="en-GB" sz="3600"/>
          </a:p>
        </p:txBody>
      </p:sp>
      <p:sp>
        <p:nvSpPr>
          <p:cNvPr id="5" name="Text Placeholder 4">
            <a:extLst>
              <a:ext uri="{FF2B5EF4-FFF2-40B4-BE49-F238E27FC236}">
                <a16:creationId xmlns:a16="http://schemas.microsoft.com/office/drawing/2014/main" id="{A500D0D3-920D-4457-8F45-C6B2D862348B}"/>
              </a:ext>
            </a:extLst>
          </p:cNvPr>
          <p:cNvSpPr>
            <a:spLocks noGrp="1"/>
          </p:cNvSpPr>
          <p:nvPr>
            <p:ph type="body" idx="1"/>
          </p:nvPr>
        </p:nvSpPr>
        <p:spPr>
          <a:xfrm>
            <a:off x="106017" y="736296"/>
            <a:ext cx="11733475" cy="6121704"/>
          </a:xfrm>
        </p:spPr>
        <p:txBody>
          <a:bodyPr>
            <a:normAutofit/>
          </a:bodyPr>
          <a:lstStyle/>
          <a:p>
            <a:pPr marL="114300" indent="0">
              <a:buNone/>
            </a:pPr>
            <a:r>
              <a:rPr lang="en-US" b="1"/>
              <a:t>2. Mối quan hệ</a:t>
            </a:r>
            <a:endParaRPr lang="vi-VN" b="1"/>
          </a:p>
          <a:p>
            <a:pPr marL="571500" lvl="1" indent="0">
              <a:buNone/>
            </a:pPr>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vi-VN">
              <a:effectLst/>
            </a:endParaRPr>
          </a:p>
        </p:txBody>
      </p:sp>
      <p:pic>
        <p:nvPicPr>
          <p:cNvPr id="4" name="Picture 3" descr="Diagram&#10;&#10;Description automatically generated">
            <a:extLst>
              <a:ext uri="{FF2B5EF4-FFF2-40B4-BE49-F238E27FC236}">
                <a16:creationId xmlns:a16="http://schemas.microsoft.com/office/drawing/2014/main" id="{0B7E41BA-8049-4958-AE3C-7753F91313F3}"/>
              </a:ext>
            </a:extLst>
          </p:cNvPr>
          <p:cNvPicPr>
            <a:picLocks noChangeAspect="1"/>
          </p:cNvPicPr>
          <p:nvPr/>
        </p:nvPicPr>
        <p:blipFill>
          <a:blip r:embed="rId2"/>
          <a:stretch>
            <a:fillRect/>
          </a:stretch>
        </p:blipFill>
        <p:spPr>
          <a:xfrm>
            <a:off x="186855" y="1463854"/>
            <a:ext cx="4772025" cy="2200275"/>
          </a:xfrm>
          <a:prstGeom prst="rect">
            <a:avLst/>
          </a:prstGeom>
        </p:spPr>
      </p:pic>
      <p:pic>
        <p:nvPicPr>
          <p:cNvPr id="8" name="Picture 7">
            <a:extLst>
              <a:ext uri="{FF2B5EF4-FFF2-40B4-BE49-F238E27FC236}">
                <a16:creationId xmlns:a16="http://schemas.microsoft.com/office/drawing/2014/main" id="{EC80C41E-796E-48A0-8547-AB32711BC563}"/>
              </a:ext>
            </a:extLst>
          </p:cNvPr>
          <p:cNvPicPr>
            <a:picLocks noChangeAspect="1"/>
          </p:cNvPicPr>
          <p:nvPr/>
        </p:nvPicPr>
        <p:blipFill>
          <a:blip r:embed="rId3"/>
          <a:stretch>
            <a:fillRect/>
          </a:stretch>
        </p:blipFill>
        <p:spPr>
          <a:xfrm>
            <a:off x="6581775" y="1563867"/>
            <a:ext cx="4772025" cy="4200525"/>
          </a:xfrm>
          <a:prstGeom prst="rect">
            <a:avLst/>
          </a:prstGeom>
        </p:spPr>
      </p:pic>
    </p:spTree>
    <p:extLst>
      <p:ext uri="{BB962C8B-B14F-4D97-AF65-F5344CB8AC3E}">
        <p14:creationId xmlns:p14="http://schemas.microsoft.com/office/powerpoint/2010/main" val="3944010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C11E-A8F3-432D-8932-43CEB90346E7}"/>
              </a:ext>
            </a:extLst>
          </p:cNvPr>
          <p:cNvSpPr>
            <a:spLocks noGrp="1"/>
          </p:cNvSpPr>
          <p:nvPr>
            <p:ph type="title"/>
          </p:nvPr>
        </p:nvSpPr>
        <p:spPr>
          <a:xfrm>
            <a:off x="838200" y="94780"/>
            <a:ext cx="10515600" cy="827571"/>
          </a:xfrm>
        </p:spPr>
        <p:txBody>
          <a:bodyPr>
            <a:normAutofit/>
          </a:bodyPr>
          <a:lstStyle/>
          <a:p>
            <a:r>
              <a:rPr lang="vi-VN" sz="3600"/>
              <a:t>Các thành phần cơ bản của một Cơ sở dữ liệu quan hệ</a:t>
            </a:r>
            <a:endParaRPr lang="en-GB" sz="3600"/>
          </a:p>
        </p:txBody>
      </p:sp>
      <p:sp>
        <p:nvSpPr>
          <p:cNvPr id="5" name="Text Placeholder 4">
            <a:extLst>
              <a:ext uri="{FF2B5EF4-FFF2-40B4-BE49-F238E27FC236}">
                <a16:creationId xmlns:a16="http://schemas.microsoft.com/office/drawing/2014/main" id="{A500D0D3-920D-4457-8F45-C6B2D862348B}"/>
              </a:ext>
            </a:extLst>
          </p:cNvPr>
          <p:cNvSpPr>
            <a:spLocks noGrp="1"/>
          </p:cNvSpPr>
          <p:nvPr>
            <p:ph type="body" idx="1"/>
          </p:nvPr>
        </p:nvSpPr>
        <p:spPr>
          <a:xfrm>
            <a:off x="106017" y="736296"/>
            <a:ext cx="11733475" cy="6121704"/>
          </a:xfrm>
        </p:spPr>
        <p:txBody>
          <a:bodyPr>
            <a:normAutofit/>
          </a:bodyPr>
          <a:lstStyle/>
          <a:p>
            <a:pPr marL="114300" indent="0">
              <a:buNone/>
            </a:pPr>
            <a:r>
              <a:rPr lang="en-US" b="1"/>
              <a:t>2. Mối quan hệ</a:t>
            </a:r>
            <a:endParaRPr lang="vi-VN" b="1"/>
          </a:p>
          <a:p>
            <a:pPr marL="571500" lvl="1" indent="0">
              <a:buNone/>
            </a:pPr>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vi-VN">
              <a:effectLst/>
            </a:endParaRPr>
          </a:p>
        </p:txBody>
      </p:sp>
      <p:pic>
        <p:nvPicPr>
          <p:cNvPr id="6" name="Picture 5" descr="Diagram&#10;&#10;Description automatically generated">
            <a:extLst>
              <a:ext uri="{FF2B5EF4-FFF2-40B4-BE49-F238E27FC236}">
                <a16:creationId xmlns:a16="http://schemas.microsoft.com/office/drawing/2014/main" id="{5F4AE239-FF6A-41A7-A813-CA0306CCCECA}"/>
              </a:ext>
            </a:extLst>
          </p:cNvPr>
          <p:cNvPicPr>
            <a:picLocks noChangeAspect="1"/>
          </p:cNvPicPr>
          <p:nvPr/>
        </p:nvPicPr>
        <p:blipFill>
          <a:blip r:embed="rId2"/>
          <a:stretch>
            <a:fillRect/>
          </a:stretch>
        </p:blipFill>
        <p:spPr>
          <a:xfrm>
            <a:off x="418147" y="1563867"/>
            <a:ext cx="4772025" cy="4867275"/>
          </a:xfrm>
          <a:prstGeom prst="rect">
            <a:avLst/>
          </a:prstGeom>
        </p:spPr>
      </p:pic>
      <p:pic>
        <p:nvPicPr>
          <p:cNvPr id="9" name="Picture 8" descr="Diagram&#10;&#10;Description automatically generated">
            <a:extLst>
              <a:ext uri="{FF2B5EF4-FFF2-40B4-BE49-F238E27FC236}">
                <a16:creationId xmlns:a16="http://schemas.microsoft.com/office/drawing/2014/main" id="{424F54BA-993C-4B94-85AC-F1F556425068}"/>
              </a:ext>
            </a:extLst>
          </p:cNvPr>
          <p:cNvPicPr>
            <a:picLocks noChangeAspect="1"/>
          </p:cNvPicPr>
          <p:nvPr/>
        </p:nvPicPr>
        <p:blipFill>
          <a:blip r:embed="rId3"/>
          <a:stretch>
            <a:fillRect/>
          </a:stretch>
        </p:blipFill>
        <p:spPr>
          <a:xfrm>
            <a:off x="6842801" y="980288"/>
            <a:ext cx="4772025" cy="5819775"/>
          </a:xfrm>
          <a:prstGeom prst="rect">
            <a:avLst/>
          </a:prstGeom>
        </p:spPr>
      </p:pic>
    </p:spTree>
    <p:extLst>
      <p:ext uri="{BB962C8B-B14F-4D97-AF65-F5344CB8AC3E}">
        <p14:creationId xmlns:p14="http://schemas.microsoft.com/office/powerpoint/2010/main" val="2751917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Hệ</a:t>
            </a:r>
            <a:r>
              <a:rPr lang="en-US" dirty="0"/>
              <a:t> </a:t>
            </a:r>
            <a:r>
              <a:rPr lang="en-US" dirty="0" err="1"/>
              <a:t>quản</a:t>
            </a:r>
            <a:r>
              <a:rPr lang="en-US" dirty="0"/>
              <a:t> </a:t>
            </a:r>
            <a:r>
              <a:rPr lang="en-US" dirty="0" err="1"/>
              <a:t>trị</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endParaRPr lang="en-US" dirty="0"/>
          </a:p>
        </p:txBody>
      </p:sp>
      <p:pic>
        <p:nvPicPr>
          <p:cNvPr id="5" name="Picture 4"/>
          <p:cNvPicPr>
            <a:picLocks noChangeAspect="1"/>
          </p:cNvPicPr>
          <p:nvPr/>
        </p:nvPicPr>
        <p:blipFill>
          <a:blip r:embed="rId2"/>
          <a:stretch>
            <a:fillRect/>
          </a:stretch>
        </p:blipFill>
        <p:spPr>
          <a:xfrm>
            <a:off x="1922027" y="1503669"/>
            <a:ext cx="7841168" cy="3542190"/>
          </a:xfrm>
          <a:prstGeom prst="rect">
            <a:avLst/>
          </a:prstGeom>
        </p:spPr>
      </p:pic>
      <p:pic>
        <p:nvPicPr>
          <p:cNvPr id="9" name="Picture 8"/>
          <p:cNvPicPr>
            <a:picLocks noChangeAspect="1"/>
          </p:cNvPicPr>
          <p:nvPr/>
        </p:nvPicPr>
        <p:blipFill>
          <a:blip r:embed="rId3"/>
          <a:stretch>
            <a:fillRect/>
          </a:stretch>
        </p:blipFill>
        <p:spPr>
          <a:xfrm>
            <a:off x="1716861" y="4944016"/>
            <a:ext cx="2126255" cy="578466"/>
          </a:xfrm>
          <a:prstGeom prst="rect">
            <a:avLst/>
          </a:prstGeom>
        </p:spPr>
      </p:pic>
      <p:pic>
        <p:nvPicPr>
          <p:cNvPr id="10" name="Picture 9"/>
          <p:cNvPicPr>
            <a:picLocks noChangeAspect="1"/>
          </p:cNvPicPr>
          <p:nvPr/>
        </p:nvPicPr>
        <p:blipFill>
          <a:blip r:embed="rId4"/>
          <a:stretch>
            <a:fillRect/>
          </a:stretch>
        </p:blipFill>
        <p:spPr>
          <a:xfrm>
            <a:off x="6140935" y="5649465"/>
            <a:ext cx="2028941" cy="1048666"/>
          </a:xfrm>
          <a:prstGeom prst="rect">
            <a:avLst/>
          </a:prstGeom>
        </p:spPr>
      </p:pic>
      <p:pic>
        <p:nvPicPr>
          <p:cNvPr id="11" name="Picture 10"/>
          <p:cNvPicPr>
            <a:picLocks noChangeAspect="1"/>
          </p:cNvPicPr>
          <p:nvPr/>
        </p:nvPicPr>
        <p:blipFill>
          <a:blip r:embed="rId5"/>
          <a:stretch>
            <a:fillRect/>
          </a:stretch>
        </p:blipFill>
        <p:spPr>
          <a:xfrm>
            <a:off x="7153108" y="4944016"/>
            <a:ext cx="2302525" cy="634902"/>
          </a:xfrm>
          <a:prstGeom prst="rect">
            <a:avLst/>
          </a:prstGeom>
        </p:spPr>
      </p:pic>
      <p:pic>
        <p:nvPicPr>
          <p:cNvPr id="12" name="Picture 11"/>
          <p:cNvPicPr>
            <a:picLocks noChangeAspect="1"/>
          </p:cNvPicPr>
          <p:nvPr/>
        </p:nvPicPr>
        <p:blipFill>
          <a:blip r:embed="rId6"/>
          <a:stretch>
            <a:fillRect/>
          </a:stretch>
        </p:blipFill>
        <p:spPr>
          <a:xfrm>
            <a:off x="3591085" y="5851240"/>
            <a:ext cx="1733320" cy="832132"/>
          </a:xfrm>
          <a:prstGeom prst="rect">
            <a:avLst/>
          </a:prstGeom>
        </p:spPr>
      </p:pic>
      <p:pic>
        <p:nvPicPr>
          <p:cNvPr id="13" name="Picture 12"/>
          <p:cNvPicPr>
            <a:picLocks noChangeAspect="1"/>
          </p:cNvPicPr>
          <p:nvPr/>
        </p:nvPicPr>
        <p:blipFill>
          <a:blip r:embed="rId7"/>
          <a:stretch>
            <a:fillRect/>
          </a:stretch>
        </p:blipFill>
        <p:spPr>
          <a:xfrm>
            <a:off x="4493009" y="4929809"/>
            <a:ext cx="2352538" cy="704897"/>
          </a:xfrm>
          <a:prstGeom prst="rect">
            <a:avLst/>
          </a:prstGeom>
        </p:spPr>
      </p:pic>
    </p:spTree>
    <p:extLst>
      <p:ext uri="{BB962C8B-B14F-4D97-AF65-F5344CB8AC3E}">
        <p14:creationId xmlns:p14="http://schemas.microsoft.com/office/powerpoint/2010/main" val="2127815283"/>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z="3200"/>
              <a:t>Hệ quản trị Cơ sở dữ liệu (Database Management System – DBMS)</a:t>
            </a:r>
            <a:endParaRPr lang="en-US" sz="3200" dirty="0"/>
          </a:p>
        </p:txBody>
      </p:sp>
      <p:sp>
        <p:nvSpPr>
          <p:cNvPr id="14" name="Text Placeholder 2"/>
          <p:cNvSpPr>
            <a:spLocks noGrp="1"/>
          </p:cNvSpPr>
          <p:nvPr>
            <p:ph type="body" idx="1"/>
          </p:nvPr>
        </p:nvSpPr>
        <p:spPr>
          <a:xfrm>
            <a:off x="344003" y="1138216"/>
            <a:ext cx="11129420" cy="5301495"/>
          </a:xfrm>
        </p:spPr>
        <p:txBody>
          <a:bodyPr/>
          <a:lstStyle/>
          <a:p>
            <a:r>
              <a:rPr lang="vi-VN"/>
              <a:t>DBMS là các phần mềm dùng để quản lý và vận hành Cơ sở dữ liệu</a:t>
            </a:r>
            <a:endParaRPr lang="en-US" dirty="0"/>
          </a:p>
          <a:p>
            <a:r>
              <a:rPr lang="en-US"/>
              <a:t>Phổ biến</a:t>
            </a:r>
            <a:r>
              <a:rPr lang="en-US" dirty="0"/>
              <a:t>: MS SQL Server, Oracle, IBM DB2, PostgreSQL, MySQL, ..</a:t>
            </a:r>
          </a:p>
          <a:p>
            <a:r>
              <a:rPr lang="en-US" dirty="0" err="1"/>
              <a:t>Các</a:t>
            </a:r>
            <a:r>
              <a:rPr lang="en-US" dirty="0"/>
              <a:t> </a:t>
            </a:r>
            <a:r>
              <a:rPr lang="en-US" dirty="0" err="1"/>
              <a:t>đối</a:t>
            </a:r>
            <a:r>
              <a:rPr lang="en-US" dirty="0"/>
              <a:t> </a:t>
            </a:r>
            <a:r>
              <a:rPr lang="en-US" dirty="0" err="1"/>
              <a:t>tượng</a:t>
            </a:r>
            <a:r>
              <a:rPr lang="en-US" dirty="0"/>
              <a:t> </a:t>
            </a:r>
            <a:r>
              <a:rPr lang="en-US" dirty="0" err="1"/>
              <a:t>sử</a:t>
            </a:r>
            <a:r>
              <a:rPr lang="en-US" dirty="0"/>
              <a:t> </a:t>
            </a:r>
            <a:r>
              <a:rPr lang="en-US" dirty="0" err="1"/>
              <a:t>dụng</a:t>
            </a:r>
            <a:r>
              <a:rPr lang="en-US" dirty="0"/>
              <a:t>:</a:t>
            </a:r>
          </a:p>
          <a:p>
            <a:pPr lvl="1">
              <a:buFontTx/>
              <a:buChar char="-"/>
            </a:pPr>
            <a:r>
              <a:rPr lang="en-US" dirty="0"/>
              <a:t>Database Architect</a:t>
            </a:r>
          </a:p>
          <a:p>
            <a:pPr lvl="1">
              <a:buFontTx/>
              <a:buChar char="-"/>
            </a:pPr>
            <a:r>
              <a:rPr lang="en-US" dirty="0"/>
              <a:t>Database Administrator</a:t>
            </a:r>
          </a:p>
          <a:p>
            <a:pPr lvl="1">
              <a:buFontTx/>
              <a:buChar char="-"/>
            </a:pPr>
            <a:r>
              <a:rPr lang="en-US" dirty="0"/>
              <a:t>Data Engineer/ Data Analyst/ Data Scientist</a:t>
            </a:r>
          </a:p>
          <a:p>
            <a:pPr lvl="1">
              <a:buFontTx/>
              <a:buChar char="-"/>
            </a:pPr>
            <a:r>
              <a:rPr lang="en-US" dirty="0"/>
              <a:t>End Users</a:t>
            </a:r>
          </a:p>
          <a:p>
            <a:pPr>
              <a:buFont typeface="Arial" panose="020B0604020202020204" pitchFamily="34" charset="0"/>
              <a:buChar char="•"/>
            </a:pPr>
            <a:r>
              <a:rPr lang="en-US"/>
              <a:t>Phần lớn </a:t>
            </a:r>
            <a:r>
              <a:rPr lang="vi-VN"/>
              <a:t>sử dụng </a:t>
            </a:r>
            <a:r>
              <a:rPr lang="vi-VN" b="1"/>
              <a:t>SQL</a:t>
            </a:r>
            <a:r>
              <a:rPr lang="vi-VN"/>
              <a:t> (Structured Query Language – ngôn ngữ truy vấn cấu trúc) để ghi và truy vấn dữ liệu</a:t>
            </a:r>
            <a:endParaRPr lang="en-US" dirty="0"/>
          </a:p>
        </p:txBody>
      </p:sp>
    </p:spTree>
    <p:extLst>
      <p:ext uri="{BB962C8B-B14F-4D97-AF65-F5344CB8AC3E}">
        <p14:creationId xmlns:p14="http://schemas.microsoft.com/office/powerpoint/2010/main" val="1692396745"/>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z="3200"/>
              <a:t>Hệ quản trị Cơ sở dữ liệu (Database Management System – DBMS)</a:t>
            </a:r>
            <a:endParaRPr lang="en-US" sz="3200" dirty="0"/>
          </a:p>
        </p:txBody>
      </p:sp>
      <p:graphicFrame>
        <p:nvGraphicFramePr>
          <p:cNvPr id="3" name="Table 2">
            <a:extLst>
              <a:ext uri="{FF2B5EF4-FFF2-40B4-BE49-F238E27FC236}">
                <a16:creationId xmlns:a16="http://schemas.microsoft.com/office/drawing/2014/main" id="{239CCF92-CB59-4B50-9B0A-9123C0FA2364}"/>
              </a:ext>
            </a:extLst>
          </p:cNvPr>
          <p:cNvGraphicFramePr>
            <a:graphicFrameLocks noGrp="1"/>
          </p:cNvGraphicFramePr>
          <p:nvPr>
            <p:extLst>
              <p:ext uri="{D42A27DB-BD31-4B8C-83A1-F6EECF244321}">
                <p14:modId xmlns:p14="http://schemas.microsoft.com/office/powerpoint/2010/main" val="1389811626"/>
              </p:ext>
            </p:extLst>
          </p:nvPr>
        </p:nvGraphicFramePr>
        <p:xfrm>
          <a:off x="668669" y="1828800"/>
          <a:ext cx="10515600" cy="3596640"/>
        </p:xfrm>
        <a:graphic>
          <a:graphicData uri="http://schemas.openxmlformats.org/drawingml/2006/table">
            <a:tbl>
              <a:tblPr/>
              <a:tblGrid>
                <a:gridCol w="2216574">
                  <a:extLst>
                    <a:ext uri="{9D8B030D-6E8A-4147-A177-3AD203B41FA5}">
                      <a16:colId xmlns:a16="http://schemas.microsoft.com/office/drawing/2014/main" val="1472797936"/>
                    </a:ext>
                  </a:extLst>
                </a:gridCol>
                <a:gridCol w="3041226">
                  <a:extLst>
                    <a:ext uri="{9D8B030D-6E8A-4147-A177-3AD203B41FA5}">
                      <a16:colId xmlns:a16="http://schemas.microsoft.com/office/drawing/2014/main" val="2902894610"/>
                    </a:ext>
                  </a:extLst>
                </a:gridCol>
                <a:gridCol w="2628900">
                  <a:extLst>
                    <a:ext uri="{9D8B030D-6E8A-4147-A177-3AD203B41FA5}">
                      <a16:colId xmlns:a16="http://schemas.microsoft.com/office/drawing/2014/main" val="3575945114"/>
                    </a:ext>
                  </a:extLst>
                </a:gridCol>
                <a:gridCol w="2628900">
                  <a:extLst>
                    <a:ext uri="{9D8B030D-6E8A-4147-A177-3AD203B41FA5}">
                      <a16:colId xmlns:a16="http://schemas.microsoft.com/office/drawing/2014/main" val="1981455835"/>
                    </a:ext>
                  </a:extLst>
                </a:gridCol>
              </a:tblGrid>
              <a:tr h="0">
                <a:tc>
                  <a:txBody>
                    <a:bodyPr/>
                    <a:lstStyle/>
                    <a:p>
                      <a:pPr algn="ctr"/>
                      <a:r>
                        <a:rPr lang="en-GB" sz="2000" b="1"/>
                        <a:t>DBMS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vi-VN" sz="2000" b="1"/>
                        <a:t>Kích thước hệ thống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GB" sz="2000" b="1"/>
                        <a:t>Hệ điều hành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GB" sz="2000" b="1"/>
                        <a:t>Năm ra đời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957066557"/>
                  </a:ext>
                </a:extLst>
              </a:tr>
              <a:tr h="0">
                <a:tc>
                  <a:txBody>
                    <a:bodyPr/>
                    <a:lstStyle/>
                    <a:p>
                      <a:r>
                        <a:rPr lang="en-GB" sz="2000"/>
                        <a:t>Oracle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Lớn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UNIX</a:t>
                      </a:r>
                      <a:br>
                        <a:rPr lang="en-GB" sz="2000"/>
                      </a:br>
                      <a:r>
                        <a:rPr lang="en-GB" sz="2000"/>
                        <a:t>Windows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1979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9868252"/>
                  </a:ext>
                </a:extLst>
              </a:tr>
              <a:tr h="0">
                <a:tc>
                  <a:txBody>
                    <a:bodyPr/>
                    <a:lstStyle/>
                    <a:p>
                      <a:r>
                        <a:rPr lang="en-GB" sz="2000"/>
                        <a:t>DB2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Lớn và vừa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pt-BR" sz="2000"/>
                        <a:t>AIX</a:t>
                      </a:r>
                      <a:r>
                        <a:rPr lang="pt-BR" sz="2000" baseline="30000"/>
                        <a:t>(R)</a:t>
                      </a:r>
                      <a:endParaRPr lang="pt-BR" sz="2000"/>
                    </a:p>
                    <a:p>
                      <a:r>
                        <a:rPr lang="pt-BR" sz="2000"/>
                        <a:t>HP-UX</a:t>
                      </a:r>
                    </a:p>
                    <a:p>
                      <a:r>
                        <a:rPr lang="pt-BR" sz="2000"/>
                        <a:t>Linux</a:t>
                      </a:r>
                      <a:r>
                        <a:rPr lang="pt-BR" sz="2000" baseline="30000"/>
                        <a:t>(R)</a:t>
                      </a:r>
                      <a:endParaRPr lang="pt-BR" sz="2000"/>
                    </a:p>
                    <a:p>
                      <a:r>
                        <a:rPr lang="pt-BR" sz="2000"/>
                        <a:t>Solaris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1985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6081530"/>
                  </a:ext>
                </a:extLst>
              </a:tr>
              <a:tr h="0">
                <a:tc>
                  <a:txBody>
                    <a:bodyPr/>
                    <a:lstStyle/>
                    <a:p>
                      <a:r>
                        <a:rPr lang="en-GB" sz="2000"/>
                        <a:t>MySQL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Vừa và nhỏ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All 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1987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8376526"/>
                  </a:ext>
                </a:extLst>
              </a:tr>
              <a:tr h="0">
                <a:tc>
                  <a:txBody>
                    <a:bodyPr/>
                    <a:lstStyle/>
                    <a:p>
                      <a:r>
                        <a:rPr lang="en-GB" sz="2000"/>
                        <a:t>MS SQL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Vừa và nhỏ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Windows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a:t>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8468361"/>
                  </a:ext>
                </a:extLst>
              </a:tr>
              <a:tr h="0">
                <a:tc>
                  <a:txBody>
                    <a:bodyPr/>
                    <a:lstStyle/>
                    <a:p>
                      <a:r>
                        <a:rPr lang="en-US" sz="2000"/>
                        <a:t>….</a:t>
                      </a:r>
                      <a:endParaRPr lang="en-GB"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270421"/>
                  </a:ext>
                </a:extLst>
              </a:tr>
            </a:tbl>
          </a:graphicData>
        </a:graphic>
      </p:graphicFrame>
    </p:spTree>
    <p:extLst>
      <p:ext uri="{BB962C8B-B14F-4D97-AF65-F5344CB8AC3E}">
        <p14:creationId xmlns:p14="http://schemas.microsoft.com/office/powerpoint/2010/main" val="2208898964"/>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Hệ</a:t>
            </a:r>
            <a:r>
              <a:rPr lang="en-US" dirty="0"/>
              <a:t> </a:t>
            </a:r>
            <a:r>
              <a:rPr lang="en-US" dirty="0" err="1"/>
              <a:t>quản</a:t>
            </a:r>
            <a:r>
              <a:rPr lang="en-US" dirty="0"/>
              <a:t> </a:t>
            </a:r>
            <a:r>
              <a:rPr lang="en-US" dirty="0" err="1"/>
              <a:t>trị</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Quan</a:t>
            </a:r>
            <a:r>
              <a:rPr lang="en-US" dirty="0"/>
              <a:t> </a:t>
            </a:r>
            <a:r>
              <a:rPr lang="en-US" dirty="0" err="1"/>
              <a:t>hệ</a:t>
            </a:r>
            <a:r>
              <a:rPr lang="en-US" dirty="0"/>
              <a:t> - RDBMS</a:t>
            </a:r>
          </a:p>
        </p:txBody>
      </p:sp>
      <p:sp>
        <p:nvSpPr>
          <p:cNvPr id="14" name="Text Placeholder 2"/>
          <p:cNvSpPr>
            <a:spLocks noGrp="1"/>
          </p:cNvSpPr>
          <p:nvPr>
            <p:ph type="body" idx="1"/>
          </p:nvPr>
        </p:nvSpPr>
        <p:spPr>
          <a:xfrm>
            <a:off x="242372" y="1050082"/>
            <a:ext cx="11710930" cy="3573526"/>
          </a:xfrm>
        </p:spPr>
        <p:txBody>
          <a:bodyPr/>
          <a:lstStyle/>
          <a:p>
            <a:r>
              <a:rPr lang="en-US" dirty="0"/>
              <a:t>RDBMS (Relational Database Management System) - </a:t>
            </a:r>
            <a:r>
              <a:rPr lang="en-US" dirty="0" err="1"/>
              <a:t>Hệ</a:t>
            </a:r>
            <a:r>
              <a:rPr lang="en-US" dirty="0"/>
              <a:t> </a:t>
            </a:r>
            <a:r>
              <a:rPr lang="en-US" dirty="0" err="1"/>
              <a:t>quản</a:t>
            </a:r>
            <a:r>
              <a:rPr lang="en-US" dirty="0"/>
              <a:t> </a:t>
            </a:r>
            <a:r>
              <a:rPr lang="en-US" dirty="0" err="1"/>
              <a:t>trị</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quan</a:t>
            </a:r>
            <a:r>
              <a:rPr lang="en-US" dirty="0"/>
              <a:t> </a:t>
            </a:r>
            <a:r>
              <a:rPr lang="en-US" dirty="0" err="1"/>
              <a:t>hệ</a:t>
            </a:r>
            <a:r>
              <a:rPr lang="en-US" dirty="0"/>
              <a:t> </a:t>
            </a:r>
            <a:r>
              <a:rPr lang="en-US" dirty="0" err="1"/>
              <a:t>là</a:t>
            </a:r>
            <a:r>
              <a:rPr lang="en-US" dirty="0"/>
              <a:t> </a:t>
            </a:r>
            <a:r>
              <a:rPr lang="en-US" dirty="0" err="1"/>
              <a:t>Hệ</a:t>
            </a:r>
            <a:r>
              <a:rPr lang="en-US" dirty="0"/>
              <a:t> </a:t>
            </a:r>
            <a:r>
              <a:rPr lang="en-US" dirty="0" err="1"/>
              <a:t>quản</a:t>
            </a:r>
            <a:r>
              <a:rPr lang="en-US" dirty="0"/>
              <a:t> </a:t>
            </a:r>
            <a:r>
              <a:rPr lang="en-US" dirty="0" err="1"/>
              <a:t>trị</a:t>
            </a:r>
            <a:r>
              <a:rPr lang="en-US" dirty="0"/>
              <a:t> CSDL </a:t>
            </a:r>
            <a:r>
              <a:rPr lang="en-US" dirty="0" err="1"/>
              <a:t>dựa</a:t>
            </a:r>
            <a:r>
              <a:rPr lang="en-US" dirty="0"/>
              <a:t> </a:t>
            </a:r>
            <a:r>
              <a:rPr lang="en-US" dirty="0" err="1"/>
              <a:t>trên</a:t>
            </a:r>
            <a:r>
              <a:rPr lang="en-US" dirty="0"/>
              <a:t> </a:t>
            </a:r>
            <a:r>
              <a:rPr lang="en-US" dirty="0" err="1"/>
              <a:t>mô</a:t>
            </a:r>
            <a:r>
              <a:rPr lang="en-US" dirty="0"/>
              <a:t> </a:t>
            </a:r>
            <a:r>
              <a:rPr lang="en-US" dirty="0" err="1"/>
              <a:t>hình</a:t>
            </a:r>
            <a:r>
              <a:rPr lang="en-US" dirty="0"/>
              <a:t> CSDL </a:t>
            </a:r>
            <a:r>
              <a:rPr lang="en-US" dirty="0" err="1"/>
              <a:t>Quan</a:t>
            </a:r>
            <a:r>
              <a:rPr lang="en-US" dirty="0"/>
              <a:t> </a:t>
            </a:r>
            <a:r>
              <a:rPr lang="en-US" dirty="0" err="1"/>
              <a:t>hệ</a:t>
            </a:r>
            <a:r>
              <a:rPr lang="en-US" dirty="0"/>
              <a:t>.</a:t>
            </a:r>
          </a:p>
          <a:p>
            <a:r>
              <a:rPr lang="en-US" dirty="0"/>
              <a:t>Table : </a:t>
            </a:r>
            <a:r>
              <a:rPr lang="en-US" dirty="0" err="1"/>
              <a:t>Dữ</a:t>
            </a:r>
            <a:r>
              <a:rPr lang="en-US" dirty="0"/>
              <a:t> </a:t>
            </a:r>
            <a:r>
              <a:rPr lang="en-US" dirty="0" err="1"/>
              <a:t>liệu</a:t>
            </a:r>
            <a:r>
              <a:rPr lang="en-US" dirty="0"/>
              <a:t> </a:t>
            </a:r>
            <a:r>
              <a:rPr lang="en-US" dirty="0" err="1"/>
              <a:t>trong</a:t>
            </a:r>
            <a:r>
              <a:rPr lang="en-US" dirty="0"/>
              <a:t> RDBMS </a:t>
            </a:r>
            <a:r>
              <a:rPr lang="en-US" dirty="0" err="1"/>
              <a:t>được</a:t>
            </a:r>
            <a:r>
              <a:rPr lang="en-US" dirty="0"/>
              <a:t> </a:t>
            </a:r>
            <a:r>
              <a:rPr lang="en-US" dirty="0" err="1"/>
              <a:t>lưu</a:t>
            </a:r>
            <a:r>
              <a:rPr lang="en-US" dirty="0"/>
              <a:t> </a:t>
            </a:r>
            <a:r>
              <a:rPr lang="en-US" dirty="0" err="1"/>
              <a:t>trữ</a:t>
            </a:r>
            <a:r>
              <a:rPr lang="en-US" dirty="0"/>
              <a:t> </a:t>
            </a:r>
            <a:r>
              <a:rPr lang="en-US" dirty="0" err="1"/>
              <a:t>trong</a:t>
            </a:r>
            <a:r>
              <a:rPr lang="en-US" dirty="0"/>
              <a:t> </a:t>
            </a:r>
            <a:r>
              <a:rPr lang="en-US" dirty="0" err="1"/>
              <a:t>các</a:t>
            </a:r>
            <a:r>
              <a:rPr lang="en-US" dirty="0"/>
              <a:t> </a:t>
            </a:r>
            <a:r>
              <a:rPr lang="en-US" dirty="0" err="1"/>
              <a:t>thực</a:t>
            </a:r>
            <a:r>
              <a:rPr lang="en-US" dirty="0"/>
              <a:t> </a:t>
            </a:r>
            <a:r>
              <a:rPr lang="en-US" dirty="0" err="1"/>
              <a:t>thể</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bảng</a:t>
            </a:r>
            <a:r>
              <a:rPr lang="en-US" dirty="0"/>
              <a:t> (table)</a:t>
            </a:r>
          </a:p>
          <a:p>
            <a:r>
              <a:rPr lang="en-US" dirty="0"/>
              <a:t>Field/Column : </a:t>
            </a:r>
            <a:r>
              <a:rPr lang="en-US" dirty="0" err="1"/>
              <a:t>Mỗi</a:t>
            </a:r>
            <a:r>
              <a:rPr lang="en-US" dirty="0"/>
              <a:t> </a:t>
            </a:r>
            <a:r>
              <a:rPr lang="en-US" dirty="0" err="1"/>
              <a:t>bảng</a:t>
            </a:r>
            <a:r>
              <a:rPr lang="en-US" dirty="0"/>
              <a:t> </a:t>
            </a:r>
            <a:r>
              <a:rPr lang="en-US" dirty="0" err="1"/>
              <a:t>bao</a:t>
            </a:r>
            <a:r>
              <a:rPr lang="en-US" dirty="0"/>
              <a:t> </a:t>
            </a:r>
            <a:r>
              <a:rPr lang="en-US" dirty="0" err="1"/>
              <a:t>gồm</a:t>
            </a:r>
            <a:r>
              <a:rPr lang="en-US" dirty="0"/>
              <a:t> </a:t>
            </a:r>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a:t>
            </a:r>
            <a:r>
              <a:rPr lang="en-US" dirty="0" err="1"/>
              <a:t>đối</a:t>
            </a:r>
            <a:r>
              <a:rPr lang="en-US" dirty="0"/>
              <a:t> </a:t>
            </a:r>
            <a:r>
              <a:rPr lang="en-US" dirty="0" err="1"/>
              <a:t>tượng</a:t>
            </a:r>
            <a:r>
              <a:rPr lang="en-US" dirty="0"/>
              <a:t> – </a:t>
            </a:r>
            <a:r>
              <a:rPr lang="en-US" dirty="0" err="1"/>
              <a:t>được</a:t>
            </a:r>
            <a:r>
              <a:rPr lang="en-US" dirty="0"/>
              <a:t> </a:t>
            </a:r>
            <a:r>
              <a:rPr lang="en-US" dirty="0" err="1"/>
              <a:t>gọi</a:t>
            </a:r>
            <a:r>
              <a:rPr lang="en-US" dirty="0"/>
              <a:t> </a:t>
            </a:r>
            <a:r>
              <a:rPr lang="en-US" dirty="0" err="1"/>
              <a:t>là</a:t>
            </a:r>
            <a:r>
              <a:rPr lang="en-US" dirty="0"/>
              <a:t> </a:t>
            </a:r>
            <a:r>
              <a:rPr lang="en-US" dirty="0" err="1"/>
              <a:t>các</a:t>
            </a:r>
            <a:r>
              <a:rPr lang="en-US" dirty="0"/>
              <a:t> </a:t>
            </a:r>
            <a:r>
              <a:rPr lang="en-US" dirty="0" err="1"/>
              <a:t>trường</a:t>
            </a:r>
            <a:r>
              <a:rPr lang="en-US" dirty="0"/>
              <a:t> (field) hay </a:t>
            </a:r>
            <a:r>
              <a:rPr lang="en-US" dirty="0" err="1"/>
              <a:t>các</a:t>
            </a:r>
            <a:r>
              <a:rPr lang="en-US" dirty="0"/>
              <a:t> </a:t>
            </a:r>
            <a:r>
              <a:rPr lang="en-US" dirty="0" err="1"/>
              <a:t>cột</a:t>
            </a:r>
            <a:r>
              <a:rPr lang="en-US" dirty="0"/>
              <a:t> (column).</a:t>
            </a:r>
          </a:p>
          <a:p>
            <a:r>
              <a:rPr lang="en-US" dirty="0"/>
              <a:t>Row : </a:t>
            </a:r>
            <a:r>
              <a:rPr lang="en-US" dirty="0" err="1"/>
              <a:t>Mỗi</a:t>
            </a:r>
            <a:r>
              <a:rPr lang="en-US" dirty="0"/>
              <a:t> </a:t>
            </a:r>
            <a:r>
              <a:rPr lang="en-US" dirty="0" err="1"/>
              <a:t>hàng</a:t>
            </a:r>
            <a:r>
              <a:rPr lang="en-US" dirty="0"/>
              <a:t> </a:t>
            </a:r>
            <a:r>
              <a:rPr lang="en-US" dirty="0" err="1"/>
              <a:t>của</a:t>
            </a:r>
            <a:r>
              <a:rPr lang="en-US" dirty="0"/>
              <a:t> </a:t>
            </a:r>
            <a:r>
              <a:rPr lang="en-US" dirty="0" err="1"/>
              <a:t>bảng</a:t>
            </a:r>
            <a:r>
              <a:rPr lang="en-US" dirty="0"/>
              <a:t> – hay </a:t>
            </a:r>
            <a:r>
              <a:rPr lang="en-US" dirty="0" err="1"/>
              <a:t>còn</a:t>
            </a:r>
            <a:r>
              <a:rPr lang="en-US" dirty="0"/>
              <a:t> </a:t>
            </a:r>
            <a:r>
              <a:rPr lang="en-US" dirty="0" err="1"/>
              <a:t>gọi</a:t>
            </a:r>
            <a:r>
              <a:rPr lang="en-US" dirty="0"/>
              <a:t> </a:t>
            </a:r>
            <a:r>
              <a:rPr lang="en-US" dirty="0" err="1"/>
              <a:t>là</a:t>
            </a:r>
            <a:r>
              <a:rPr lang="en-US" dirty="0"/>
              <a:t> </a:t>
            </a:r>
            <a:r>
              <a:rPr lang="en-US" dirty="0" err="1"/>
              <a:t>bản</a:t>
            </a:r>
            <a:r>
              <a:rPr lang="en-US" dirty="0"/>
              <a:t> </a:t>
            </a:r>
            <a:r>
              <a:rPr lang="en-US" dirty="0" err="1"/>
              <a:t>ghi</a:t>
            </a:r>
            <a:r>
              <a:rPr lang="en-US" dirty="0"/>
              <a:t> (row) </a:t>
            </a:r>
            <a:r>
              <a:rPr lang="en-US" dirty="0" err="1"/>
              <a:t>lưu</a:t>
            </a:r>
            <a:r>
              <a:rPr lang="en-US" dirty="0"/>
              <a:t> </a:t>
            </a:r>
            <a:r>
              <a:rPr lang="en-US" dirty="0" err="1"/>
              <a:t>dữ</a:t>
            </a:r>
            <a:r>
              <a:rPr lang="en-US" dirty="0"/>
              <a:t> </a:t>
            </a:r>
            <a:r>
              <a:rPr lang="en-US" dirty="0" err="1"/>
              <a:t>liệu</a:t>
            </a:r>
            <a:r>
              <a:rPr lang="en-US" dirty="0"/>
              <a:t> </a:t>
            </a:r>
            <a:r>
              <a:rPr lang="en-US" dirty="0" err="1"/>
              <a:t>thuộc</a:t>
            </a:r>
            <a:r>
              <a:rPr lang="en-US" dirty="0"/>
              <a:t> </a:t>
            </a:r>
            <a:r>
              <a:rPr lang="en-US" dirty="0" err="1"/>
              <a:t>tính</a:t>
            </a:r>
            <a:r>
              <a:rPr lang="en-US" dirty="0"/>
              <a:t> </a:t>
            </a:r>
            <a:r>
              <a:rPr lang="en-US" dirty="0" err="1"/>
              <a:t>của</a:t>
            </a:r>
            <a:r>
              <a:rPr lang="en-US" dirty="0"/>
              <a:t> </a:t>
            </a:r>
            <a:r>
              <a:rPr lang="en-US" dirty="0" err="1"/>
              <a:t>từng</a:t>
            </a:r>
            <a:r>
              <a:rPr lang="en-US" dirty="0"/>
              <a:t> </a:t>
            </a:r>
            <a:r>
              <a:rPr lang="en-US" dirty="0" err="1"/>
              <a:t>đối</a:t>
            </a:r>
            <a:r>
              <a:rPr lang="en-US" dirty="0"/>
              <a:t> </a:t>
            </a:r>
            <a:r>
              <a:rPr lang="en-US" dirty="0" err="1"/>
              <a:t>tượng</a:t>
            </a:r>
            <a:r>
              <a:rPr lang="en-US" dirty="0"/>
              <a:t> </a:t>
            </a:r>
            <a:r>
              <a:rPr lang="en-US" dirty="0" err="1"/>
              <a:t>cụ</a:t>
            </a:r>
            <a:r>
              <a:rPr lang="en-US" dirty="0"/>
              <a:t> </a:t>
            </a:r>
            <a:r>
              <a:rPr lang="en-US" dirty="0" err="1"/>
              <a:t>thể</a:t>
            </a:r>
            <a:r>
              <a:rPr lang="en-US" dirty="0"/>
              <a:t> </a:t>
            </a:r>
            <a:r>
              <a:rPr lang="en-US" dirty="0" err="1"/>
              <a:t>trong</a:t>
            </a:r>
            <a:r>
              <a:rPr lang="en-US" dirty="0"/>
              <a:t> </a:t>
            </a:r>
            <a:r>
              <a:rPr lang="en-US" dirty="0" err="1"/>
              <a:t>bảng</a:t>
            </a:r>
            <a:r>
              <a:rPr lang="en-US" dirty="0"/>
              <a:t>.</a:t>
            </a:r>
          </a:p>
          <a:p>
            <a:endParaRPr lang="en-US" dirty="0"/>
          </a:p>
          <a:p>
            <a:pPr>
              <a:buFontTx/>
              <a:buChar char="-"/>
            </a:pPr>
            <a:endParaRPr lang="en-US" dirty="0"/>
          </a:p>
        </p:txBody>
      </p:sp>
      <p:pic>
        <p:nvPicPr>
          <p:cNvPr id="4" name="Picture 3"/>
          <p:cNvPicPr>
            <a:picLocks noChangeAspect="1"/>
          </p:cNvPicPr>
          <p:nvPr/>
        </p:nvPicPr>
        <p:blipFill>
          <a:blip r:embed="rId2"/>
          <a:stretch>
            <a:fillRect/>
          </a:stretch>
        </p:blipFill>
        <p:spPr>
          <a:xfrm>
            <a:off x="1900219" y="5041554"/>
            <a:ext cx="7981912" cy="1679839"/>
          </a:xfrm>
          <a:prstGeom prst="rect">
            <a:avLst/>
          </a:prstGeom>
        </p:spPr>
      </p:pic>
    </p:spTree>
    <p:extLst>
      <p:ext uri="{BB962C8B-B14F-4D97-AF65-F5344CB8AC3E}">
        <p14:creationId xmlns:p14="http://schemas.microsoft.com/office/powerpoint/2010/main" val="1698876477"/>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526" y="425857"/>
            <a:ext cx="11128098" cy="527251"/>
          </a:xfrm>
        </p:spPr>
        <p:txBody>
          <a:bodyPr/>
          <a:lstStyle/>
          <a:p>
            <a:r>
              <a:rPr lang="en-US" dirty="0" err="1"/>
              <a:t>Hệ</a:t>
            </a:r>
            <a:r>
              <a:rPr lang="en-US" dirty="0"/>
              <a:t> </a:t>
            </a:r>
            <a:r>
              <a:rPr lang="en-US" dirty="0" err="1"/>
              <a:t>quản</a:t>
            </a:r>
            <a:r>
              <a:rPr lang="en-US" dirty="0"/>
              <a:t> </a:t>
            </a:r>
            <a:r>
              <a:rPr lang="en-US" dirty="0" err="1"/>
              <a:t>trị</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Quan</a:t>
            </a:r>
            <a:r>
              <a:rPr lang="en-US" dirty="0"/>
              <a:t> </a:t>
            </a:r>
            <a:r>
              <a:rPr lang="en-US" dirty="0" err="1"/>
              <a:t>hệ</a:t>
            </a:r>
            <a:endParaRPr lang="en-US" dirty="0"/>
          </a:p>
        </p:txBody>
      </p:sp>
      <p:graphicFrame>
        <p:nvGraphicFramePr>
          <p:cNvPr id="5" name="Google Shape;192;p10"/>
          <p:cNvGraphicFramePr/>
          <p:nvPr>
            <p:extLst>
              <p:ext uri="{D42A27DB-BD31-4B8C-83A1-F6EECF244321}">
                <p14:modId xmlns:p14="http://schemas.microsoft.com/office/powerpoint/2010/main" val="1928695945"/>
              </p:ext>
            </p:extLst>
          </p:nvPr>
        </p:nvGraphicFramePr>
        <p:xfrm>
          <a:off x="185526" y="1090971"/>
          <a:ext cx="11820950" cy="5575637"/>
        </p:xfrm>
        <a:graphic>
          <a:graphicData uri="http://schemas.openxmlformats.org/drawingml/2006/table">
            <a:tbl>
              <a:tblPr>
                <a:noFill/>
                <a:tableStyleId>{6C239858-8D09-44BC-B0F5-D56A4BC3F1E4}</a:tableStyleId>
              </a:tblPr>
              <a:tblGrid>
                <a:gridCol w="2412450">
                  <a:extLst>
                    <a:ext uri="{9D8B030D-6E8A-4147-A177-3AD203B41FA5}">
                      <a16:colId xmlns:a16="http://schemas.microsoft.com/office/drawing/2014/main" val="20000"/>
                    </a:ext>
                  </a:extLst>
                </a:gridCol>
                <a:gridCol w="4926544">
                  <a:extLst>
                    <a:ext uri="{9D8B030D-6E8A-4147-A177-3AD203B41FA5}">
                      <a16:colId xmlns:a16="http://schemas.microsoft.com/office/drawing/2014/main" val="20001"/>
                    </a:ext>
                  </a:extLst>
                </a:gridCol>
                <a:gridCol w="4481956">
                  <a:extLst>
                    <a:ext uri="{9D8B030D-6E8A-4147-A177-3AD203B41FA5}">
                      <a16:colId xmlns:a16="http://schemas.microsoft.com/office/drawing/2014/main" val="20002"/>
                    </a:ext>
                  </a:extLst>
                </a:gridCol>
              </a:tblGrid>
              <a:tr h="495458">
                <a:tc>
                  <a:txBody>
                    <a:bodyPr/>
                    <a:lstStyle/>
                    <a:p>
                      <a:pPr marL="0" marR="0" lvl="0" indent="0" algn="ctr" rtl="0">
                        <a:lnSpc>
                          <a:spcPct val="107000"/>
                        </a:lnSpc>
                        <a:spcBef>
                          <a:spcPts val="0"/>
                        </a:spcBef>
                        <a:spcAft>
                          <a:spcPts val="0"/>
                        </a:spcAft>
                        <a:buClr>
                          <a:schemeClr val="dk1"/>
                        </a:buClr>
                        <a:buSzPts val="1800"/>
                        <a:buFont typeface="Tahoma"/>
                        <a:buNone/>
                      </a:pPr>
                      <a:r>
                        <a:rPr lang="en-US" sz="1800" b="1" u="none" strike="noStrike" cap="none" dirty="0">
                          <a:latin typeface="+mj-lt"/>
                          <a:ea typeface="Tahoma"/>
                          <a:cs typeface="Tahoma"/>
                          <a:sym typeface="Tahoma"/>
                        </a:rPr>
                        <a:t>HỆ QUẢN TRỊ CSDL</a:t>
                      </a:r>
                      <a:endParaRPr sz="1800" b="1" u="none" strike="noStrike" cap="none" dirty="0">
                        <a:latin typeface="+mj-lt"/>
                        <a:ea typeface="Tahoma"/>
                        <a:cs typeface="Tahoma"/>
                        <a:sym typeface="Tahoma"/>
                      </a:endParaRPr>
                    </a:p>
                  </a:txBody>
                  <a:tcPr marL="62200" marR="62200" marT="0" marB="0" anchor="ctr">
                    <a:solidFill>
                      <a:srgbClr val="FFFF00"/>
                    </a:solidFill>
                  </a:tcPr>
                </a:tc>
                <a:tc>
                  <a:txBody>
                    <a:bodyPr/>
                    <a:lstStyle/>
                    <a:p>
                      <a:pPr marL="0" marR="0" lvl="0" indent="0" algn="ctr" rtl="0">
                        <a:lnSpc>
                          <a:spcPct val="107000"/>
                        </a:lnSpc>
                        <a:spcBef>
                          <a:spcPts val="0"/>
                        </a:spcBef>
                        <a:spcAft>
                          <a:spcPts val="0"/>
                        </a:spcAft>
                        <a:buClr>
                          <a:schemeClr val="dk1"/>
                        </a:buClr>
                        <a:buSzPts val="1800"/>
                        <a:buFont typeface="Tahoma"/>
                        <a:buNone/>
                      </a:pPr>
                      <a:r>
                        <a:rPr lang="en-US" sz="1800" b="1" u="none" strike="noStrike" cap="none" dirty="0" err="1">
                          <a:latin typeface="+mj-lt"/>
                          <a:ea typeface="Tahoma"/>
                          <a:cs typeface="Tahoma"/>
                          <a:sym typeface="Tahoma"/>
                        </a:rPr>
                        <a:t>Khái</a:t>
                      </a:r>
                      <a:r>
                        <a:rPr lang="en-US" sz="1800" b="1" u="none" strike="noStrike" cap="none" dirty="0">
                          <a:latin typeface="+mj-lt"/>
                          <a:ea typeface="Tahoma"/>
                          <a:cs typeface="Tahoma"/>
                          <a:sym typeface="Tahoma"/>
                        </a:rPr>
                        <a:t> </a:t>
                      </a:r>
                      <a:r>
                        <a:rPr lang="en-US" sz="1800" b="1" u="none" strike="noStrike" cap="none" dirty="0" err="1">
                          <a:latin typeface="+mj-lt"/>
                          <a:ea typeface="Tahoma"/>
                          <a:cs typeface="Tahoma"/>
                          <a:sym typeface="Tahoma"/>
                        </a:rPr>
                        <a:t>niệm</a:t>
                      </a:r>
                      <a:endParaRPr sz="1800" b="1" u="none" strike="noStrike" cap="none" dirty="0">
                        <a:latin typeface="+mj-lt"/>
                        <a:ea typeface="Tahoma"/>
                        <a:cs typeface="Tahoma"/>
                        <a:sym typeface="Tahoma"/>
                      </a:endParaRPr>
                    </a:p>
                  </a:txBody>
                  <a:tcPr marL="62200" marR="62200" marT="0" marB="0" anchor="ctr">
                    <a:solidFill>
                      <a:srgbClr val="FFFF00"/>
                    </a:solidFill>
                  </a:tcPr>
                </a:tc>
                <a:tc>
                  <a:txBody>
                    <a:bodyPr/>
                    <a:lstStyle/>
                    <a:p>
                      <a:pPr marL="0" marR="0" lvl="0" indent="0" algn="ctr" rtl="0">
                        <a:lnSpc>
                          <a:spcPct val="107000"/>
                        </a:lnSpc>
                        <a:spcBef>
                          <a:spcPts val="0"/>
                        </a:spcBef>
                        <a:spcAft>
                          <a:spcPts val="0"/>
                        </a:spcAft>
                        <a:buClr>
                          <a:schemeClr val="dk1"/>
                        </a:buClr>
                        <a:buSzPts val="1800"/>
                        <a:buFont typeface="Tahoma"/>
                        <a:buNone/>
                      </a:pPr>
                      <a:r>
                        <a:rPr lang="en-US" sz="1800" b="1" u="none" strike="noStrike" cap="none" dirty="0" err="1">
                          <a:latin typeface="+mj-lt"/>
                          <a:ea typeface="Tahoma"/>
                          <a:cs typeface="Tahoma"/>
                          <a:sym typeface="Tahoma"/>
                        </a:rPr>
                        <a:t>Tính</a:t>
                      </a:r>
                      <a:r>
                        <a:rPr lang="en-US" sz="1800" b="1" u="none" strike="noStrike" cap="none" dirty="0">
                          <a:latin typeface="+mj-lt"/>
                          <a:ea typeface="Tahoma"/>
                          <a:cs typeface="Tahoma"/>
                          <a:sym typeface="Tahoma"/>
                        </a:rPr>
                        <a:t> </a:t>
                      </a:r>
                      <a:r>
                        <a:rPr lang="en-US" sz="1800" b="1" u="none" strike="noStrike" cap="none" dirty="0" err="1">
                          <a:latin typeface="+mj-lt"/>
                          <a:ea typeface="Tahoma"/>
                          <a:cs typeface="Tahoma"/>
                          <a:sym typeface="Tahoma"/>
                        </a:rPr>
                        <a:t>năng</a:t>
                      </a:r>
                      <a:r>
                        <a:rPr lang="en-US" sz="1800" b="1" u="none" strike="noStrike" cap="none" dirty="0">
                          <a:latin typeface="+mj-lt"/>
                          <a:ea typeface="Tahoma"/>
                          <a:cs typeface="Tahoma"/>
                          <a:sym typeface="Tahoma"/>
                        </a:rPr>
                        <a:t> </a:t>
                      </a:r>
                      <a:r>
                        <a:rPr lang="en-US" sz="1800" b="1" u="none" strike="noStrike" cap="none" dirty="0" err="1">
                          <a:latin typeface="+mj-lt"/>
                          <a:ea typeface="Tahoma"/>
                          <a:cs typeface="Tahoma"/>
                          <a:sym typeface="Tahoma"/>
                        </a:rPr>
                        <a:t>đặc</a:t>
                      </a:r>
                      <a:r>
                        <a:rPr lang="en-US" sz="1800" b="1" u="none" strike="noStrike" cap="none" dirty="0">
                          <a:latin typeface="+mj-lt"/>
                          <a:ea typeface="Tahoma"/>
                          <a:cs typeface="Tahoma"/>
                          <a:sym typeface="Tahoma"/>
                        </a:rPr>
                        <a:t> </a:t>
                      </a:r>
                      <a:r>
                        <a:rPr lang="en-US" sz="1800" b="1" u="none" strike="noStrike" cap="none" dirty="0" err="1">
                          <a:latin typeface="+mj-lt"/>
                          <a:ea typeface="Tahoma"/>
                          <a:cs typeface="Tahoma"/>
                          <a:sym typeface="Tahoma"/>
                        </a:rPr>
                        <a:t>điểm</a:t>
                      </a:r>
                      <a:endParaRPr sz="1800" b="1" u="none" strike="noStrike" cap="none" dirty="0">
                        <a:latin typeface="+mj-lt"/>
                        <a:ea typeface="Tahoma"/>
                        <a:cs typeface="Tahoma"/>
                        <a:sym typeface="Tahoma"/>
                      </a:endParaRPr>
                    </a:p>
                  </a:txBody>
                  <a:tcPr marL="62200" marR="62200" marT="0" marB="0" anchor="ctr">
                    <a:solidFill>
                      <a:srgbClr val="FFFF00"/>
                    </a:solidFill>
                  </a:tcPr>
                </a:tc>
                <a:extLst>
                  <a:ext uri="{0D108BD9-81ED-4DB2-BD59-A6C34878D82A}">
                    <a16:rowId xmlns:a16="http://schemas.microsoft.com/office/drawing/2014/main" val="10000"/>
                  </a:ext>
                </a:extLst>
              </a:tr>
              <a:tr h="1604267">
                <a:tc>
                  <a:txBody>
                    <a:bodyPr/>
                    <a:lstStyle/>
                    <a:p>
                      <a:pPr marL="0" marR="0" lvl="0" indent="0" algn="l" rtl="0">
                        <a:lnSpc>
                          <a:spcPct val="107000"/>
                        </a:lnSpc>
                        <a:spcBef>
                          <a:spcPts val="0"/>
                        </a:spcBef>
                        <a:spcAft>
                          <a:spcPts val="0"/>
                        </a:spcAft>
                        <a:buClr>
                          <a:schemeClr val="dk1"/>
                        </a:buClr>
                        <a:buSzPts val="1800"/>
                        <a:buFont typeface="Tahoma"/>
                        <a:buNone/>
                      </a:pPr>
                      <a:r>
                        <a:rPr lang="en-US" sz="1800" u="none" strike="noStrike" cap="none" dirty="0">
                          <a:latin typeface="+mj-lt"/>
                          <a:ea typeface="Tahoma"/>
                          <a:cs typeface="Tahoma"/>
                          <a:sym typeface="Tahoma"/>
                        </a:rPr>
                        <a:t>MySQL</a:t>
                      </a:r>
                      <a:endParaRPr sz="1800" u="none" strike="noStrike" cap="none" dirty="0">
                        <a:latin typeface="+mj-lt"/>
                        <a:ea typeface="Tahoma"/>
                        <a:cs typeface="Tahoma"/>
                        <a:sym typeface="Tahoma"/>
                      </a:endParaRPr>
                    </a:p>
                  </a:txBody>
                  <a:tcPr marL="62200" marR="62200" marT="0" marB="0"/>
                </a:tc>
                <a:tc>
                  <a:txBody>
                    <a:bodyPr/>
                    <a:lstStyle/>
                    <a:p>
                      <a:pPr marL="342900" marR="0" lvl="0" indent="-342900" algn="l" rtl="0">
                        <a:lnSpc>
                          <a:spcPct val="107000"/>
                        </a:lnSpc>
                        <a:spcBef>
                          <a:spcPts val="0"/>
                        </a:spcBef>
                        <a:spcAft>
                          <a:spcPts val="0"/>
                        </a:spcAft>
                        <a:buClr>
                          <a:schemeClr val="dk1"/>
                        </a:buClr>
                        <a:buSzPts val="1800"/>
                        <a:buFont typeface="Arial" panose="020B0604020202020204" pitchFamily="34" charset="0"/>
                        <a:buChar char="•"/>
                      </a:pPr>
                      <a:r>
                        <a:rPr lang="en-US" sz="1800" u="none" strike="noStrike" cap="none" dirty="0" err="1">
                          <a:latin typeface="+mj-lt"/>
                          <a:ea typeface="Tahoma"/>
                          <a:cs typeface="Tahoma"/>
                          <a:sym typeface="Tahoma"/>
                        </a:rPr>
                        <a:t>Một</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hệ</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quản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trị</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cơ</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sở</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dữ</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liệu</a:t>
                      </a:r>
                      <a:r>
                        <a:rPr lang="en-US" sz="1800" u="none" strike="noStrike" cap="none" dirty="0">
                          <a:latin typeface="+mj-lt"/>
                          <a:ea typeface="Tahoma"/>
                          <a:cs typeface="Tahoma"/>
                          <a:sym typeface="Tahoma"/>
                        </a:rPr>
                        <a:t> SQL </a:t>
                      </a:r>
                      <a:r>
                        <a:rPr lang="en-US" sz="1800" u="none" strike="noStrike" cap="none" dirty="0" err="1">
                          <a:latin typeface="+mj-lt"/>
                          <a:ea typeface="Tahoma"/>
                          <a:cs typeface="Tahoma"/>
                          <a:sym typeface="Tahoma"/>
                        </a:rPr>
                        <a:t>mã</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nguồn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mở</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được</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phát</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triển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bởi</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một</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công</a:t>
                      </a:r>
                      <a:r>
                        <a:rPr lang="en-US" sz="1800" u="none" strike="noStrike" cap="none" dirty="0">
                          <a:latin typeface="+mj-lt"/>
                          <a:ea typeface="Tahoma"/>
                          <a:cs typeface="Tahoma"/>
                          <a:sym typeface="Tahoma"/>
                        </a:rPr>
                        <a:t> ty </a:t>
                      </a:r>
                      <a:r>
                        <a:rPr lang="en-US" sz="1800" u="none" strike="noStrike" cap="none" dirty="0" err="1">
                          <a:latin typeface="+mj-lt"/>
                          <a:ea typeface="Tahoma"/>
                          <a:cs typeface="Tahoma"/>
                          <a:sym typeface="Tahoma"/>
                        </a:rPr>
                        <a:t>Thụy</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Điển</a:t>
                      </a:r>
                      <a:r>
                        <a:rPr lang="en-US" sz="1800" u="none" strike="noStrike" cap="none" dirty="0">
                          <a:latin typeface="+mj-lt"/>
                          <a:ea typeface="Tahoma"/>
                          <a:cs typeface="Tahoma"/>
                          <a:sym typeface="Tahoma"/>
                        </a:rPr>
                        <a:t> - MySQL AB.</a:t>
                      </a:r>
                      <a:endParaRPr sz="1800" u="none" strike="noStrike" cap="none" dirty="0">
                        <a:latin typeface="+mj-lt"/>
                        <a:ea typeface="Tahoma"/>
                        <a:cs typeface="Tahoma"/>
                        <a:sym typeface="Tahoma"/>
                      </a:endParaRPr>
                    </a:p>
                  </a:txBody>
                  <a:tcPr marL="62200" marR="62200" marT="0" marB="0"/>
                </a:tc>
                <a:tc>
                  <a:txBody>
                    <a:bodyPr/>
                    <a:lstStyle/>
                    <a:p>
                      <a:pPr marL="342900" marR="0" lvl="0" indent="-342900" algn="l" rtl="0">
                        <a:lnSpc>
                          <a:spcPct val="100000"/>
                        </a:lnSpc>
                        <a:spcBef>
                          <a:spcPts val="0"/>
                        </a:spcBef>
                        <a:spcAft>
                          <a:spcPts val="0"/>
                        </a:spcAft>
                        <a:buClr>
                          <a:schemeClr val="dk1"/>
                        </a:buClr>
                        <a:buSzPts val="1000"/>
                        <a:buFont typeface="Arial" panose="020B0604020202020204" pitchFamily="34" charset="0"/>
                        <a:buChar char="•"/>
                      </a:pPr>
                      <a:r>
                        <a:rPr lang="en-US" sz="1800" u="none" strike="noStrike" cap="none" dirty="0" err="1">
                          <a:latin typeface="+mj-lt"/>
                          <a:ea typeface="Tahoma"/>
                          <a:cs typeface="Tahoma"/>
                          <a:sym typeface="Tahoma"/>
                        </a:rPr>
                        <a:t>Hiệu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suất</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cao</a:t>
                      </a:r>
                      <a:r>
                        <a:rPr lang="en-US" sz="1800" u="none" strike="noStrike" cap="none" dirty="0">
                          <a:latin typeface="+mj-lt"/>
                          <a:ea typeface="Tahoma"/>
                          <a:cs typeface="Tahoma"/>
                          <a:sym typeface="Tahoma"/>
                        </a:rPr>
                        <a:t>.</a:t>
                      </a:r>
                      <a:endParaRPr sz="1800" u="none" strike="noStrike" cap="none" dirty="0">
                        <a:latin typeface="+mj-lt"/>
                        <a:ea typeface="Tahoma"/>
                        <a:cs typeface="Tahoma"/>
                        <a:sym typeface="Tahoma"/>
                      </a:endParaRPr>
                    </a:p>
                    <a:p>
                      <a:pPr marL="342900" marR="0" lvl="0" indent="-342900" algn="l" rtl="0">
                        <a:lnSpc>
                          <a:spcPct val="100000"/>
                        </a:lnSpc>
                        <a:spcBef>
                          <a:spcPts val="0"/>
                        </a:spcBef>
                        <a:spcAft>
                          <a:spcPts val="0"/>
                        </a:spcAft>
                        <a:buClr>
                          <a:schemeClr val="dk1"/>
                        </a:buClr>
                        <a:buSzPts val="1000"/>
                        <a:buFont typeface="Arial" panose="020B0604020202020204" pitchFamily="34" charset="0"/>
                        <a:buChar char="•"/>
                      </a:pPr>
                      <a:r>
                        <a:rPr lang="en-US" sz="1800" u="none" strike="noStrike" cap="none" dirty="0" err="1">
                          <a:latin typeface="+mj-lt"/>
                          <a:ea typeface="Tahoma"/>
                          <a:cs typeface="Tahoma"/>
                          <a:sym typeface="Tahoma"/>
                        </a:rPr>
                        <a:t>Tính</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sẵn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sàng</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cao</a:t>
                      </a:r>
                      <a:r>
                        <a:rPr lang="en-US" sz="1800" u="none" strike="noStrike" cap="none" dirty="0">
                          <a:latin typeface="+mj-lt"/>
                          <a:ea typeface="Tahoma"/>
                          <a:cs typeface="Tahoma"/>
                          <a:sym typeface="Tahoma"/>
                        </a:rPr>
                        <a:t>.</a:t>
                      </a:r>
                      <a:endParaRPr sz="1800" u="none" strike="noStrike" cap="none" dirty="0">
                        <a:latin typeface="+mj-lt"/>
                        <a:ea typeface="Tahoma"/>
                        <a:cs typeface="Tahoma"/>
                        <a:sym typeface="Tahoma"/>
                      </a:endParaRPr>
                    </a:p>
                    <a:p>
                      <a:pPr marL="342900" marR="0" lvl="0" indent="-342900" algn="l" rtl="0">
                        <a:lnSpc>
                          <a:spcPct val="100000"/>
                        </a:lnSpc>
                        <a:spcBef>
                          <a:spcPts val="0"/>
                        </a:spcBef>
                        <a:spcAft>
                          <a:spcPts val="0"/>
                        </a:spcAft>
                        <a:buClr>
                          <a:schemeClr val="dk1"/>
                        </a:buClr>
                        <a:buSzPts val="1000"/>
                        <a:buFont typeface="Arial" panose="020B0604020202020204" pitchFamily="34" charset="0"/>
                        <a:buChar char="•"/>
                      </a:pPr>
                      <a:r>
                        <a:rPr lang="en-US" sz="1800" u="none" strike="noStrike" cap="none" dirty="0" err="1">
                          <a:latin typeface="+mj-lt"/>
                          <a:ea typeface="Tahoma"/>
                          <a:cs typeface="Tahoma"/>
                          <a:sym typeface="Tahoma"/>
                        </a:rPr>
                        <a:t>Điểm</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mạnh</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của</a:t>
                      </a:r>
                      <a:r>
                        <a:rPr lang="en-US" sz="1800" u="none" strike="noStrike" cap="none" dirty="0">
                          <a:latin typeface="+mj-lt"/>
                          <a:ea typeface="Tahoma"/>
                          <a:cs typeface="Tahoma"/>
                          <a:sym typeface="Tahoma"/>
                        </a:rPr>
                        <a:t> Web </a:t>
                      </a:r>
                      <a:r>
                        <a:rPr lang="en-US" sz="1800" u="none" strike="noStrike" cap="none" dirty="0" err="1">
                          <a:latin typeface="+mj-lt"/>
                          <a:ea typeface="Tahoma"/>
                          <a:cs typeface="Tahoma"/>
                          <a:sym typeface="Tahoma"/>
                        </a:rPr>
                        <a:t>và</a:t>
                      </a:r>
                      <a:r>
                        <a:rPr lang="en-US" sz="1800" u="none" strike="noStrike" cap="none" dirty="0">
                          <a:latin typeface="+mj-lt"/>
                          <a:ea typeface="Tahoma"/>
                          <a:cs typeface="Tahoma"/>
                          <a:sym typeface="Tahoma"/>
                        </a:rPr>
                        <a:t> DWH</a:t>
                      </a:r>
                      <a:endParaRPr sz="1800" u="none" strike="noStrike" cap="none" dirty="0">
                        <a:latin typeface="+mj-lt"/>
                        <a:ea typeface="Tahoma"/>
                        <a:cs typeface="Tahoma"/>
                        <a:sym typeface="Tahoma"/>
                      </a:endParaRPr>
                    </a:p>
                    <a:p>
                      <a:pPr marL="342900" marR="0" lvl="0" indent="-342900" algn="l" rtl="0">
                        <a:lnSpc>
                          <a:spcPct val="100000"/>
                        </a:lnSpc>
                        <a:spcBef>
                          <a:spcPts val="0"/>
                        </a:spcBef>
                        <a:spcAft>
                          <a:spcPts val="0"/>
                        </a:spcAft>
                        <a:buClr>
                          <a:schemeClr val="dk1"/>
                        </a:buClr>
                        <a:buSzPts val="1000"/>
                        <a:buFont typeface="Arial" panose="020B0604020202020204" pitchFamily="34" charset="0"/>
                        <a:buChar char="•"/>
                      </a:pPr>
                      <a:r>
                        <a:rPr lang="en-US" sz="1800" u="none" strike="noStrike" cap="none" dirty="0" err="1">
                          <a:latin typeface="+mj-lt"/>
                          <a:ea typeface="Tahoma"/>
                          <a:cs typeface="Tahoma"/>
                          <a:sym typeface="Tahoma"/>
                        </a:rPr>
                        <a:t>Bảo</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vệ</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dữ</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liệu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mạnh</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mẽ</a:t>
                      </a:r>
                      <a:r>
                        <a:rPr lang="en-US" sz="1800" u="none" strike="noStrike" cap="none" dirty="0">
                          <a:latin typeface="+mj-lt"/>
                          <a:ea typeface="Tahoma"/>
                          <a:cs typeface="Tahoma"/>
                          <a:sym typeface="Tahoma"/>
                        </a:rPr>
                        <a:t>.</a:t>
                      </a:r>
                      <a:endParaRPr sz="1800" u="none" strike="noStrike" cap="none" dirty="0">
                        <a:latin typeface="+mj-lt"/>
                        <a:ea typeface="Tahoma"/>
                        <a:cs typeface="Tahoma"/>
                        <a:sym typeface="Tahoma"/>
                      </a:endParaRPr>
                    </a:p>
                    <a:p>
                      <a:pPr marL="342900" marR="0" lvl="0" indent="-342900" algn="l" rtl="0">
                        <a:lnSpc>
                          <a:spcPct val="100000"/>
                        </a:lnSpc>
                        <a:spcBef>
                          <a:spcPts val="0"/>
                        </a:spcBef>
                        <a:spcAft>
                          <a:spcPts val="0"/>
                        </a:spcAft>
                        <a:buClr>
                          <a:schemeClr val="dk1"/>
                        </a:buClr>
                        <a:buSzPts val="1000"/>
                        <a:buFont typeface="Arial" panose="020B0604020202020204" pitchFamily="34" charset="0"/>
                        <a:buChar char="•"/>
                      </a:pPr>
                      <a:r>
                        <a:rPr lang="en-US" sz="1800" u="none" strike="noStrike" cap="none" dirty="0">
                          <a:latin typeface="+mj-lt"/>
                          <a:ea typeface="Tahoma"/>
                          <a:cs typeface="Tahoma"/>
                          <a:sym typeface="Tahoma"/>
                        </a:rPr>
                        <a:t>…</a:t>
                      </a:r>
                      <a:endParaRPr sz="1800" u="none" strike="noStrike" cap="none" dirty="0">
                        <a:latin typeface="+mj-lt"/>
                        <a:ea typeface="Tahoma"/>
                        <a:cs typeface="Tahoma"/>
                        <a:sym typeface="Tahoma"/>
                      </a:endParaRPr>
                    </a:p>
                  </a:txBody>
                  <a:tcPr marL="62200" marR="62200" marT="0" marB="0"/>
                </a:tc>
                <a:extLst>
                  <a:ext uri="{0D108BD9-81ED-4DB2-BD59-A6C34878D82A}">
                    <a16:rowId xmlns:a16="http://schemas.microsoft.com/office/drawing/2014/main" val="10001"/>
                  </a:ext>
                </a:extLst>
              </a:tr>
              <a:tr h="1604267">
                <a:tc>
                  <a:txBody>
                    <a:bodyPr/>
                    <a:lstStyle/>
                    <a:p>
                      <a:pPr marL="0" marR="0" lvl="0" indent="0" algn="l" rtl="0">
                        <a:lnSpc>
                          <a:spcPct val="107000"/>
                        </a:lnSpc>
                        <a:spcBef>
                          <a:spcPts val="0"/>
                        </a:spcBef>
                        <a:spcAft>
                          <a:spcPts val="0"/>
                        </a:spcAft>
                        <a:buClr>
                          <a:schemeClr val="dk1"/>
                        </a:buClr>
                        <a:buSzPts val="1800"/>
                        <a:buFont typeface="Tahoma"/>
                        <a:buNone/>
                      </a:pPr>
                      <a:r>
                        <a:rPr lang="en-US" sz="1800" u="none" strike="noStrike" cap="none">
                          <a:latin typeface="+mj-lt"/>
                          <a:ea typeface="Tahoma"/>
                          <a:cs typeface="Tahoma"/>
                          <a:sym typeface="Tahoma"/>
                        </a:rPr>
                        <a:t>MS SQL SERVER</a:t>
                      </a:r>
                      <a:endParaRPr sz="1800" u="none" strike="noStrike" cap="none">
                        <a:latin typeface="+mj-lt"/>
                        <a:ea typeface="Tahoma"/>
                        <a:cs typeface="Tahoma"/>
                        <a:sym typeface="Tahoma"/>
                      </a:endParaRPr>
                    </a:p>
                  </a:txBody>
                  <a:tcPr marL="62200" marR="62200" marT="0" marB="0"/>
                </a:tc>
                <a:tc>
                  <a:txBody>
                    <a:bodyPr/>
                    <a:lstStyle/>
                    <a:p>
                      <a:pPr marL="342900" marR="0" lvl="0" indent="-342900" algn="l" rtl="0">
                        <a:lnSpc>
                          <a:spcPct val="107000"/>
                        </a:lnSpc>
                        <a:spcBef>
                          <a:spcPts val="0"/>
                        </a:spcBef>
                        <a:spcAft>
                          <a:spcPts val="0"/>
                        </a:spcAft>
                        <a:buClr>
                          <a:schemeClr val="dk1"/>
                        </a:buClr>
                        <a:buSzPts val="1800"/>
                        <a:buFont typeface="Arial" panose="020B0604020202020204" pitchFamily="34" charset="0"/>
                        <a:buChar char="•"/>
                      </a:pPr>
                      <a:r>
                        <a:rPr lang="en-US" sz="1800" u="none" strike="noStrike" cap="none" dirty="0" err="1">
                          <a:latin typeface="+mj-lt"/>
                          <a:ea typeface="Tahoma"/>
                          <a:cs typeface="Tahoma"/>
                          <a:sym typeface="Tahoma"/>
                        </a:rPr>
                        <a:t>Một</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hệ</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quản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lý</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cơ</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sở</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dữ</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liệu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quan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hệ</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được</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phát</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triển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bởi</a:t>
                      </a:r>
                      <a:r>
                        <a:rPr lang="en-US" sz="1800" u="none" strike="noStrike" cap="none" dirty="0">
                          <a:latin typeface="+mj-lt"/>
                          <a:ea typeface="Tahoma"/>
                          <a:cs typeface="Tahoma"/>
                          <a:sym typeface="Tahoma"/>
                        </a:rPr>
                        <a:t> Microsoft </a:t>
                      </a:r>
                      <a:r>
                        <a:rPr lang="en-US" sz="1800" u="none" strike="noStrike" cap="none" dirty="0" err="1">
                          <a:latin typeface="+mj-lt"/>
                          <a:ea typeface="Tahoma"/>
                          <a:cs typeface="Tahoma"/>
                          <a:sym typeface="Tahoma"/>
                        </a:rPr>
                        <a:t>Inc</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Ngôn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ngữ</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truy</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vấn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chính</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của</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nó</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là</a:t>
                      </a:r>
                      <a:r>
                        <a:rPr lang="en-US" sz="1800" u="none" strike="noStrike" cap="none" dirty="0">
                          <a:latin typeface="+mj-lt"/>
                          <a:ea typeface="Tahoma"/>
                          <a:cs typeface="Tahoma"/>
                          <a:sym typeface="Tahoma"/>
                        </a:rPr>
                        <a:t>: T-SQL, ANSI SQL</a:t>
                      </a:r>
                      <a:endParaRPr sz="1800" u="none" strike="noStrike" cap="none" dirty="0">
                        <a:latin typeface="+mj-lt"/>
                        <a:ea typeface="Tahoma"/>
                        <a:cs typeface="Tahoma"/>
                        <a:sym typeface="Tahoma"/>
                      </a:endParaRPr>
                    </a:p>
                  </a:txBody>
                  <a:tcPr marL="62200" marR="62200" marT="0" marB="0"/>
                </a:tc>
                <a:tc>
                  <a:txBody>
                    <a:bodyPr/>
                    <a:lstStyle/>
                    <a:p>
                      <a:pPr marL="285750" marR="0" lvl="0" indent="-285750" algn="l" rtl="0">
                        <a:lnSpc>
                          <a:spcPct val="100000"/>
                        </a:lnSpc>
                        <a:spcBef>
                          <a:spcPts val="0"/>
                        </a:spcBef>
                        <a:spcAft>
                          <a:spcPts val="0"/>
                        </a:spcAft>
                        <a:buClr>
                          <a:schemeClr val="dk1"/>
                        </a:buClr>
                        <a:buSzPts val="1000"/>
                        <a:buFont typeface="Arial" panose="020B0604020202020204" pitchFamily="34" charset="0"/>
                        <a:buChar char="•"/>
                      </a:pPr>
                      <a:r>
                        <a:rPr lang="en-US" sz="1800" u="none" strike="noStrike" cap="none" dirty="0" err="1">
                          <a:latin typeface="+mj-lt"/>
                          <a:ea typeface="Tahoma"/>
                          <a:cs typeface="Tahoma"/>
                          <a:sym typeface="Tahoma"/>
                        </a:rPr>
                        <a:t>Hiệu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năng</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cao</a:t>
                      </a:r>
                      <a:endParaRPr sz="1800" u="none" strike="noStrike" cap="none" dirty="0">
                        <a:latin typeface="+mj-lt"/>
                        <a:ea typeface="Tahoma"/>
                        <a:cs typeface="Tahoma"/>
                        <a:sym typeface="Tahoma"/>
                      </a:endParaRPr>
                    </a:p>
                    <a:p>
                      <a:pPr marL="285750" marR="0" lvl="0" indent="-285750" algn="l" rtl="0">
                        <a:lnSpc>
                          <a:spcPct val="100000"/>
                        </a:lnSpc>
                        <a:spcBef>
                          <a:spcPts val="0"/>
                        </a:spcBef>
                        <a:spcAft>
                          <a:spcPts val="0"/>
                        </a:spcAft>
                        <a:buClr>
                          <a:schemeClr val="dk1"/>
                        </a:buClr>
                        <a:buSzPts val="1000"/>
                        <a:buFont typeface="Arial" panose="020B0604020202020204" pitchFamily="34" charset="0"/>
                        <a:buChar char="•"/>
                      </a:pPr>
                      <a:r>
                        <a:rPr lang="en-US" sz="1800" u="none" strike="noStrike" cap="none" dirty="0" err="1">
                          <a:latin typeface="+mj-lt"/>
                          <a:ea typeface="Tahoma"/>
                          <a:cs typeface="Tahoma"/>
                          <a:sym typeface="Tahoma"/>
                        </a:rPr>
                        <a:t>Tính</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sẵn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sàng</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cao</a:t>
                      </a:r>
                      <a:endParaRPr sz="1800" u="none" strike="noStrike" cap="none" dirty="0">
                        <a:latin typeface="+mj-lt"/>
                        <a:ea typeface="Tahoma"/>
                        <a:cs typeface="Tahoma"/>
                        <a:sym typeface="Tahoma"/>
                      </a:endParaRPr>
                    </a:p>
                    <a:p>
                      <a:pPr marL="285750" marR="0" lvl="0" indent="-285750" algn="l" rtl="0">
                        <a:lnSpc>
                          <a:spcPct val="100000"/>
                        </a:lnSpc>
                        <a:spcBef>
                          <a:spcPts val="0"/>
                        </a:spcBef>
                        <a:spcAft>
                          <a:spcPts val="0"/>
                        </a:spcAft>
                        <a:buClr>
                          <a:schemeClr val="dk1"/>
                        </a:buClr>
                        <a:buSzPts val="1000"/>
                        <a:buFont typeface="Arial" panose="020B0604020202020204" pitchFamily="34" charset="0"/>
                        <a:buChar char="•"/>
                      </a:pPr>
                      <a:r>
                        <a:rPr lang="en-US" sz="1800" u="none" strike="noStrike" cap="none" dirty="0">
                          <a:latin typeface="+mj-lt"/>
                          <a:ea typeface="Tahoma"/>
                          <a:cs typeface="Tahoma"/>
                          <a:sym typeface="Tahoma"/>
                        </a:rPr>
                        <a:t>Database mirroring</a:t>
                      </a:r>
                      <a:endParaRPr sz="1800" u="none" strike="noStrike" cap="none" dirty="0">
                        <a:latin typeface="+mj-lt"/>
                        <a:ea typeface="Tahoma"/>
                        <a:cs typeface="Tahoma"/>
                        <a:sym typeface="Tahoma"/>
                      </a:endParaRPr>
                    </a:p>
                    <a:p>
                      <a:pPr marL="285750" marR="0" lvl="0" indent="-285750" algn="l" rtl="0">
                        <a:lnSpc>
                          <a:spcPct val="100000"/>
                        </a:lnSpc>
                        <a:spcBef>
                          <a:spcPts val="0"/>
                        </a:spcBef>
                        <a:spcAft>
                          <a:spcPts val="0"/>
                        </a:spcAft>
                        <a:buClr>
                          <a:schemeClr val="dk1"/>
                        </a:buClr>
                        <a:buSzPts val="1000"/>
                        <a:buFont typeface="Arial" panose="020B0604020202020204" pitchFamily="34" charset="0"/>
                        <a:buChar char="•"/>
                      </a:pPr>
                      <a:r>
                        <a:rPr lang="en-US" sz="1800" u="none" strike="noStrike" cap="none" dirty="0">
                          <a:latin typeface="+mj-lt"/>
                          <a:ea typeface="Tahoma"/>
                          <a:cs typeface="Tahoma"/>
                          <a:sym typeface="Tahoma"/>
                        </a:rPr>
                        <a:t>Database snapshots</a:t>
                      </a:r>
                      <a:endParaRPr sz="1800" u="none" strike="noStrike" cap="none" dirty="0">
                        <a:latin typeface="+mj-lt"/>
                        <a:ea typeface="Tahoma"/>
                        <a:cs typeface="Tahoma"/>
                        <a:sym typeface="Tahoma"/>
                      </a:endParaRPr>
                    </a:p>
                    <a:p>
                      <a:pPr marL="285750" marR="0" lvl="0" indent="-285750" algn="l" rtl="0">
                        <a:lnSpc>
                          <a:spcPct val="100000"/>
                        </a:lnSpc>
                        <a:spcBef>
                          <a:spcPts val="0"/>
                        </a:spcBef>
                        <a:spcAft>
                          <a:spcPts val="0"/>
                        </a:spcAft>
                        <a:buClr>
                          <a:schemeClr val="dk1"/>
                        </a:buClr>
                        <a:buSzPts val="1000"/>
                        <a:buFont typeface="Arial" panose="020B0604020202020204" pitchFamily="34" charset="0"/>
                        <a:buChar char="•"/>
                      </a:pPr>
                      <a:r>
                        <a:rPr lang="en-US" sz="1800" u="none" strike="noStrike" cap="none" dirty="0">
                          <a:latin typeface="+mj-lt"/>
                          <a:ea typeface="Tahoma"/>
                          <a:cs typeface="Tahoma"/>
                          <a:sym typeface="Tahoma"/>
                        </a:rPr>
                        <a:t>…</a:t>
                      </a:r>
                      <a:endParaRPr sz="1800" u="none" strike="noStrike" cap="none" dirty="0">
                        <a:latin typeface="+mj-lt"/>
                        <a:ea typeface="Tahoma"/>
                        <a:cs typeface="Tahoma"/>
                        <a:sym typeface="Tahoma"/>
                      </a:endParaRPr>
                    </a:p>
                  </a:txBody>
                  <a:tcPr marL="62200" marR="62200" marT="0" marB="0"/>
                </a:tc>
                <a:extLst>
                  <a:ext uri="{0D108BD9-81ED-4DB2-BD59-A6C34878D82A}">
                    <a16:rowId xmlns:a16="http://schemas.microsoft.com/office/drawing/2014/main" val="10002"/>
                  </a:ext>
                </a:extLst>
              </a:tr>
              <a:tr h="1871645">
                <a:tc>
                  <a:txBody>
                    <a:bodyPr/>
                    <a:lstStyle/>
                    <a:p>
                      <a:pPr marL="0" marR="0" lvl="0" indent="0" algn="l" rtl="0">
                        <a:lnSpc>
                          <a:spcPct val="107000"/>
                        </a:lnSpc>
                        <a:spcBef>
                          <a:spcPts val="0"/>
                        </a:spcBef>
                        <a:spcAft>
                          <a:spcPts val="0"/>
                        </a:spcAft>
                        <a:buClr>
                          <a:schemeClr val="dk1"/>
                        </a:buClr>
                        <a:buSzPts val="1800"/>
                        <a:buFont typeface="Tahoma"/>
                        <a:buNone/>
                      </a:pPr>
                      <a:r>
                        <a:rPr lang="en-US" sz="1800" u="none" strike="noStrike" cap="none">
                          <a:latin typeface="+mj-lt"/>
                          <a:ea typeface="Tahoma"/>
                          <a:cs typeface="Tahoma"/>
                          <a:sym typeface="Tahoma"/>
                        </a:rPr>
                        <a:t>ORACLE</a:t>
                      </a:r>
                      <a:endParaRPr sz="1800" u="none" strike="noStrike" cap="none">
                        <a:latin typeface="+mj-lt"/>
                        <a:ea typeface="Tahoma"/>
                        <a:cs typeface="Tahoma"/>
                        <a:sym typeface="Tahoma"/>
                      </a:endParaRPr>
                    </a:p>
                  </a:txBody>
                  <a:tcPr marL="62200" marR="62200" marT="0" marB="0"/>
                </a:tc>
                <a:tc>
                  <a:txBody>
                    <a:bodyPr/>
                    <a:lstStyle/>
                    <a:p>
                      <a:pPr marL="342900" marR="0" lvl="0" indent="-342900" algn="l" rtl="0">
                        <a:lnSpc>
                          <a:spcPct val="107000"/>
                        </a:lnSpc>
                        <a:spcBef>
                          <a:spcPts val="0"/>
                        </a:spcBef>
                        <a:spcAft>
                          <a:spcPts val="0"/>
                        </a:spcAft>
                        <a:buClr>
                          <a:schemeClr val="dk1"/>
                        </a:buClr>
                        <a:buSzPts val="1800"/>
                        <a:buFont typeface="Arial" panose="020B0604020202020204" pitchFamily="34" charset="0"/>
                        <a:buChar char="•"/>
                      </a:pPr>
                      <a:r>
                        <a:rPr lang="en-US" sz="1800" u="none" strike="noStrike" cap="none" dirty="0" err="1">
                          <a:latin typeface="+mj-lt"/>
                          <a:ea typeface="Tahoma"/>
                          <a:cs typeface="Tahoma"/>
                          <a:sym typeface="Tahoma"/>
                        </a:rPr>
                        <a:t>Một</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hệ</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thống</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quản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lý</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cơ</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sở</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dữ</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liệu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đa</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người</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dùng</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rất</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lớn</a:t>
                      </a:r>
                      <a:r>
                        <a:rPr lang="en-US" sz="1800" u="none" strike="noStrike" cap="none" dirty="0">
                          <a:latin typeface="+mj-lt"/>
                          <a:ea typeface="Tahoma"/>
                          <a:cs typeface="Tahoma"/>
                          <a:sym typeface="Tahoma"/>
                        </a:rPr>
                        <a:t>.</a:t>
                      </a:r>
                      <a:endParaRPr sz="1800" u="none" strike="noStrike" cap="none" dirty="0">
                        <a:latin typeface="+mj-lt"/>
                        <a:ea typeface="Tahoma"/>
                        <a:cs typeface="Tahoma"/>
                        <a:sym typeface="Tahoma"/>
                      </a:endParaRPr>
                    </a:p>
                    <a:p>
                      <a:pPr marL="342900" marR="0" lvl="0" indent="-342900" algn="l" rtl="0">
                        <a:lnSpc>
                          <a:spcPct val="107000"/>
                        </a:lnSpc>
                        <a:spcBef>
                          <a:spcPts val="0"/>
                        </a:spcBef>
                        <a:spcAft>
                          <a:spcPts val="0"/>
                        </a:spcAft>
                        <a:buClr>
                          <a:schemeClr val="dk1"/>
                        </a:buClr>
                        <a:buSzPts val="1800"/>
                        <a:buFont typeface="Arial" panose="020B0604020202020204" pitchFamily="34" charset="0"/>
                        <a:buChar char="•"/>
                      </a:pPr>
                      <a:r>
                        <a:rPr lang="en-US" sz="1800" u="none" strike="noStrike" cap="none" dirty="0" err="1">
                          <a:latin typeface="+mj-lt"/>
                          <a:ea typeface="Tahoma"/>
                          <a:cs typeface="Tahoma"/>
                          <a:sym typeface="Tahoma"/>
                        </a:rPr>
                        <a:t>Làm</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việc</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để</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quản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lý</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hiệu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quả</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các</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nguồn</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lực</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một</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cơ</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sở</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dữ</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liệu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thông</a:t>
                      </a:r>
                      <a:r>
                        <a:rPr lang="en-US" sz="1800" u="none" strike="noStrike" cap="none" dirty="0">
                          <a:latin typeface="+mj-lt"/>
                          <a:ea typeface="Tahoma"/>
                          <a:cs typeface="Tahoma"/>
                          <a:sym typeface="Tahoma"/>
                        </a:rPr>
                        <a:t> tin </a:t>
                      </a:r>
                      <a:r>
                        <a:rPr lang="en-US" sz="1800" u="none" strike="noStrike" cap="none" dirty="0" err="1">
                          <a:latin typeface="+mj-lt"/>
                          <a:ea typeface="Tahoma"/>
                          <a:cs typeface="Tahoma"/>
                          <a:sym typeface="Tahoma"/>
                        </a:rPr>
                        <a:t>giữa</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nhiều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khách</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hàng</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yêu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cầu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và</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gửi</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dữ</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liệu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trong</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mạng</a:t>
                      </a:r>
                      <a:r>
                        <a:rPr lang="en-US" sz="1800" u="none" strike="noStrike" cap="none" dirty="0">
                          <a:latin typeface="+mj-lt"/>
                          <a:ea typeface="Tahoma"/>
                          <a:cs typeface="Tahoma"/>
                          <a:sym typeface="Tahoma"/>
                        </a:rPr>
                        <a:t>.</a:t>
                      </a:r>
                      <a:endParaRPr sz="1800" u="none" strike="noStrike" cap="none" dirty="0">
                        <a:latin typeface="+mj-lt"/>
                        <a:ea typeface="Tahoma"/>
                        <a:cs typeface="Tahoma"/>
                        <a:sym typeface="Tahoma"/>
                      </a:endParaRPr>
                    </a:p>
                  </a:txBody>
                  <a:tcPr marL="62200" marR="62200" marT="0" marB="0"/>
                </a:tc>
                <a:tc>
                  <a:txBody>
                    <a:bodyPr/>
                    <a:lstStyle/>
                    <a:p>
                      <a:pPr marL="285750" marR="0" lvl="0" indent="-285750" algn="l" rtl="0">
                        <a:lnSpc>
                          <a:spcPct val="100000"/>
                        </a:lnSpc>
                        <a:spcBef>
                          <a:spcPts val="0"/>
                        </a:spcBef>
                        <a:spcAft>
                          <a:spcPts val="0"/>
                        </a:spcAft>
                        <a:buClr>
                          <a:schemeClr val="dk1"/>
                        </a:buClr>
                        <a:buSzPts val="1800"/>
                        <a:buFont typeface="Arial" panose="020B0604020202020204" pitchFamily="34" charset="0"/>
                        <a:buChar char="•"/>
                      </a:pPr>
                      <a:r>
                        <a:rPr lang="en-US" sz="1800" u="none" strike="noStrike" cap="none" dirty="0" err="1">
                          <a:latin typeface="+mj-lt"/>
                          <a:ea typeface="Tahoma"/>
                          <a:cs typeface="Tahoma"/>
                          <a:sym typeface="Tahoma"/>
                        </a:rPr>
                        <a:t>Truy</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cập</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đồng</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thời</a:t>
                      </a:r>
                      <a:endParaRPr sz="1800" u="none" strike="noStrike" cap="none" dirty="0">
                        <a:latin typeface="+mj-lt"/>
                        <a:ea typeface="Tahoma"/>
                        <a:cs typeface="Tahoma"/>
                        <a:sym typeface="Tahoma"/>
                      </a:endParaRPr>
                    </a:p>
                    <a:p>
                      <a:pPr marL="285750" marR="0" lvl="0" indent="-285750" algn="l" rtl="0">
                        <a:lnSpc>
                          <a:spcPct val="100000"/>
                        </a:lnSpc>
                        <a:spcBef>
                          <a:spcPts val="0"/>
                        </a:spcBef>
                        <a:spcAft>
                          <a:spcPts val="0"/>
                        </a:spcAft>
                        <a:buClr>
                          <a:schemeClr val="dk1"/>
                        </a:buClr>
                        <a:buSzPts val="1800"/>
                        <a:buFont typeface="Arial" panose="020B0604020202020204" pitchFamily="34" charset="0"/>
                        <a:buChar char="•"/>
                      </a:pPr>
                      <a:r>
                        <a:rPr lang="en-US" sz="1800" u="none" strike="noStrike" cap="none" dirty="0" err="1">
                          <a:latin typeface="+mj-lt"/>
                          <a:ea typeface="Tahoma"/>
                          <a:cs typeface="Tahoma"/>
                          <a:sym typeface="Tahoma"/>
                        </a:rPr>
                        <a:t>Đọc</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tính</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nhất</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quán</a:t>
                      </a:r>
                      <a:endParaRPr sz="1800" u="none" strike="noStrike" cap="none" dirty="0">
                        <a:latin typeface="+mj-lt"/>
                        <a:ea typeface="Tahoma"/>
                        <a:cs typeface="Tahoma"/>
                        <a:sym typeface="Tahoma"/>
                      </a:endParaRPr>
                    </a:p>
                    <a:p>
                      <a:pPr marL="285750" marR="0" lvl="0" indent="-285750" algn="l" rtl="0">
                        <a:lnSpc>
                          <a:spcPct val="100000"/>
                        </a:lnSpc>
                        <a:spcBef>
                          <a:spcPts val="0"/>
                        </a:spcBef>
                        <a:spcAft>
                          <a:spcPts val="0"/>
                        </a:spcAft>
                        <a:buClr>
                          <a:schemeClr val="dk1"/>
                        </a:buClr>
                        <a:buSzPts val="1800"/>
                        <a:buFont typeface="Arial" panose="020B0604020202020204" pitchFamily="34" charset="0"/>
                        <a:buChar char="•"/>
                      </a:pPr>
                      <a:r>
                        <a:rPr lang="en-US" sz="1800" u="none" strike="noStrike" cap="none" dirty="0" err="1">
                          <a:latin typeface="+mj-lt"/>
                          <a:ea typeface="Tahoma"/>
                          <a:cs typeface="Tahoma"/>
                          <a:sym typeface="Tahoma"/>
                        </a:rPr>
                        <a:t>Cơ</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chế</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khóa</a:t>
                      </a:r>
                      <a:endParaRPr sz="1800" u="none" strike="noStrike" cap="none" dirty="0">
                        <a:latin typeface="+mj-lt"/>
                        <a:ea typeface="Tahoma"/>
                        <a:cs typeface="Tahoma"/>
                        <a:sym typeface="Tahoma"/>
                      </a:endParaRPr>
                    </a:p>
                    <a:p>
                      <a:pPr marL="285750" marR="0" lvl="0" indent="-285750" algn="l" rtl="0">
                        <a:lnSpc>
                          <a:spcPct val="100000"/>
                        </a:lnSpc>
                        <a:spcBef>
                          <a:spcPts val="0"/>
                        </a:spcBef>
                        <a:spcAft>
                          <a:spcPts val="0"/>
                        </a:spcAft>
                        <a:buClr>
                          <a:schemeClr val="dk1"/>
                        </a:buClr>
                        <a:buSzPts val="1800"/>
                        <a:buFont typeface="Arial" panose="020B0604020202020204" pitchFamily="34" charset="0"/>
                        <a:buChar char="•"/>
                      </a:pPr>
                      <a:r>
                        <a:rPr lang="en-US" sz="1800" u="none" strike="noStrike" cap="none" dirty="0" err="1">
                          <a:latin typeface="+mj-lt"/>
                          <a:ea typeface="Tahoma"/>
                          <a:cs typeface="Tahoma"/>
                          <a:sym typeface="Tahoma"/>
                        </a:rPr>
                        <a:t>Cơ</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sở</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dữ</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liệu</a:t>
                      </a:r>
                      <a:r>
                        <a:rPr lang="en-US" sz="1800" u="none" strike="noStrike" cap="none" dirty="0">
                          <a:latin typeface="+mj-lt"/>
                          <a:ea typeface="Tahoma"/>
                          <a:cs typeface="Tahoma"/>
                          <a:sym typeface="Tahoma"/>
                        </a:rPr>
                        <a:t> </a:t>
                      </a:r>
                      <a:r>
                        <a:rPr lang="en-US" sz="1800" u="none" strike="noStrike" cap="none" dirty="0" err="1">
                          <a:latin typeface="+mj-lt"/>
                          <a:ea typeface="Tahoma"/>
                          <a:cs typeface="Tahoma"/>
                          <a:sym typeface="Tahoma"/>
                        </a:rPr>
                        <a:t>Quiesce</a:t>
                      </a:r>
                      <a:endParaRPr sz="1800" u="none" strike="noStrike" cap="none" dirty="0">
                        <a:latin typeface="+mj-lt"/>
                        <a:ea typeface="Tahoma"/>
                        <a:cs typeface="Tahoma"/>
                        <a:sym typeface="Tahoma"/>
                      </a:endParaRPr>
                    </a:p>
                    <a:p>
                      <a:pPr marL="285750" marR="0" lvl="0" indent="-285750" algn="l" rtl="0">
                        <a:lnSpc>
                          <a:spcPct val="100000"/>
                        </a:lnSpc>
                        <a:spcBef>
                          <a:spcPts val="0"/>
                        </a:spcBef>
                        <a:spcAft>
                          <a:spcPts val="0"/>
                        </a:spcAft>
                        <a:buClr>
                          <a:schemeClr val="dk1"/>
                        </a:buClr>
                        <a:buSzPts val="1800"/>
                        <a:buFont typeface="Arial" panose="020B0604020202020204" pitchFamily="34" charset="0"/>
                        <a:buChar char="•"/>
                      </a:pPr>
                      <a:r>
                        <a:rPr lang="en-US" sz="1800" u="none" strike="noStrike" cap="none" dirty="0">
                          <a:latin typeface="+mj-lt"/>
                          <a:ea typeface="Tahoma"/>
                          <a:cs typeface="Tahoma"/>
                          <a:sym typeface="Tahoma"/>
                        </a:rPr>
                        <a:t>Scheduler</a:t>
                      </a:r>
                    </a:p>
                    <a:p>
                      <a:pPr marL="285750" marR="0" lvl="0" indent="-285750" algn="l" rtl="0">
                        <a:lnSpc>
                          <a:spcPct val="100000"/>
                        </a:lnSpc>
                        <a:spcBef>
                          <a:spcPts val="0"/>
                        </a:spcBef>
                        <a:spcAft>
                          <a:spcPts val="0"/>
                        </a:spcAft>
                        <a:buClr>
                          <a:schemeClr val="dk1"/>
                        </a:buClr>
                        <a:buSzPts val="1800"/>
                        <a:buFont typeface="Arial" panose="020B0604020202020204" pitchFamily="34" charset="0"/>
                        <a:buChar char="•"/>
                      </a:pPr>
                      <a:r>
                        <a:rPr lang="en-US" sz="1800" u="none" strike="noStrike" cap="none" dirty="0">
                          <a:latin typeface="+mj-lt"/>
                          <a:ea typeface="Tahoma"/>
                          <a:cs typeface="Tahoma"/>
                          <a:sym typeface="Tahoma"/>
                        </a:rPr>
                        <a:t>…</a:t>
                      </a:r>
                    </a:p>
                  </a:txBody>
                  <a:tcPr marL="62200" marR="6220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64566882"/>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xfrm>
            <a:off x="533401" y="406401"/>
            <a:ext cx="11125200" cy="527251"/>
          </a:xfrm>
          <a:prstGeom prst="rect">
            <a:avLst/>
          </a:prstGeom>
          <a:noFill/>
          <a:ln>
            <a:noFill/>
          </a:ln>
        </p:spPr>
        <p:txBody>
          <a:bodyPr spcFirstLastPara="1" wrap="square" lIns="0" tIns="0" rIns="0" bIns="0" anchor="b" anchorCtr="0">
            <a:noAutofit/>
          </a:bodyPr>
          <a:lstStyle/>
          <a:p>
            <a:r>
              <a:rPr lang="en-US" sz="4000" b="1" dirty="0">
                <a:latin typeface="+mn-lt"/>
                <a:ea typeface="Tahoma"/>
                <a:cs typeface="Tahoma"/>
                <a:sym typeface="Tahoma"/>
              </a:rPr>
              <a:t>Structured Query Language - SQL</a:t>
            </a:r>
            <a:endParaRPr sz="4000" b="1" dirty="0">
              <a:latin typeface="+mn-lt"/>
              <a:ea typeface="Tahoma"/>
              <a:cs typeface="Tahoma"/>
              <a:sym typeface="Tahoma"/>
            </a:endParaRPr>
          </a:p>
        </p:txBody>
      </p:sp>
      <p:sp>
        <p:nvSpPr>
          <p:cNvPr id="145" name="Google Shape;145;p5"/>
          <p:cNvSpPr txBox="1">
            <a:spLocks noGrp="1"/>
          </p:cNvSpPr>
          <p:nvPr>
            <p:ph type="body" idx="1"/>
          </p:nvPr>
        </p:nvSpPr>
        <p:spPr>
          <a:xfrm>
            <a:off x="221942" y="1347538"/>
            <a:ext cx="11437319" cy="4596063"/>
          </a:xfrm>
          <a:prstGeom prst="rect">
            <a:avLst/>
          </a:prstGeom>
          <a:noFill/>
          <a:ln>
            <a:noFill/>
          </a:ln>
        </p:spPr>
        <p:txBody>
          <a:bodyPr spcFirstLastPara="1" wrap="square" lIns="0" tIns="0" rIns="0" bIns="0" anchor="t" anchorCtr="0">
            <a:noAutofit/>
          </a:bodyPr>
          <a:lstStyle/>
          <a:p>
            <a:pPr marL="228600" lvl="0" indent="-228600" algn="l" rtl="0">
              <a:lnSpc>
                <a:spcPct val="90000"/>
              </a:lnSpc>
              <a:spcBef>
                <a:spcPts val="1200"/>
              </a:spcBef>
              <a:spcAft>
                <a:spcPts val="0"/>
              </a:spcAft>
              <a:buClr>
                <a:schemeClr val="dk1"/>
              </a:buClr>
              <a:buSzPts val="2400"/>
              <a:buChar char="•"/>
            </a:pPr>
            <a:r>
              <a:rPr lang="en-US" sz="2400" dirty="0" err="1">
                <a:latin typeface="Tahoma"/>
                <a:ea typeface="Tahoma"/>
                <a:cs typeface="Tahoma"/>
                <a:sym typeface="Tahoma"/>
              </a:rPr>
              <a:t>Là</a:t>
            </a:r>
            <a:r>
              <a:rPr lang="en-US" sz="2400" dirty="0">
                <a:latin typeface="Tahoma"/>
                <a:ea typeface="Tahoma"/>
                <a:cs typeface="Tahoma"/>
                <a:sym typeface="Tahoma"/>
              </a:rPr>
              <a:t> </a:t>
            </a:r>
            <a:r>
              <a:rPr lang="en-US" sz="2400" dirty="0" err="1">
                <a:latin typeface="Tahoma"/>
                <a:ea typeface="Tahoma"/>
                <a:cs typeface="Tahoma"/>
                <a:sym typeface="Tahoma"/>
              </a:rPr>
              <a:t>ngôn</a:t>
            </a:r>
            <a:r>
              <a:rPr lang="en-US" sz="2400" dirty="0">
                <a:latin typeface="Tahoma"/>
                <a:ea typeface="Tahoma"/>
                <a:cs typeface="Tahoma"/>
                <a:sym typeface="Tahoma"/>
              </a:rPr>
              <a:t> </a:t>
            </a:r>
            <a:r>
              <a:rPr lang="en-US" sz="2400" dirty="0" err="1">
                <a:latin typeface="Tahoma"/>
                <a:ea typeface="Tahoma"/>
                <a:cs typeface="Tahoma"/>
                <a:sym typeface="Tahoma"/>
              </a:rPr>
              <a:t>ngữ</a:t>
            </a:r>
            <a:r>
              <a:rPr lang="en-US" sz="2400" dirty="0">
                <a:latin typeface="Tahoma"/>
                <a:ea typeface="Tahoma"/>
                <a:cs typeface="Tahoma"/>
                <a:sym typeface="Tahoma"/>
              </a:rPr>
              <a:t> </a:t>
            </a:r>
            <a:r>
              <a:rPr lang="en-US" sz="2400" dirty="0" err="1">
                <a:latin typeface="Tahoma"/>
                <a:ea typeface="Tahoma"/>
                <a:cs typeface="Tahoma"/>
                <a:sym typeface="Tahoma"/>
              </a:rPr>
              <a:t>truy</a:t>
            </a:r>
            <a:r>
              <a:rPr lang="en-US" sz="2400" dirty="0">
                <a:latin typeface="Tahoma"/>
                <a:ea typeface="Tahoma"/>
                <a:cs typeface="Tahoma"/>
                <a:sym typeface="Tahoma"/>
              </a:rPr>
              <a:t> vấn có </a:t>
            </a:r>
            <a:r>
              <a:rPr lang="en-US" sz="2400" dirty="0" err="1">
                <a:latin typeface="Tahoma"/>
                <a:ea typeface="Tahoma"/>
                <a:cs typeface="Tahoma"/>
                <a:sym typeface="Tahoma"/>
              </a:rPr>
              <a:t>cấu</a:t>
            </a:r>
            <a:r>
              <a:rPr lang="en-US" sz="2400" dirty="0">
                <a:latin typeface="Tahoma"/>
                <a:ea typeface="Tahoma"/>
                <a:cs typeface="Tahoma"/>
                <a:sym typeface="Tahoma"/>
              </a:rPr>
              <a:t> trúc, một </a:t>
            </a:r>
            <a:r>
              <a:rPr lang="en-US" sz="2400" dirty="0" err="1">
                <a:latin typeface="Tahoma"/>
                <a:ea typeface="Tahoma"/>
                <a:cs typeface="Tahoma"/>
                <a:sym typeface="Tahoma"/>
              </a:rPr>
              <a:t>ngôn</a:t>
            </a:r>
            <a:r>
              <a:rPr lang="en-US" sz="2400" dirty="0">
                <a:latin typeface="Tahoma"/>
                <a:ea typeface="Tahoma"/>
                <a:cs typeface="Tahoma"/>
                <a:sym typeface="Tahoma"/>
              </a:rPr>
              <a:t> </a:t>
            </a:r>
            <a:r>
              <a:rPr lang="en-US" sz="2400" dirty="0" err="1">
                <a:latin typeface="Tahoma"/>
                <a:ea typeface="Tahoma"/>
                <a:cs typeface="Tahoma"/>
                <a:sym typeface="Tahoma"/>
              </a:rPr>
              <a:t>ngữ</a:t>
            </a:r>
            <a:r>
              <a:rPr lang="en-US" sz="2400" dirty="0">
                <a:latin typeface="Tahoma"/>
                <a:ea typeface="Tahoma"/>
                <a:cs typeface="Tahoma"/>
                <a:sym typeface="Tahoma"/>
              </a:rPr>
              <a:t> máy tính để lưu </a:t>
            </a:r>
            <a:r>
              <a:rPr lang="en-US" sz="2400" dirty="0" err="1">
                <a:latin typeface="Tahoma"/>
                <a:ea typeface="Tahoma"/>
                <a:cs typeface="Tahoma"/>
                <a:sym typeface="Tahoma"/>
              </a:rPr>
              <a:t>trữ</a:t>
            </a:r>
            <a:r>
              <a:rPr lang="en-US" sz="2400" dirty="0">
                <a:latin typeface="Tahoma"/>
                <a:ea typeface="Tahoma"/>
                <a:cs typeface="Tahoma"/>
                <a:sym typeface="Tahoma"/>
              </a:rPr>
              <a:t>, </a:t>
            </a:r>
            <a:r>
              <a:rPr lang="en-US" sz="2400" dirty="0" err="1">
                <a:latin typeface="Tahoma"/>
                <a:ea typeface="Tahoma"/>
                <a:cs typeface="Tahoma"/>
                <a:sym typeface="Tahoma"/>
              </a:rPr>
              <a:t>thao</a:t>
            </a:r>
            <a:r>
              <a:rPr lang="en-US" sz="2400" dirty="0">
                <a:latin typeface="Tahoma"/>
                <a:ea typeface="Tahoma"/>
                <a:cs typeface="Tahoma"/>
                <a:sym typeface="Tahoma"/>
              </a:rPr>
              <a:t> </a:t>
            </a:r>
            <a:r>
              <a:rPr lang="en-US" sz="2400" dirty="0" err="1">
                <a:latin typeface="Tahoma"/>
                <a:ea typeface="Tahoma"/>
                <a:cs typeface="Tahoma"/>
                <a:sym typeface="Tahoma"/>
              </a:rPr>
              <a:t>tác</a:t>
            </a:r>
            <a:r>
              <a:rPr lang="en-US" sz="2400" dirty="0">
                <a:latin typeface="Tahoma"/>
                <a:ea typeface="Tahoma"/>
                <a:cs typeface="Tahoma"/>
                <a:sym typeface="Tahoma"/>
              </a:rPr>
              <a:t> và </a:t>
            </a:r>
            <a:r>
              <a:rPr lang="en-US" sz="2400" dirty="0" err="1">
                <a:latin typeface="Tahoma"/>
                <a:ea typeface="Tahoma"/>
                <a:cs typeface="Tahoma"/>
                <a:sym typeface="Tahoma"/>
              </a:rPr>
              <a:t>truy</a:t>
            </a:r>
            <a:r>
              <a:rPr lang="en-US" sz="2400" dirty="0">
                <a:latin typeface="Tahoma"/>
                <a:ea typeface="Tahoma"/>
                <a:cs typeface="Tahoma"/>
                <a:sym typeface="Tahoma"/>
              </a:rPr>
              <a:t> xuất dữ liệu </a:t>
            </a:r>
            <a:endParaRPr sz="2400" dirty="0">
              <a:latin typeface="Tahoma"/>
              <a:ea typeface="Tahoma"/>
              <a:cs typeface="Tahoma"/>
              <a:sym typeface="Tahoma"/>
            </a:endParaRPr>
          </a:p>
          <a:p>
            <a:pPr marL="228600" lvl="0" indent="-228600" algn="l" rtl="0">
              <a:lnSpc>
                <a:spcPct val="90000"/>
              </a:lnSpc>
              <a:spcBef>
                <a:spcPts val="1200"/>
              </a:spcBef>
              <a:spcAft>
                <a:spcPts val="0"/>
              </a:spcAft>
              <a:buClr>
                <a:schemeClr val="dk1"/>
              </a:buClr>
              <a:buSzPts val="2400"/>
              <a:buChar char="•"/>
            </a:pPr>
            <a:r>
              <a:rPr lang="en-US" sz="2400">
                <a:latin typeface="Tahoma"/>
                <a:ea typeface="Tahoma"/>
                <a:cs typeface="Tahoma"/>
                <a:sym typeface="Tahoma"/>
              </a:rPr>
              <a:t>Tất </a:t>
            </a:r>
            <a:r>
              <a:rPr lang="en-US" sz="2400" dirty="0">
                <a:latin typeface="Tahoma"/>
                <a:ea typeface="Tahoma"/>
                <a:cs typeface="Tahoma"/>
                <a:sym typeface="Tahoma"/>
              </a:rPr>
              <a:t>cả các hệ thống </a:t>
            </a:r>
            <a:r>
              <a:rPr lang="en-US" sz="2400" dirty="0" err="1">
                <a:latin typeface="Tahoma"/>
                <a:ea typeface="Tahoma"/>
                <a:cs typeface="Tahoma"/>
                <a:sym typeface="Tahoma"/>
              </a:rPr>
              <a:t>quản</a:t>
            </a:r>
            <a:r>
              <a:rPr lang="en-US" sz="2400" dirty="0">
                <a:latin typeface="Tahoma"/>
                <a:ea typeface="Tahoma"/>
                <a:cs typeface="Tahoma"/>
                <a:sym typeface="Tahoma"/>
              </a:rPr>
              <a:t> </a:t>
            </a:r>
            <a:r>
              <a:rPr lang="en-US" sz="2400" dirty="0" err="1">
                <a:latin typeface="Tahoma"/>
                <a:ea typeface="Tahoma"/>
                <a:cs typeface="Tahoma"/>
                <a:sym typeface="Tahoma"/>
              </a:rPr>
              <a:t>trị</a:t>
            </a:r>
            <a:r>
              <a:rPr lang="en-US" sz="2400" dirty="0">
                <a:latin typeface="Tahoma"/>
                <a:ea typeface="Tahoma"/>
                <a:cs typeface="Tahoma"/>
                <a:sym typeface="Tahoma"/>
              </a:rPr>
              <a:t> </a:t>
            </a:r>
            <a:r>
              <a:rPr lang="en-US" sz="2400" dirty="0" err="1">
                <a:latin typeface="Tahoma"/>
                <a:ea typeface="Tahoma"/>
                <a:cs typeface="Tahoma"/>
                <a:sym typeface="Tahoma"/>
              </a:rPr>
              <a:t>cơ</a:t>
            </a:r>
            <a:r>
              <a:rPr lang="en-US" sz="2400" dirty="0">
                <a:latin typeface="Tahoma"/>
                <a:ea typeface="Tahoma"/>
                <a:cs typeface="Tahoma"/>
                <a:sym typeface="Tahoma"/>
              </a:rPr>
              <a:t> </a:t>
            </a:r>
            <a:r>
              <a:rPr lang="en-US" sz="2400" dirty="0" err="1">
                <a:latin typeface="Tahoma"/>
                <a:ea typeface="Tahoma"/>
                <a:cs typeface="Tahoma"/>
                <a:sym typeface="Tahoma"/>
              </a:rPr>
              <a:t>sở</a:t>
            </a:r>
            <a:r>
              <a:rPr lang="en-US" sz="2400" dirty="0">
                <a:latin typeface="Tahoma"/>
                <a:ea typeface="Tahoma"/>
                <a:cs typeface="Tahoma"/>
                <a:sym typeface="Tahoma"/>
              </a:rPr>
              <a:t> dữ liệu </a:t>
            </a:r>
            <a:r>
              <a:rPr lang="en-US" sz="2400" dirty="0" err="1">
                <a:latin typeface="Tahoma"/>
                <a:ea typeface="Tahoma"/>
                <a:cs typeface="Tahoma"/>
                <a:sym typeface="Tahoma"/>
              </a:rPr>
              <a:t>quan</a:t>
            </a:r>
            <a:r>
              <a:rPr lang="en-US" sz="2400" dirty="0">
                <a:latin typeface="Tahoma"/>
                <a:ea typeface="Tahoma"/>
                <a:cs typeface="Tahoma"/>
                <a:sym typeface="Tahoma"/>
              </a:rPr>
              <a:t> hệ (RDBMS) như MySQL, MS Access, Oracle, Sybase, Informix</a:t>
            </a:r>
            <a:r>
              <a:rPr lang="en-US" sz="2400">
                <a:latin typeface="Tahoma"/>
                <a:ea typeface="Tahoma"/>
                <a:cs typeface="Tahoma"/>
                <a:sym typeface="Tahoma"/>
              </a:rPr>
              <a:t>, Postgres, SQL </a:t>
            </a:r>
            <a:r>
              <a:rPr lang="en-US" sz="2400" dirty="0">
                <a:latin typeface="Tahoma"/>
                <a:ea typeface="Tahoma"/>
                <a:cs typeface="Tahoma"/>
                <a:sym typeface="Tahoma"/>
              </a:rPr>
              <a:t>Server đều </a:t>
            </a:r>
            <a:r>
              <a:rPr lang="en-US" sz="2400" dirty="0" err="1">
                <a:latin typeface="Tahoma"/>
                <a:ea typeface="Tahoma"/>
                <a:cs typeface="Tahoma"/>
                <a:sym typeface="Tahoma"/>
              </a:rPr>
              <a:t>sử</a:t>
            </a:r>
            <a:r>
              <a:rPr lang="en-US" sz="2400" dirty="0">
                <a:latin typeface="Tahoma"/>
                <a:ea typeface="Tahoma"/>
                <a:cs typeface="Tahoma"/>
                <a:sym typeface="Tahoma"/>
              </a:rPr>
              <a:t> </a:t>
            </a:r>
            <a:r>
              <a:rPr lang="en-US" sz="2400" dirty="0" err="1">
                <a:latin typeface="Tahoma"/>
                <a:ea typeface="Tahoma"/>
                <a:cs typeface="Tahoma"/>
                <a:sym typeface="Tahoma"/>
              </a:rPr>
              <a:t>dụng</a:t>
            </a:r>
            <a:r>
              <a:rPr lang="en-US" sz="2400" dirty="0">
                <a:latin typeface="Tahoma"/>
                <a:ea typeface="Tahoma"/>
                <a:cs typeface="Tahoma"/>
                <a:sym typeface="Tahoma"/>
              </a:rPr>
              <a:t> SQL làm </a:t>
            </a:r>
            <a:r>
              <a:rPr lang="en-US" sz="2400" dirty="0" err="1">
                <a:latin typeface="Tahoma"/>
                <a:ea typeface="Tahoma"/>
                <a:cs typeface="Tahoma"/>
                <a:sym typeface="Tahoma"/>
              </a:rPr>
              <a:t>ngôn</a:t>
            </a:r>
            <a:r>
              <a:rPr lang="en-US" sz="2400" dirty="0">
                <a:latin typeface="Tahoma"/>
                <a:ea typeface="Tahoma"/>
                <a:cs typeface="Tahoma"/>
                <a:sym typeface="Tahoma"/>
              </a:rPr>
              <a:t> </a:t>
            </a:r>
            <a:r>
              <a:rPr lang="en-US" sz="2400" dirty="0" err="1">
                <a:latin typeface="Tahoma"/>
                <a:ea typeface="Tahoma"/>
                <a:cs typeface="Tahoma"/>
                <a:sym typeface="Tahoma"/>
              </a:rPr>
              <a:t>ngữ</a:t>
            </a:r>
            <a:r>
              <a:rPr lang="en-US" sz="2400" dirty="0">
                <a:latin typeface="Tahoma"/>
                <a:ea typeface="Tahoma"/>
                <a:cs typeface="Tahoma"/>
                <a:sym typeface="Tahoma"/>
              </a:rPr>
              <a:t> cơ </a:t>
            </a:r>
            <a:r>
              <a:rPr lang="en-US" sz="2400" dirty="0" err="1">
                <a:latin typeface="Tahoma"/>
                <a:ea typeface="Tahoma"/>
                <a:cs typeface="Tahoma"/>
                <a:sym typeface="Tahoma"/>
              </a:rPr>
              <a:t>sở</a:t>
            </a:r>
            <a:r>
              <a:rPr lang="en-US" sz="2400" dirty="0">
                <a:latin typeface="Tahoma"/>
                <a:ea typeface="Tahoma"/>
                <a:cs typeface="Tahoma"/>
                <a:sym typeface="Tahoma"/>
              </a:rPr>
              <a:t> dữ liệu </a:t>
            </a:r>
            <a:r>
              <a:rPr lang="en-US" sz="2400">
                <a:latin typeface="Tahoma"/>
                <a:ea typeface="Tahoma"/>
                <a:cs typeface="Tahoma"/>
                <a:sym typeface="Tahoma"/>
              </a:rPr>
              <a:t>chuẩn.</a:t>
            </a:r>
          </a:p>
          <a:p>
            <a:pPr marL="228600" lvl="0" indent="-228600">
              <a:buSzPts val="2400"/>
            </a:pPr>
            <a:r>
              <a:rPr lang="en-US" sz="2400">
                <a:latin typeface="Tahoma"/>
                <a:ea typeface="Tahoma"/>
                <a:cs typeface="Tahoma"/>
                <a:sym typeface="Tahoma"/>
              </a:rPr>
              <a:t>Lịch sử SQL:</a:t>
            </a:r>
          </a:p>
          <a:p>
            <a:pPr marL="685800" lvl="1" indent="-228600">
              <a:buSzPts val="2400"/>
            </a:pPr>
            <a:r>
              <a:rPr lang="vi-VN" sz="1800">
                <a:latin typeface="Tahoma"/>
                <a:ea typeface="Tahoma"/>
                <a:cs typeface="Tahoma"/>
                <a:sym typeface="Tahoma"/>
              </a:rPr>
              <a:t>1970 - Tiến sĩ Edgar F. "Ted" Codd của IBM được biết đến như là cha đẻ của các cơ sở dữ liệu quan hệ. Ông mô tả một mô hình quan hệ cho cơ sở dữ liệu.</a:t>
            </a:r>
          </a:p>
          <a:p>
            <a:pPr marL="685800" lvl="1" indent="-228600">
              <a:buSzPts val="2400"/>
            </a:pPr>
            <a:r>
              <a:rPr lang="vi-VN" sz="1800">
                <a:latin typeface="Tahoma"/>
                <a:ea typeface="Tahoma"/>
                <a:cs typeface="Tahoma"/>
                <a:sym typeface="Tahoma"/>
              </a:rPr>
              <a:t>1974 - Đã xuất hiện Structured Query Language.</a:t>
            </a:r>
          </a:p>
          <a:p>
            <a:pPr marL="685800" lvl="1" indent="-228600">
              <a:buSzPts val="2400"/>
            </a:pPr>
            <a:r>
              <a:rPr lang="vi-VN" sz="1800">
                <a:latin typeface="Tahoma"/>
                <a:ea typeface="Tahoma"/>
                <a:cs typeface="Tahoma"/>
                <a:sym typeface="Tahoma"/>
              </a:rPr>
              <a:t>1978 - IBM đã làm việc để phát triển các ý tưởng của Codd và đưa ra một sản phẩm có tên System / R.</a:t>
            </a:r>
          </a:p>
          <a:p>
            <a:pPr marL="685800" lvl="1" indent="-228600">
              <a:buSzPts val="2400"/>
            </a:pPr>
            <a:r>
              <a:rPr lang="vi-VN" sz="1800">
                <a:latin typeface="Tahoma"/>
                <a:ea typeface="Tahoma"/>
                <a:cs typeface="Tahoma"/>
                <a:sym typeface="Tahoma"/>
              </a:rPr>
              <a:t>1986 - IBM đã phát triển nguyên mẫu đầu tiên của cơ sở dữ liệu quan hệ và được tiêu chuẩn hóa bởi ANSI. Cơ sở dữ liệu quan hệ đầu tiên được phát hành bởi Relational Software sau này được gọi là Oracle.</a:t>
            </a:r>
            <a:endParaRPr lang="en-US" sz="1800">
              <a:latin typeface="Tahoma"/>
              <a:ea typeface="Tahoma"/>
              <a:cs typeface="Tahoma"/>
              <a:sym typeface="Tahoma"/>
            </a:endParaRPr>
          </a:p>
        </p:txBody>
      </p:sp>
      <p:sp>
        <p:nvSpPr>
          <p:cNvPr id="147" name="Google Shape;147;p5"/>
          <p:cNvSpPr txBox="1">
            <a:spLocks noGrp="1"/>
          </p:cNvSpPr>
          <p:nvPr>
            <p:ph type="sldNum" idx="12"/>
          </p:nvPr>
        </p:nvSpPr>
        <p:spPr>
          <a:xfrm>
            <a:off x="11325227" y="6556376"/>
            <a:ext cx="333375" cy="182563"/>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dk1"/>
              </a:buClr>
              <a:buSzPts val="800"/>
              <a:buFont typeface="Calibri"/>
              <a:buNone/>
            </a:pPr>
            <a:fld id="{00000000-1234-1234-1234-123412341234}" type="slidenum">
              <a:rPr lang="en-US"/>
              <a:t>23</a:t>
            </a:fld>
            <a:endParaRP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TotalTime>
  <Words>1721</Words>
  <Application>Microsoft Office PowerPoint</Application>
  <PresentationFormat>Widescreen</PresentationFormat>
  <Paragraphs>213</Paragraphs>
  <Slides>23</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Tahoma</vt:lpstr>
      <vt:lpstr>Times New Roman</vt:lpstr>
      <vt:lpstr>Calibri</vt:lpstr>
      <vt:lpstr>Office Theme</vt:lpstr>
      <vt:lpstr>TỔNG QUAN  CƠ SỞ DỮ LIỆU &amp; SQL</vt:lpstr>
      <vt:lpstr>Nội dung</vt:lpstr>
      <vt:lpstr>Tại sao phải có cơ sở dữ liệu?</vt:lpstr>
      <vt:lpstr>Tại sao phải có cơ sở dữ liệu?</vt:lpstr>
      <vt:lpstr>Cơ sở dữ liệu</vt:lpstr>
      <vt:lpstr>Chúng ta thấy:</vt:lpstr>
      <vt:lpstr>PowerPoint Presentation</vt:lpstr>
      <vt:lpstr>Cơ sở dữ liệu</vt:lpstr>
      <vt:lpstr>Cơ sở dữ liệu</vt:lpstr>
      <vt:lpstr>Mô hình Cơ sở dữ liệu Quan hệ</vt:lpstr>
      <vt:lpstr>Mô hình Cơ sở dữ liệu Quan hệ</vt:lpstr>
      <vt:lpstr>Các thành phần cơ bản của một Cơ sở dữ liệu quan hệ</vt:lpstr>
      <vt:lpstr>Các thành phần cơ bản của một Cơ sở dữ liệu quan hệ</vt:lpstr>
      <vt:lpstr>Các thành phần cơ bản của một Cơ sở dữ liệu quan hệ</vt:lpstr>
      <vt:lpstr>Các thành phần cơ bản của một Cơ sở dữ liệu quan hệ</vt:lpstr>
      <vt:lpstr>Các thành phần cơ bản của một Cơ sở dữ liệu quan hệ</vt:lpstr>
      <vt:lpstr>Các thành phần cơ bản của một Cơ sở dữ liệu quan hệ</vt:lpstr>
      <vt:lpstr>Hệ quản trị Cơ sở dữ liệu</vt:lpstr>
      <vt:lpstr>Hệ quản trị Cơ sở dữ liệu (Database Management System – DBMS)</vt:lpstr>
      <vt:lpstr>Hệ quản trị Cơ sở dữ liệu (Database Management System – DBMS)</vt:lpstr>
      <vt:lpstr>Hệ quản trị Cơ sở dữ liệu Quan hệ - RDBMS</vt:lpstr>
      <vt:lpstr>Hệ quản trị Cơ sở dữ liệu Quan hệ</vt:lpstr>
      <vt:lpstr>Structured Query Language - SQL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TỔNG QUAN SQL    Hà Nội, 2/2020</dc:title>
  <dc:creator>Lực Đào kim</dc:creator>
  <cp:lastModifiedBy>Ha Vu Phuong</cp:lastModifiedBy>
  <cp:revision>126</cp:revision>
  <dcterms:created xsi:type="dcterms:W3CDTF">2020-03-16T09:50:38Z</dcterms:created>
  <dcterms:modified xsi:type="dcterms:W3CDTF">2021-04-14T04:24:02Z</dcterms:modified>
</cp:coreProperties>
</file>