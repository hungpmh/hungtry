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10" r:id="rId2"/>
    <p:sldId id="311" r:id="rId3"/>
    <p:sldId id="312" r:id="rId4"/>
    <p:sldId id="313" r:id="rId5"/>
    <p:sldId id="314" r:id="rId6"/>
    <p:sldId id="315" r:id="rId7"/>
    <p:sldId id="325" r:id="rId8"/>
    <p:sldId id="326" r:id="rId9"/>
    <p:sldId id="327" r:id="rId10"/>
    <p:sldId id="328" r:id="rId11"/>
    <p:sldId id="329" r:id="rId12"/>
    <p:sldId id="256" r:id="rId13"/>
    <p:sldId id="257" r:id="rId14"/>
    <p:sldId id="258" r:id="rId15"/>
    <p:sldId id="259" r:id="rId16"/>
    <p:sldId id="260" r:id="rId17"/>
    <p:sldId id="261" r:id="rId18"/>
    <p:sldId id="262" r:id="rId19"/>
    <p:sldId id="263" r:id="rId20"/>
    <p:sldId id="264" r:id="rId21"/>
    <p:sldId id="267" r:id="rId22"/>
    <p:sldId id="266" r:id="rId23"/>
    <p:sldId id="319" r:id="rId24"/>
    <p:sldId id="316" r:id="rId25"/>
    <p:sldId id="317" r:id="rId26"/>
    <p:sldId id="318" r:id="rId27"/>
    <p:sldId id="321" r:id="rId28"/>
    <p:sldId id="270" r:id="rId29"/>
    <p:sldId id="271" r:id="rId30"/>
    <p:sldId id="272" r:id="rId31"/>
    <p:sldId id="273" r:id="rId32"/>
    <p:sldId id="274" r:id="rId33"/>
    <p:sldId id="27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190" autoAdjust="0"/>
    <p:restoredTop sz="94660"/>
  </p:normalViewPr>
  <p:slideViewPr>
    <p:cSldViewPr snapToGrid="0">
      <p:cViewPr varScale="1">
        <p:scale>
          <a:sx n="109" d="100"/>
          <a:sy n="109" d="100"/>
        </p:scale>
        <p:origin x="14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187B0-D11C-4CCE-8545-6D38FD0237FB}" type="datetimeFigureOut">
              <a:rPr lang="en-GB" smtClean="0"/>
              <a:t>19/04/2021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9BCB3-A2FA-468B-AAB5-79C981E1F1AA}" type="slidenum">
              <a:rPr lang="en-GB" smtClean="0"/>
              <a:t>‹#›</a:t>
            </a:fld>
            <a:endParaRPr lang="en-GB"/>
          </a:p>
        </p:txBody>
      </p:sp>
    </p:spTree>
    <p:extLst>
      <p:ext uri="{BB962C8B-B14F-4D97-AF65-F5344CB8AC3E}">
        <p14:creationId xmlns:p14="http://schemas.microsoft.com/office/powerpoint/2010/main" val="2496874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2: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09" name="Google Shape;209;p12: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8436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33" name="Google Shape;233;p15: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37093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6: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42" name="Google Shape;242;p16: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6749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7: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52" name="Google Shape;252;p17: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5840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8: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62" name="Google Shape;262;p18: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2377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9: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72" name="Google Shape;272;p19: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4285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281" name="Google Shape;281;p20: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75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C8289-163A-411C-94DB-FE0CC6018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C60024-47BC-47AF-9750-F31BBE6D3F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3F7E9A-CD17-44B8-8848-D1C2F263A442}"/>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5" name="Footer Placeholder 4">
            <a:extLst>
              <a:ext uri="{FF2B5EF4-FFF2-40B4-BE49-F238E27FC236}">
                <a16:creationId xmlns:a16="http://schemas.microsoft.com/office/drawing/2014/main" id="{092DEC7A-664C-48AC-A9BC-678A106EF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0EB7F-A176-43F7-BB25-6B491531EFA3}"/>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493330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EB15-CEC7-4578-88D5-B9435B0B0F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824490-4634-4ACD-99C4-70B95CB8A1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BA703C-6455-4A95-9EC3-FD0513280DD6}"/>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5" name="Footer Placeholder 4">
            <a:extLst>
              <a:ext uri="{FF2B5EF4-FFF2-40B4-BE49-F238E27FC236}">
                <a16:creationId xmlns:a16="http://schemas.microsoft.com/office/drawing/2014/main" id="{1A9ABC22-E874-454B-9AFE-AE7881FE4F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84F35E-C90F-4B28-887B-ECBCE016A419}"/>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97943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94B96-6DFC-4331-B3FD-35701E613B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16EF5D-B430-414E-A620-8D57243930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08458D-1C8F-499D-9CE9-13EBD43C43AC}"/>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5" name="Footer Placeholder 4">
            <a:extLst>
              <a:ext uri="{FF2B5EF4-FFF2-40B4-BE49-F238E27FC236}">
                <a16:creationId xmlns:a16="http://schemas.microsoft.com/office/drawing/2014/main" id="{4E124A94-B83D-454F-9497-C0D0F9FE7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DE5C8E-A1B6-4CF0-83FB-CB858D33E7E9}"/>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00949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5C268-7DD3-4EDA-A757-3810D6F11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57BCDC-0E6F-40A8-B760-EBF559D164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4DCE61-0EE9-420A-B59C-2D6E9DFFB4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7CCFBA-FD5D-4E5C-873C-F68F7CED2E5F}"/>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6" name="Footer Placeholder 5">
            <a:extLst>
              <a:ext uri="{FF2B5EF4-FFF2-40B4-BE49-F238E27FC236}">
                <a16:creationId xmlns:a16="http://schemas.microsoft.com/office/drawing/2014/main" id="{FE28D383-F821-472C-8FFA-B1B0086FD9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BB301-6EBB-4BC1-B5B2-8615DF66C678}"/>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3005080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19BA4-65EC-4957-83F2-E050CFCDB3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A6CADE-80A8-4F72-AA9D-8F7354A5B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491023-ACB7-4C60-9EDF-3CEF708F11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724B00-8DEC-4066-8D79-D430A83750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1A8FAF-13CC-49EA-BCE5-9A2604003D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8CD561-82C1-4EF5-902E-DB138F9EFC22}"/>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8" name="Footer Placeholder 7">
            <a:extLst>
              <a:ext uri="{FF2B5EF4-FFF2-40B4-BE49-F238E27FC236}">
                <a16:creationId xmlns:a16="http://schemas.microsoft.com/office/drawing/2014/main" id="{6D75CBEA-A9B8-47E6-9955-C2AC15B804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46122F-573A-4FC6-ABB5-9DF006FD4ECD}"/>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155762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BEAA-12FF-4942-AA9D-287719C1A5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4073A8-0952-4355-B532-BC3AFB9742FC}"/>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4" name="Footer Placeholder 3">
            <a:extLst>
              <a:ext uri="{FF2B5EF4-FFF2-40B4-BE49-F238E27FC236}">
                <a16:creationId xmlns:a16="http://schemas.microsoft.com/office/drawing/2014/main" id="{2A203E06-E872-437B-9B48-5ED6D7A149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F8ACBA-828D-4824-9BA9-32643AF7F24D}"/>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0429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7A6BEC-35E2-4199-A64D-A2C0EE58DB08}"/>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3" name="Footer Placeholder 2">
            <a:extLst>
              <a:ext uri="{FF2B5EF4-FFF2-40B4-BE49-F238E27FC236}">
                <a16:creationId xmlns:a16="http://schemas.microsoft.com/office/drawing/2014/main" id="{C007BB4B-FBA6-4F15-91A9-1C963A9349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4B891-B67B-46DC-8408-0BD30B8E70EB}"/>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350491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4EF47-0827-4CFC-A0C9-1C11045E7C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60E62C-CDB3-4B96-A0E5-7C583BFF2F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7EF156-8D30-4797-8553-B1CA3F4EA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CA700A-2284-43F6-895F-5E12CE90DA8D}"/>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6" name="Footer Placeholder 5">
            <a:extLst>
              <a:ext uri="{FF2B5EF4-FFF2-40B4-BE49-F238E27FC236}">
                <a16:creationId xmlns:a16="http://schemas.microsoft.com/office/drawing/2014/main" id="{210B2715-BF6D-4F9D-BB8D-B73FA44289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3350A2-9B1D-4849-BAA1-E74898F12CFF}"/>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243797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28363-D7C2-4425-B537-A07D977A8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94C302-B1F8-4DCF-AD10-F4ACCD9F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F5E7A7-C518-4182-9615-7711085D0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B66563-9EEA-4B77-9B05-F377A68A0763}"/>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6" name="Footer Placeholder 5">
            <a:extLst>
              <a:ext uri="{FF2B5EF4-FFF2-40B4-BE49-F238E27FC236}">
                <a16:creationId xmlns:a16="http://schemas.microsoft.com/office/drawing/2014/main" id="{7B66D760-DF41-4019-B628-D7DD79DAB6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98864A-D939-4917-97DF-BACC464D1E20}"/>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118497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C60FA-F06F-4AEC-8834-815A97CC26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EB700D-72FE-4D58-8BE1-A0FB5A1BAD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2EB56B-9E96-492C-8E28-DD5CBF55A08E}"/>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5" name="Footer Placeholder 4">
            <a:extLst>
              <a:ext uri="{FF2B5EF4-FFF2-40B4-BE49-F238E27FC236}">
                <a16:creationId xmlns:a16="http://schemas.microsoft.com/office/drawing/2014/main" id="{0467847F-A150-432B-AAE1-8B5A1F47FE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171DD-C01D-4D03-994B-85312C2C50E6}"/>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99016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2591C2-C7AC-4781-9093-55DB227085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ED601E-C41F-4E79-8D13-0C44D8AE8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B635E-60BB-46E2-BFC2-4A17E56F0B8B}"/>
              </a:ext>
            </a:extLst>
          </p:cNvPr>
          <p:cNvSpPr>
            <a:spLocks noGrp="1"/>
          </p:cNvSpPr>
          <p:nvPr>
            <p:ph type="dt" sz="half" idx="10"/>
          </p:nvPr>
        </p:nvSpPr>
        <p:spPr/>
        <p:txBody>
          <a:bodyPr/>
          <a:lstStyle/>
          <a:p>
            <a:fld id="{06605480-7D61-46A2-9204-C00ACBBE4FF1}" type="datetimeFigureOut">
              <a:rPr lang="en-US" smtClean="0"/>
              <a:t>4/19/2021</a:t>
            </a:fld>
            <a:endParaRPr lang="en-US"/>
          </a:p>
        </p:txBody>
      </p:sp>
      <p:sp>
        <p:nvSpPr>
          <p:cNvPr id="5" name="Footer Placeholder 4">
            <a:extLst>
              <a:ext uri="{FF2B5EF4-FFF2-40B4-BE49-F238E27FC236}">
                <a16:creationId xmlns:a16="http://schemas.microsoft.com/office/drawing/2014/main" id="{EF3BFD8F-7116-495E-86A4-2EC0A27E6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C1B55-BEE7-4AB3-94B9-14AFCC00F036}"/>
              </a:ext>
            </a:extLst>
          </p:cNvPr>
          <p:cNvSpPr>
            <a:spLocks noGrp="1"/>
          </p:cNvSpPr>
          <p:nvPr>
            <p:ph type="sldNum" sz="quarter" idx="12"/>
          </p:nvPr>
        </p:nvSpPr>
        <p:spPr/>
        <p:txBody>
          <a:bodyPr/>
          <a:lstStyle/>
          <a:p>
            <a:fld id="{91395798-D30E-4487-9888-0FA0102E3FD9}" type="slidenum">
              <a:rPr lang="en-US" smtClean="0"/>
              <a:t>‹#›</a:t>
            </a:fld>
            <a:endParaRPr lang="en-US"/>
          </a:p>
        </p:txBody>
      </p:sp>
    </p:spTree>
    <p:extLst>
      <p:ext uri="{BB962C8B-B14F-4D97-AF65-F5344CB8AC3E}">
        <p14:creationId xmlns:p14="http://schemas.microsoft.com/office/powerpoint/2010/main" val="1023011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531952" y="406401"/>
            <a:ext cx="11128098" cy="527251"/>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dk1"/>
              </a:buClr>
              <a:buSzPts val="1400"/>
              <a:buFont typeface="Calibri"/>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531289" y="1347537"/>
            <a:ext cx="11129420" cy="459606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200"/>
              </a:spcBef>
              <a:spcAft>
                <a:spcPts val="0"/>
              </a:spcAft>
              <a:buClr>
                <a:schemeClr val="dk1"/>
              </a:buClr>
              <a:buSzPts val="1800"/>
              <a:buChar char="•"/>
              <a:defRPr/>
            </a:lvl1pPr>
            <a:lvl2pPr marL="914400" lvl="1" indent="-342900" algn="l">
              <a:lnSpc>
                <a:spcPct val="90000"/>
              </a:lnSpc>
              <a:spcBef>
                <a:spcPts val="8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a:endParaRPr/>
          </a:p>
        </p:txBody>
      </p:sp>
      <p:sp>
        <p:nvSpPr>
          <p:cNvPr id="24" name="Google Shape;24;p30"/>
          <p:cNvSpPr txBox="1">
            <a:spLocks noGrp="1"/>
          </p:cNvSpPr>
          <p:nvPr>
            <p:ph type="body" idx="2"/>
          </p:nvPr>
        </p:nvSpPr>
        <p:spPr>
          <a:xfrm>
            <a:off x="531952" y="950242"/>
            <a:ext cx="11128097" cy="343299"/>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400"/>
              <a:buFont typeface="Calibri"/>
              <a:buNone/>
              <a:defRPr sz="2400" b="1"/>
            </a:lvl1pPr>
            <a:lvl2pPr marL="914400" lvl="1" indent="-228600" algn="l">
              <a:lnSpc>
                <a:spcPct val="90000"/>
              </a:lnSpc>
              <a:spcBef>
                <a:spcPts val="800"/>
              </a:spcBef>
              <a:spcAft>
                <a:spcPts val="0"/>
              </a:spcAft>
              <a:buClr>
                <a:schemeClr val="dk1"/>
              </a:buClr>
              <a:buSzPts val="2400"/>
              <a:buFont typeface="Calibri"/>
              <a:buNone/>
              <a:defRPr sz="2400"/>
            </a:lvl2pPr>
            <a:lvl3pPr marL="1371600" lvl="2" indent="-228600" algn="l">
              <a:lnSpc>
                <a:spcPct val="90000"/>
              </a:lnSpc>
              <a:spcBef>
                <a:spcPts val="600"/>
              </a:spcBef>
              <a:spcAft>
                <a:spcPts val="0"/>
              </a:spcAft>
              <a:buClr>
                <a:schemeClr val="dk1"/>
              </a:buClr>
              <a:buSzPts val="2400"/>
              <a:buFont typeface="Calibri"/>
              <a:buNone/>
              <a:defRPr sz="2400"/>
            </a:lvl3pPr>
            <a:lvl4pPr marL="1828800" lvl="3" indent="-228600" algn="l">
              <a:lnSpc>
                <a:spcPct val="90000"/>
              </a:lnSpc>
              <a:spcBef>
                <a:spcPts val="600"/>
              </a:spcBef>
              <a:spcAft>
                <a:spcPts val="0"/>
              </a:spcAft>
              <a:buClr>
                <a:schemeClr val="dk1"/>
              </a:buClr>
              <a:buSzPts val="2400"/>
              <a:buFont typeface="Calibri"/>
              <a:buNone/>
              <a:defRPr sz="2400"/>
            </a:lvl4pPr>
            <a:lvl5pPr marL="2286000" lvl="4" indent="-228600" algn="l">
              <a:lnSpc>
                <a:spcPct val="90000"/>
              </a:lnSpc>
              <a:spcBef>
                <a:spcPts val="600"/>
              </a:spcBef>
              <a:spcAft>
                <a:spcPts val="0"/>
              </a:spcAft>
              <a:buClr>
                <a:schemeClr val="dk1"/>
              </a:buClr>
              <a:buSzPts val="2400"/>
              <a:buFont typeface="Calibri"/>
              <a:buNone/>
              <a:defRPr sz="2400"/>
            </a:lvl5pPr>
            <a:lvl6pPr marL="2743200" lvl="5" indent="-228600" algn="l">
              <a:lnSpc>
                <a:spcPct val="90000"/>
              </a:lnSpc>
              <a:spcBef>
                <a:spcPts val="600"/>
              </a:spcBef>
              <a:spcAft>
                <a:spcPts val="0"/>
              </a:spcAft>
              <a:buClr>
                <a:schemeClr val="dk1"/>
              </a:buClr>
              <a:buSzPts val="2400"/>
              <a:buFont typeface="Calibri"/>
              <a:buNone/>
              <a:defRPr sz="2400"/>
            </a:lvl6pPr>
            <a:lvl7pPr marL="3200400" lvl="6" indent="-228600" algn="l">
              <a:lnSpc>
                <a:spcPct val="90000"/>
              </a:lnSpc>
              <a:spcBef>
                <a:spcPts val="600"/>
              </a:spcBef>
              <a:spcAft>
                <a:spcPts val="0"/>
              </a:spcAft>
              <a:buClr>
                <a:schemeClr val="dk1"/>
              </a:buClr>
              <a:buSzPts val="2400"/>
              <a:buFont typeface="Calibri"/>
              <a:buNone/>
              <a:defRPr sz="2400"/>
            </a:lvl7pPr>
            <a:lvl8pPr marL="3657600" lvl="7" indent="-228600" algn="l">
              <a:lnSpc>
                <a:spcPct val="90000"/>
              </a:lnSpc>
              <a:spcBef>
                <a:spcPts val="600"/>
              </a:spcBef>
              <a:spcAft>
                <a:spcPts val="0"/>
              </a:spcAft>
              <a:buClr>
                <a:schemeClr val="dk1"/>
              </a:buClr>
              <a:buSzPts val="2400"/>
              <a:buFont typeface="Calibri"/>
              <a:buNone/>
              <a:defRPr sz="2400"/>
            </a:lvl8pPr>
            <a:lvl9pPr marL="4114800" lvl="8" indent="-228600" algn="l">
              <a:lnSpc>
                <a:spcPct val="90000"/>
              </a:lnSpc>
              <a:spcBef>
                <a:spcPts val="600"/>
              </a:spcBef>
              <a:spcAft>
                <a:spcPts val="0"/>
              </a:spcAft>
              <a:buClr>
                <a:schemeClr val="dk1"/>
              </a:buClr>
              <a:buSzPts val="2400"/>
              <a:buFont typeface="Calibri"/>
              <a:buNone/>
              <a:defRPr sz="2400"/>
            </a:lvl9pPr>
          </a:lstStyle>
          <a:p>
            <a:endParaRPr/>
          </a:p>
        </p:txBody>
      </p:sp>
      <p:sp>
        <p:nvSpPr>
          <p:cNvPr id="25" name="Google Shape;25;p30"/>
          <p:cNvSpPr txBox="1">
            <a:spLocks noGrp="1"/>
          </p:cNvSpPr>
          <p:nvPr>
            <p:ph type="dt" idx="10"/>
          </p:nvPr>
        </p:nvSpPr>
        <p:spPr>
          <a:xfrm>
            <a:off x="4182564" y="6556376"/>
            <a:ext cx="1227458" cy="182563"/>
          </a:xfrm>
          <a:prstGeom prst="rect">
            <a:avLst/>
          </a:prstGeom>
          <a:noFill/>
          <a:ln>
            <a:noFill/>
          </a:ln>
        </p:spPr>
        <p:txBody>
          <a:bodyPr spcFirstLastPara="1" wrap="square" lIns="0" tIns="0" rIns="0" bIns="0" anchor="ctr" anchorCtr="0">
            <a:noAutofit/>
          </a:bodyPr>
          <a:lstStyle>
            <a:lvl1pPr lvl="0" algn="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6" name="Google Shape;26;p30"/>
          <p:cNvSpPr txBox="1">
            <a:spLocks noGrp="1"/>
          </p:cNvSpPr>
          <p:nvPr>
            <p:ph type="ftr" idx="11"/>
          </p:nvPr>
        </p:nvSpPr>
        <p:spPr>
          <a:xfrm>
            <a:off x="8623959" y="6556376"/>
            <a:ext cx="2702629" cy="182563"/>
          </a:xfrm>
          <a:prstGeom prst="rect">
            <a:avLst/>
          </a:prstGeom>
          <a:noFill/>
          <a:ln>
            <a:noFill/>
          </a:ln>
        </p:spPr>
        <p:txBody>
          <a:bodyPr spcFirstLastPara="1" wrap="square" lIns="0" tIns="0" rIns="0" bIns="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7" name="Google Shape;27;p30"/>
          <p:cNvSpPr txBox="1">
            <a:spLocks noGrp="1"/>
          </p:cNvSpPr>
          <p:nvPr>
            <p:ph type="sldNum" idx="12"/>
          </p:nvPr>
        </p:nvSpPr>
        <p:spPr>
          <a:xfrm>
            <a:off x="11326588" y="6556376"/>
            <a:ext cx="333462" cy="182563"/>
          </a:xfrm>
          <a:prstGeom prst="rect">
            <a:avLst/>
          </a:prstGeom>
          <a:noFill/>
          <a:ln>
            <a:noFill/>
          </a:ln>
        </p:spPr>
        <p:txBody>
          <a:bodyPr spcFirstLastPara="1" wrap="square" lIns="0" tIns="0" rIns="0" bIns="0" anchor="ctr" anchorCtr="0">
            <a:noAutofit/>
          </a:bodyPr>
          <a:lstStyle>
            <a:lvl1pPr marL="0" lvl="0"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1pPr>
            <a:lvl2pPr marL="0" lvl="1"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2pPr>
            <a:lvl3pPr marL="0" lvl="2"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3pPr>
            <a:lvl4pPr marL="0" lvl="3"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4pPr>
            <a:lvl5pPr marL="0" lvl="4"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5pPr>
            <a:lvl6pPr marL="0" lvl="5"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6pPr>
            <a:lvl7pPr marL="0" lvl="6"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7pPr>
            <a:lvl8pPr marL="0" lvl="7"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8pPr>
            <a:lvl9pPr marL="0" lvl="8"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3274095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7B780B-349A-4774-A587-CD06F23ADA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9B2331-E53D-404B-B681-B2AB442388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663E79-C1DC-4418-A68F-2FE0B7BFC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605480-7D61-46A2-9204-C00ACBBE4FF1}" type="datetimeFigureOut">
              <a:rPr lang="en-US" smtClean="0"/>
              <a:t>4/19/2021</a:t>
            </a:fld>
            <a:endParaRPr lang="en-US"/>
          </a:p>
        </p:txBody>
      </p:sp>
      <p:sp>
        <p:nvSpPr>
          <p:cNvPr id="5" name="Footer Placeholder 4">
            <a:extLst>
              <a:ext uri="{FF2B5EF4-FFF2-40B4-BE49-F238E27FC236}">
                <a16:creationId xmlns:a16="http://schemas.microsoft.com/office/drawing/2014/main" id="{03E2582B-DC2E-4325-BC7D-812E56982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87B0CCC-F27F-4992-8D16-FC5964FE28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95798-D30E-4487-9888-0FA0102E3FD9}" type="slidenum">
              <a:rPr lang="en-US" smtClean="0"/>
              <a:t>‹#›</a:t>
            </a:fld>
            <a:endParaRPr lang="en-US"/>
          </a:p>
        </p:txBody>
      </p:sp>
    </p:spTree>
    <p:extLst>
      <p:ext uri="{BB962C8B-B14F-4D97-AF65-F5344CB8AC3E}">
        <p14:creationId xmlns:p14="http://schemas.microsoft.com/office/powerpoint/2010/main" val="3853966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cloud.google.com/bigquery/pricing#storage" TargetMode="External"/><Relationship Id="rId2" Type="http://schemas.openxmlformats.org/officeDocument/2006/relationships/hyperlink" Target="https://cloud.google.com/bigquery/pricing#analysis_pricing_model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ubtitle 15">
            <a:extLst>
              <a:ext uri="{FF2B5EF4-FFF2-40B4-BE49-F238E27FC236}">
                <a16:creationId xmlns:a16="http://schemas.microsoft.com/office/drawing/2014/main" id="{EDA442E2-2C36-40FC-A5AA-B644CE568404}"/>
              </a:ext>
            </a:extLst>
          </p:cNvPr>
          <p:cNvSpPr>
            <a:spLocks noGrp="1"/>
          </p:cNvSpPr>
          <p:nvPr>
            <p:ph type="subTitle" idx="1"/>
          </p:nvPr>
        </p:nvSpPr>
        <p:spPr/>
        <p:txBody>
          <a:bodyPr/>
          <a:lstStyle/>
          <a:p>
            <a:endParaRPr lang="en-GB"/>
          </a:p>
        </p:txBody>
      </p:sp>
      <p:pic>
        <p:nvPicPr>
          <p:cNvPr id="18" name="Picture 17">
            <a:extLst>
              <a:ext uri="{FF2B5EF4-FFF2-40B4-BE49-F238E27FC236}">
                <a16:creationId xmlns:a16="http://schemas.microsoft.com/office/drawing/2014/main" id="{053B45EC-F6F3-4170-AF37-DA2976B9B45D}"/>
              </a:ext>
            </a:extLst>
          </p:cNvPr>
          <p:cNvPicPr>
            <a:picLocks noChangeAspect="1"/>
          </p:cNvPicPr>
          <p:nvPr/>
        </p:nvPicPr>
        <p:blipFill>
          <a:blip r:embed="rId2"/>
          <a:stretch>
            <a:fillRect/>
          </a:stretch>
        </p:blipFill>
        <p:spPr>
          <a:xfrm>
            <a:off x="3251446" y="1217875"/>
            <a:ext cx="5474569" cy="2038087"/>
          </a:xfrm>
          <a:prstGeom prst="rect">
            <a:avLst/>
          </a:prstGeom>
        </p:spPr>
      </p:pic>
    </p:spTree>
    <p:extLst>
      <p:ext uri="{BB962C8B-B14F-4D97-AF65-F5344CB8AC3E}">
        <p14:creationId xmlns:p14="http://schemas.microsoft.com/office/powerpoint/2010/main" val="182529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82E4C-C1A6-467E-A592-787C39B09488}"/>
              </a:ext>
            </a:extLst>
          </p:cNvPr>
          <p:cNvSpPr>
            <a:spLocks noGrp="1"/>
          </p:cNvSpPr>
          <p:nvPr>
            <p:ph type="title"/>
          </p:nvPr>
        </p:nvSpPr>
        <p:spPr/>
        <p:txBody>
          <a:bodyPr/>
          <a:lstStyle/>
          <a:p>
            <a:r>
              <a:rPr lang="pt-BR"/>
              <a:t>Lý do ra đời của Big Query</a:t>
            </a:r>
            <a:endParaRPr lang="en-GB"/>
          </a:p>
        </p:txBody>
      </p:sp>
      <p:sp>
        <p:nvSpPr>
          <p:cNvPr id="5" name="Text Placeholder 4">
            <a:extLst>
              <a:ext uri="{FF2B5EF4-FFF2-40B4-BE49-F238E27FC236}">
                <a16:creationId xmlns:a16="http://schemas.microsoft.com/office/drawing/2014/main" id="{E391EAEF-7F1E-453D-99A2-E9D4CBCC9F37}"/>
              </a:ext>
            </a:extLst>
          </p:cNvPr>
          <p:cNvSpPr>
            <a:spLocks noGrp="1"/>
          </p:cNvSpPr>
          <p:nvPr>
            <p:ph type="body" idx="1"/>
          </p:nvPr>
        </p:nvSpPr>
        <p:spPr/>
        <p:txBody>
          <a:bodyPr>
            <a:normAutofit fontScale="85000" lnSpcReduction="20000"/>
          </a:bodyPr>
          <a:lstStyle/>
          <a:p>
            <a:r>
              <a:rPr lang="vi-VN"/>
              <a:t>Mọi người đều biết Google là công cụ xử lý dữ liệu lớn từng giây hằng ngày để cung cấp dịch vụ như Search, YouTube, Gmail, Google Docs,…</a:t>
            </a:r>
            <a:endParaRPr lang="en-US"/>
          </a:p>
          <a:p>
            <a:endParaRPr lang="vi-VN"/>
          </a:p>
          <a:p>
            <a:r>
              <a:rPr lang="vi-VN"/>
              <a:t>Ví dụ: bạn là một nhân viên chuyên trách về phân tích dữ liệu muốn có câu trả lời nhanh cho các vấn đề như sau:</a:t>
            </a:r>
          </a:p>
          <a:p>
            <a:pPr lvl="1"/>
            <a:r>
              <a:rPr lang="vi-VN" i="1"/>
              <a:t>Số lượng hiển thị (impression) đối với một quảng cáo trong một khu vực cụ thể ( thành phố).</a:t>
            </a:r>
          </a:p>
          <a:p>
            <a:pPr lvl="1"/>
            <a:r>
              <a:rPr lang="vi-VN" i="1"/>
              <a:t>Cần vẽ biểu đồ xu hướng của lưu lượng của Adwords trong một vùng cụ thể / thời gian cụ thể.</a:t>
            </a:r>
          </a:p>
          <a:p>
            <a:r>
              <a:rPr lang="vi-VN"/>
              <a:t>Bạn sẽ gặp trở ngại khi sử dụng các công cụ truyền thống để trả lời 2 câu hỏi tưởng chừng rất đơn giản này trong vài </a:t>
            </a:r>
            <a:r>
              <a:rPr lang="en-US"/>
              <a:t>giờ</a:t>
            </a:r>
          </a:p>
          <a:p>
            <a:endParaRPr lang="vi-VN"/>
          </a:p>
          <a:p>
            <a:r>
              <a:rPr lang="vi-VN"/>
              <a:t>Liệu có cách nào xử lý vấn đề bạn cần nhanh hơn? Câu trả lời là </a:t>
            </a:r>
            <a:r>
              <a:rPr lang="vi-VN" b="1"/>
              <a:t>Dremel</a:t>
            </a:r>
            <a:r>
              <a:rPr lang="vi-VN"/>
              <a:t>.</a:t>
            </a:r>
          </a:p>
          <a:p>
            <a:endParaRPr lang="en-GB"/>
          </a:p>
        </p:txBody>
      </p:sp>
    </p:spTree>
    <p:extLst>
      <p:ext uri="{BB962C8B-B14F-4D97-AF65-F5344CB8AC3E}">
        <p14:creationId xmlns:p14="http://schemas.microsoft.com/office/powerpoint/2010/main" val="2391526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82E4C-C1A6-467E-A592-787C39B09488}"/>
              </a:ext>
            </a:extLst>
          </p:cNvPr>
          <p:cNvSpPr>
            <a:spLocks noGrp="1"/>
          </p:cNvSpPr>
          <p:nvPr>
            <p:ph type="title"/>
          </p:nvPr>
        </p:nvSpPr>
        <p:spPr/>
        <p:txBody>
          <a:bodyPr/>
          <a:lstStyle/>
          <a:p>
            <a:r>
              <a:rPr lang="pt-BR"/>
              <a:t>Vậy Dremel là gì?</a:t>
            </a:r>
            <a:endParaRPr lang="en-GB"/>
          </a:p>
        </p:txBody>
      </p:sp>
      <p:sp>
        <p:nvSpPr>
          <p:cNvPr id="5" name="Text Placeholder 4">
            <a:extLst>
              <a:ext uri="{FF2B5EF4-FFF2-40B4-BE49-F238E27FC236}">
                <a16:creationId xmlns:a16="http://schemas.microsoft.com/office/drawing/2014/main" id="{E391EAEF-7F1E-453D-99A2-E9D4CBCC9F37}"/>
              </a:ext>
            </a:extLst>
          </p:cNvPr>
          <p:cNvSpPr>
            <a:spLocks noGrp="1"/>
          </p:cNvSpPr>
          <p:nvPr>
            <p:ph type="body" idx="1"/>
          </p:nvPr>
        </p:nvSpPr>
        <p:spPr/>
        <p:txBody>
          <a:bodyPr>
            <a:normAutofit lnSpcReduction="10000"/>
          </a:bodyPr>
          <a:lstStyle/>
          <a:p>
            <a:r>
              <a:rPr lang="vi-VN"/>
              <a:t>Dremel là dịch vụ truy vấn cho phép bạn chạy các câu truy vấn dạng như SQL để tìm kiếm và có chính xác thông tin cần tìm trong một khối lượng dữ liệu cực lớn chỉ trong vòng vài giây.</a:t>
            </a:r>
          </a:p>
          <a:p>
            <a:r>
              <a:rPr lang="vi-VN"/>
              <a:t>Bạn chỉ cần biết một ít kiến thức về SQL để truy vấn một khối lượng dữ liệu khổng lồ bất kỳ lúc nào.</a:t>
            </a:r>
          </a:p>
          <a:p>
            <a:r>
              <a:rPr lang="vi-VN"/>
              <a:t>Và đây là lý do tại sao </a:t>
            </a:r>
            <a:r>
              <a:rPr lang="vi-VN" b="1"/>
              <a:t>Dremel</a:t>
            </a:r>
            <a:r>
              <a:rPr lang="vi-VN"/>
              <a:t> là công cụ được sử dụng bởi kỹ sư tại Google mọi lúc mọi nơi để tìm kiếm thông tin họ cần.</a:t>
            </a:r>
            <a:endParaRPr lang="en-US"/>
          </a:p>
          <a:p>
            <a:endParaRPr lang="vi-VN"/>
          </a:p>
          <a:p>
            <a:r>
              <a:rPr lang="vi-VN" b="1"/>
              <a:t>Big Query: </a:t>
            </a:r>
            <a:r>
              <a:rPr lang="vi-VN"/>
              <a:t>Là dịch vụ thương mại hóa của </a:t>
            </a:r>
            <a:r>
              <a:rPr lang="vi-VN" b="1"/>
              <a:t>Dremel</a:t>
            </a:r>
            <a:r>
              <a:rPr lang="vi-VN"/>
              <a:t> dành cho  người dùng Google Cloud Platform (GCP) </a:t>
            </a:r>
            <a:r>
              <a:rPr lang="en-US"/>
              <a:t>( tháng 5/2012)</a:t>
            </a:r>
            <a:endParaRPr lang="vi-VN"/>
          </a:p>
        </p:txBody>
      </p:sp>
    </p:spTree>
    <p:extLst>
      <p:ext uri="{BB962C8B-B14F-4D97-AF65-F5344CB8AC3E}">
        <p14:creationId xmlns:p14="http://schemas.microsoft.com/office/powerpoint/2010/main" val="355530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82E4C-C1A6-467E-A592-787C39B09488}"/>
              </a:ext>
            </a:extLst>
          </p:cNvPr>
          <p:cNvSpPr>
            <a:spLocks noGrp="1"/>
          </p:cNvSpPr>
          <p:nvPr>
            <p:ph type="title"/>
          </p:nvPr>
        </p:nvSpPr>
        <p:spPr/>
        <p:txBody>
          <a:bodyPr/>
          <a:lstStyle/>
          <a:p>
            <a:r>
              <a:rPr lang="pt-BR"/>
              <a:t>BigQuery</a:t>
            </a:r>
            <a:endParaRPr lang="en-GB"/>
          </a:p>
        </p:txBody>
      </p:sp>
      <p:sp>
        <p:nvSpPr>
          <p:cNvPr id="5" name="Text Placeholder 4">
            <a:extLst>
              <a:ext uri="{FF2B5EF4-FFF2-40B4-BE49-F238E27FC236}">
                <a16:creationId xmlns:a16="http://schemas.microsoft.com/office/drawing/2014/main" id="{E391EAEF-7F1E-453D-99A2-E9D4CBCC9F37}"/>
              </a:ext>
            </a:extLst>
          </p:cNvPr>
          <p:cNvSpPr>
            <a:spLocks noGrp="1"/>
          </p:cNvSpPr>
          <p:nvPr>
            <p:ph type="body" idx="1"/>
          </p:nvPr>
        </p:nvSpPr>
        <p:spPr/>
        <p:txBody>
          <a:bodyPr>
            <a:normAutofit/>
          </a:bodyPr>
          <a:lstStyle/>
          <a:p>
            <a:r>
              <a:rPr lang="vi-VN" i="1"/>
              <a:t>Google Google BigQuery là một dịch vụ web cho phép bạn phân tích tương tác các bộ dữ liệu khổng lồ. Lên đến hàng tỷ hàng.</a:t>
            </a:r>
            <a:endParaRPr lang="en-US" i="1"/>
          </a:p>
          <a:p>
            <a:r>
              <a:rPr lang="vi-VN"/>
              <a:t>Nó được thiết kế để lưu trữ và truy vấn </a:t>
            </a:r>
            <a:r>
              <a:rPr lang="vi-VN">
                <a:solidFill>
                  <a:srgbClr val="FF0000"/>
                </a:solidFill>
              </a:rPr>
              <a:t>terabyte</a:t>
            </a:r>
            <a:r>
              <a:rPr lang="vi-VN"/>
              <a:t>, thậm chí là </a:t>
            </a:r>
            <a:r>
              <a:rPr lang="vi-VN">
                <a:solidFill>
                  <a:srgbClr val="FF0000"/>
                </a:solidFill>
              </a:rPr>
              <a:t>petabyte</a:t>
            </a:r>
            <a:r>
              <a:rPr lang="vi-VN"/>
              <a:t> dữ liệu mà chúng ta </a:t>
            </a:r>
            <a:r>
              <a:rPr lang="vi-VN">
                <a:solidFill>
                  <a:srgbClr val="FF0000"/>
                </a:solidFill>
              </a:rPr>
              <a:t>không cần setup </a:t>
            </a:r>
            <a:r>
              <a:rPr lang="vi-VN"/>
              <a:t>và quản lý bất kỳ cơ sở hạ tầng (infrastructure) nào để sử dụng</a:t>
            </a:r>
            <a:endParaRPr lang="en-US"/>
          </a:p>
          <a:p>
            <a:r>
              <a:rPr lang="vi-VN"/>
              <a:t>BigQuery hỗ trợ standard SQL, vì vậy nếu chúng ta đã từng thực hành với các loại  cơ sở dữ liệu quan hệ như Oracle,PostgreSQL, MySQL, Microsoft SQL Server, v.v., ta có thể dễ dàng làm quen với BigQuery.</a:t>
            </a:r>
            <a:endParaRPr lang="en-US"/>
          </a:p>
        </p:txBody>
      </p:sp>
      <p:pic>
        <p:nvPicPr>
          <p:cNvPr id="3" name="Picture 2">
            <a:extLst>
              <a:ext uri="{FF2B5EF4-FFF2-40B4-BE49-F238E27FC236}">
                <a16:creationId xmlns:a16="http://schemas.microsoft.com/office/drawing/2014/main" id="{F2890B64-DD23-4F78-A686-95E8CF750F0A}"/>
              </a:ext>
            </a:extLst>
          </p:cNvPr>
          <p:cNvPicPr>
            <a:picLocks noChangeAspect="1"/>
          </p:cNvPicPr>
          <p:nvPr/>
        </p:nvPicPr>
        <p:blipFill>
          <a:blip r:embed="rId2"/>
          <a:stretch>
            <a:fillRect/>
          </a:stretch>
        </p:blipFill>
        <p:spPr>
          <a:xfrm>
            <a:off x="8212955" y="105885"/>
            <a:ext cx="3276600" cy="1390650"/>
          </a:xfrm>
          <a:prstGeom prst="rect">
            <a:avLst/>
          </a:prstGeom>
        </p:spPr>
      </p:pic>
    </p:spTree>
    <p:extLst>
      <p:ext uri="{BB962C8B-B14F-4D97-AF65-F5344CB8AC3E}">
        <p14:creationId xmlns:p14="http://schemas.microsoft.com/office/powerpoint/2010/main" val="1966336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82E4C-C1A6-467E-A592-787C39B09488}"/>
              </a:ext>
            </a:extLst>
          </p:cNvPr>
          <p:cNvSpPr>
            <a:spLocks noGrp="1"/>
          </p:cNvSpPr>
          <p:nvPr>
            <p:ph type="title"/>
          </p:nvPr>
        </p:nvSpPr>
        <p:spPr/>
        <p:txBody>
          <a:bodyPr/>
          <a:lstStyle/>
          <a:p>
            <a:r>
              <a:rPr lang="pt-BR"/>
              <a:t>BigQuery</a:t>
            </a:r>
            <a:endParaRPr lang="en-GB"/>
          </a:p>
        </p:txBody>
      </p:sp>
      <p:sp>
        <p:nvSpPr>
          <p:cNvPr id="5" name="Text Placeholder 4">
            <a:extLst>
              <a:ext uri="{FF2B5EF4-FFF2-40B4-BE49-F238E27FC236}">
                <a16:creationId xmlns:a16="http://schemas.microsoft.com/office/drawing/2014/main" id="{E391EAEF-7F1E-453D-99A2-E9D4CBCC9F37}"/>
              </a:ext>
            </a:extLst>
          </p:cNvPr>
          <p:cNvSpPr>
            <a:spLocks noGrp="1"/>
          </p:cNvSpPr>
          <p:nvPr>
            <p:ph type="body" idx="1"/>
          </p:nvPr>
        </p:nvSpPr>
        <p:spPr/>
        <p:txBody>
          <a:bodyPr>
            <a:normAutofit/>
          </a:bodyPr>
          <a:lstStyle/>
          <a:p>
            <a:r>
              <a:rPr lang="en-GB"/>
              <a:t>Quét </a:t>
            </a:r>
            <a:r>
              <a:rPr lang="en-GB">
                <a:solidFill>
                  <a:srgbClr val="FF0000"/>
                </a:solidFill>
              </a:rPr>
              <a:t>35 tỷ hàng </a:t>
            </a:r>
            <a:r>
              <a:rPr lang="en-GB"/>
              <a:t>không chỉ mục trong khoảng vài chục giây</a:t>
            </a:r>
          </a:p>
          <a:p>
            <a:r>
              <a:rPr lang="en-GB"/>
              <a:t>V</a:t>
            </a:r>
            <a:r>
              <a:rPr lang="vi-VN"/>
              <a:t>ới dung lương dữ liệu quét trên </a:t>
            </a:r>
            <a:r>
              <a:rPr lang="vi-VN">
                <a:solidFill>
                  <a:srgbClr val="FF0000"/>
                </a:solidFill>
              </a:rPr>
              <a:t>20TB</a:t>
            </a:r>
            <a:r>
              <a:rPr lang="vi-VN"/>
              <a:t> trong khoảng thời gian cực ngắn đối với lượng dữ liệu khổng lồ này khi truy vấn bằng các công cụ thông thường (có thể mất đến hàng ngày, thậm chí không trả được kết quả do giới hạn về năng lực tính toán tại một thời điểm nhất định)</a:t>
            </a:r>
          </a:p>
        </p:txBody>
      </p:sp>
      <p:pic>
        <p:nvPicPr>
          <p:cNvPr id="3" name="Picture 2">
            <a:extLst>
              <a:ext uri="{FF2B5EF4-FFF2-40B4-BE49-F238E27FC236}">
                <a16:creationId xmlns:a16="http://schemas.microsoft.com/office/drawing/2014/main" id="{F2890B64-DD23-4F78-A686-95E8CF750F0A}"/>
              </a:ext>
            </a:extLst>
          </p:cNvPr>
          <p:cNvPicPr>
            <a:picLocks noChangeAspect="1"/>
          </p:cNvPicPr>
          <p:nvPr/>
        </p:nvPicPr>
        <p:blipFill>
          <a:blip r:embed="rId2"/>
          <a:stretch>
            <a:fillRect/>
          </a:stretch>
        </p:blipFill>
        <p:spPr>
          <a:xfrm>
            <a:off x="8212955" y="105885"/>
            <a:ext cx="3276600" cy="1390650"/>
          </a:xfrm>
          <a:prstGeom prst="rect">
            <a:avLst/>
          </a:prstGeom>
        </p:spPr>
      </p:pic>
    </p:spTree>
    <p:extLst>
      <p:ext uri="{BB962C8B-B14F-4D97-AF65-F5344CB8AC3E}">
        <p14:creationId xmlns:p14="http://schemas.microsoft.com/office/powerpoint/2010/main" val="454242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82E4C-C1A6-467E-A592-787C39B09488}"/>
              </a:ext>
            </a:extLst>
          </p:cNvPr>
          <p:cNvSpPr>
            <a:spLocks noGrp="1"/>
          </p:cNvSpPr>
          <p:nvPr>
            <p:ph type="title"/>
          </p:nvPr>
        </p:nvSpPr>
        <p:spPr/>
        <p:txBody>
          <a:bodyPr/>
          <a:lstStyle/>
          <a:p>
            <a:r>
              <a:rPr lang="pt-BR"/>
              <a:t>Truy cập vào BigQuery</a:t>
            </a:r>
            <a:endParaRPr lang="en-GB"/>
          </a:p>
        </p:txBody>
      </p:sp>
      <p:sp>
        <p:nvSpPr>
          <p:cNvPr id="5" name="Text Placeholder 4">
            <a:extLst>
              <a:ext uri="{FF2B5EF4-FFF2-40B4-BE49-F238E27FC236}">
                <a16:creationId xmlns:a16="http://schemas.microsoft.com/office/drawing/2014/main" id="{E391EAEF-7F1E-453D-99A2-E9D4CBCC9F37}"/>
              </a:ext>
            </a:extLst>
          </p:cNvPr>
          <p:cNvSpPr>
            <a:spLocks noGrp="1"/>
          </p:cNvSpPr>
          <p:nvPr>
            <p:ph type="body" idx="1"/>
          </p:nvPr>
        </p:nvSpPr>
        <p:spPr/>
        <p:txBody>
          <a:bodyPr>
            <a:normAutofit/>
          </a:bodyPr>
          <a:lstStyle/>
          <a:p>
            <a:pPr marL="628650" indent="-514350">
              <a:buFont typeface="+mj-lt"/>
              <a:buAutoNum type="arabicPeriod"/>
            </a:pPr>
            <a:r>
              <a:rPr lang="en-US">
                <a:solidFill>
                  <a:srgbClr val="FF0000"/>
                </a:solidFill>
              </a:rPr>
              <a:t>Giao diện Web</a:t>
            </a:r>
          </a:p>
          <a:p>
            <a:pPr marL="628650" indent="-514350">
              <a:buFont typeface="+mj-lt"/>
              <a:buAutoNum type="arabicPeriod"/>
            </a:pPr>
            <a:r>
              <a:rPr lang="en-GB"/>
              <a:t>Command-line tool</a:t>
            </a:r>
            <a:endParaRPr lang="en-US"/>
          </a:p>
          <a:p>
            <a:pPr marL="628650" indent="-514350">
              <a:buFont typeface="+mj-lt"/>
              <a:buAutoNum type="arabicPeriod"/>
            </a:pPr>
            <a:r>
              <a:rPr lang="vi-VN"/>
              <a:t>API BigQuery REST sử dụng nhiều thư viện khác nhau như Java, NET, Ruby hoặc Python</a:t>
            </a:r>
          </a:p>
        </p:txBody>
      </p:sp>
      <p:pic>
        <p:nvPicPr>
          <p:cNvPr id="3" name="Picture 2">
            <a:extLst>
              <a:ext uri="{FF2B5EF4-FFF2-40B4-BE49-F238E27FC236}">
                <a16:creationId xmlns:a16="http://schemas.microsoft.com/office/drawing/2014/main" id="{F2890B64-DD23-4F78-A686-95E8CF750F0A}"/>
              </a:ext>
            </a:extLst>
          </p:cNvPr>
          <p:cNvPicPr>
            <a:picLocks noChangeAspect="1"/>
          </p:cNvPicPr>
          <p:nvPr/>
        </p:nvPicPr>
        <p:blipFill>
          <a:blip r:embed="rId2"/>
          <a:stretch>
            <a:fillRect/>
          </a:stretch>
        </p:blipFill>
        <p:spPr>
          <a:xfrm>
            <a:off x="8212955" y="105885"/>
            <a:ext cx="3276600" cy="1390650"/>
          </a:xfrm>
          <a:prstGeom prst="rect">
            <a:avLst/>
          </a:prstGeom>
        </p:spPr>
      </p:pic>
    </p:spTree>
    <p:extLst>
      <p:ext uri="{BB962C8B-B14F-4D97-AF65-F5344CB8AC3E}">
        <p14:creationId xmlns:p14="http://schemas.microsoft.com/office/powerpoint/2010/main" val="1385476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4A29-FC3D-462D-97E4-8329CBC1752C}"/>
              </a:ext>
            </a:extLst>
          </p:cNvPr>
          <p:cNvSpPr>
            <a:spLocks noGrp="1"/>
          </p:cNvSpPr>
          <p:nvPr>
            <p:ph type="title"/>
          </p:nvPr>
        </p:nvSpPr>
        <p:spPr/>
        <p:txBody>
          <a:bodyPr/>
          <a:lstStyle/>
          <a:p>
            <a:r>
              <a:rPr lang="en-US"/>
              <a:t>Tổ chức trong BigQuery</a:t>
            </a:r>
            <a:endParaRPr lang="en-GB"/>
          </a:p>
        </p:txBody>
      </p:sp>
      <p:pic>
        <p:nvPicPr>
          <p:cNvPr id="5" name="Graphic 4">
            <a:extLst>
              <a:ext uri="{FF2B5EF4-FFF2-40B4-BE49-F238E27FC236}">
                <a16:creationId xmlns:a16="http://schemas.microsoft.com/office/drawing/2014/main" id="{BC51C91F-D86C-4CE4-9C13-DB049AE4D0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23987" y="1524794"/>
            <a:ext cx="9344025" cy="4953000"/>
          </a:xfrm>
          <a:prstGeom prst="rect">
            <a:avLst/>
          </a:prstGeom>
        </p:spPr>
      </p:pic>
    </p:spTree>
    <p:extLst>
      <p:ext uri="{BB962C8B-B14F-4D97-AF65-F5344CB8AC3E}">
        <p14:creationId xmlns:p14="http://schemas.microsoft.com/office/powerpoint/2010/main" val="2728628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4A29-FC3D-462D-97E4-8329CBC1752C}"/>
              </a:ext>
            </a:extLst>
          </p:cNvPr>
          <p:cNvSpPr>
            <a:spLocks noGrp="1"/>
          </p:cNvSpPr>
          <p:nvPr>
            <p:ph type="title"/>
          </p:nvPr>
        </p:nvSpPr>
        <p:spPr/>
        <p:txBody>
          <a:bodyPr/>
          <a:lstStyle/>
          <a:p>
            <a:r>
              <a:rPr lang="en-US"/>
              <a:t>Giao diện BigQuery</a:t>
            </a:r>
            <a:endParaRPr lang="en-GB"/>
          </a:p>
        </p:txBody>
      </p:sp>
      <p:sp>
        <p:nvSpPr>
          <p:cNvPr id="3" name="Text Placeholder 2">
            <a:extLst>
              <a:ext uri="{FF2B5EF4-FFF2-40B4-BE49-F238E27FC236}">
                <a16:creationId xmlns:a16="http://schemas.microsoft.com/office/drawing/2014/main" id="{BF8A6A7B-122E-48BD-A718-F98F598B5A14}"/>
              </a:ext>
            </a:extLst>
          </p:cNvPr>
          <p:cNvSpPr>
            <a:spLocks noGrp="1"/>
          </p:cNvSpPr>
          <p:nvPr>
            <p:ph type="body" idx="1"/>
          </p:nvPr>
        </p:nvSpPr>
        <p:spPr>
          <a:xfrm>
            <a:off x="720570" y="1346230"/>
            <a:ext cx="10515600" cy="4351338"/>
          </a:xfrm>
        </p:spPr>
        <p:txBody>
          <a:bodyPr/>
          <a:lstStyle/>
          <a:p>
            <a:r>
              <a:rPr lang="en-GB"/>
              <a:t>Đăng nhập theo link: https://console.cloud.google.com/</a:t>
            </a:r>
          </a:p>
        </p:txBody>
      </p:sp>
      <p:pic>
        <p:nvPicPr>
          <p:cNvPr id="4" name="Picture 3">
            <a:extLst>
              <a:ext uri="{FF2B5EF4-FFF2-40B4-BE49-F238E27FC236}">
                <a16:creationId xmlns:a16="http://schemas.microsoft.com/office/drawing/2014/main" id="{C4910921-98E6-4655-8259-A4AB2EF99AEF}"/>
              </a:ext>
            </a:extLst>
          </p:cNvPr>
          <p:cNvPicPr>
            <a:picLocks noChangeAspect="1"/>
          </p:cNvPicPr>
          <p:nvPr/>
        </p:nvPicPr>
        <p:blipFill>
          <a:blip r:embed="rId2"/>
          <a:stretch>
            <a:fillRect/>
          </a:stretch>
        </p:blipFill>
        <p:spPr>
          <a:xfrm>
            <a:off x="498630" y="1980484"/>
            <a:ext cx="11320712" cy="4705171"/>
          </a:xfrm>
          <a:prstGeom prst="rect">
            <a:avLst/>
          </a:prstGeom>
        </p:spPr>
      </p:pic>
    </p:spTree>
    <p:extLst>
      <p:ext uri="{BB962C8B-B14F-4D97-AF65-F5344CB8AC3E}">
        <p14:creationId xmlns:p14="http://schemas.microsoft.com/office/powerpoint/2010/main" val="873763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4A29-FC3D-462D-97E4-8329CBC1752C}"/>
              </a:ext>
            </a:extLst>
          </p:cNvPr>
          <p:cNvSpPr>
            <a:spLocks noGrp="1"/>
          </p:cNvSpPr>
          <p:nvPr>
            <p:ph type="title"/>
          </p:nvPr>
        </p:nvSpPr>
        <p:spPr/>
        <p:txBody>
          <a:bodyPr/>
          <a:lstStyle/>
          <a:p>
            <a:r>
              <a:rPr lang="en-US"/>
              <a:t>Giao diện BigQuery</a:t>
            </a:r>
            <a:endParaRPr lang="en-GB"/>
          </a:p>
        </p:txBody>
      </p:sp>
      <p:sp>
        <p:nvSpPr>
          <p:cNvPr id="3" name="Text Placeholder 2">
            <a:extLst>
              <a:ext uri="{FF2B5EF4-FFF2-40B4-BE49-F238E27FC236}">
                <a16:creationId xmlns:a16="http://schemas.microsoft.com/office/drawing/2014/main" id="{BF8A6A7B-122E-48BD-A718-F98F598B5A14}"/>
              </a:ext>
            </a:extLst>
          </p:cNvPr>
          <p:cNvSpPr>
            <a:spLocks noGrp="1"/>
          </p:cNvSpPr>
          <p:nvPr>
            <p:ph type="body" idx="1"/>
          </p:nvPr>
        </p:nvSpPr>
        <p:spPr>
          <a:xfrm>
            <a:off x="720570" y="1346230"/>
            <a:ext cx="10515600" cy="4351338"/>
          </a:xfrm>
        </p:spPr>
        <p:txBody>
          <a:bodyPr/>
          <a:lstStyle/>
          <a:p>
            <a:r>
              <a:rPr lang="en-GB"/>
              <a:t>Gõ </a:t>
            </a:r>
            <a:r>
              <a:rPr lang="en-US"/>
              <a:t>ở mục tìm kiếm: BigQuery</a:t>
            </a:r>
            <a:endParaRPr lang="en-GB"/>
          </a:p>
        </p:txBody>
      </p:sp>
      <p:pic>
        <p:nvPicPr>
          <p:cNvPr id="5" name="Picture 4">
            <a:extLst>
              <a:ext uri="{FF2B5EF4-FFF2-40B4-BE49-F238E27FC236}">
                <a16:creationId xmlns:a16="http://schemas.microsoft.com/office/drawing/2014/main" id="{6D254BCC-EB8D-438A-AECE-6E068429DB52}"/>
              </a:ext>
            </a:extLst>
          </p:cNvPr>
          <p:cNvPicPr>
            <a:picLocks noChangeAspect="1"/>
          </p:cNvPicPr>
          <p:nvPr/>
        </p:nvPicPr>
        <p:blipFill>
          <a:blip r:embed="rId2"/>
          <a:stretch>
            <a:fillRect/>
          </a:stretch>
        </p:blipFill>
        <p:spPr>
          <a:xfrm>
            <a:off x="204187" y="1985891"/>
            <a:ext cx="12192000" cy="892411"/>
          </a:xfrm>
          <a:prstGeom prst="rect">
            <a:avLst/>
          </a:prstGeom>
        </p:spPr>
      </p:pic>
    </p:spTree>
    <p:extLst>
      <p:ext uri="{BB962C8B-B14F-4D97-AF65-F5344CB8AC3E}">
        <p14:creationId xmlns:p14="http://schemas.microsoft.com/office/powerpoint/2010/main" val="97034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4A29-FC3D-462D-97E4-8329CBC1752C}"/>
              </a:ext>
            </a:extLst>
          </p:cNvPr>
          <p:cNvSpPr>
            <a:spLocks noGrp="1"/>
          </p:cNvSpPr>
          <p:nvPr>
            <p:ph type="title"/>
          </p:nvPr>
        </p:nvSpPr>
        <p:spPr>
          <a:xfrm>
            <a:off x="838200" y="365125"/>
            <a:ext cx="10515600" cy="1325563"/>
          </a:xfrm>
        </p:spPr>
        <p:txBody>
          <a:bodyPr/>
          <a:lstStyle/>
          <a:p>
            <a:r>
              <a:rPr lang="en-US"/>
              <a:t>Giao diện BigQuery</a:t>
            </a:r>
            <a:endParaRPr lang="en-GB"/>
          </a:p>
        </p:txBody>
      </p:sp>
      <p:pic>
        <p:nvPicPr>
          <p:cNvPr id="4" name="Picture 3">
            <a:extLst>
              <a:ext uri="{FF2B5EF4-FFF2-40B4-BE49-F238E27FC236}">
                <a16:creationId xmlns:a16="http://schemas.microsoft.com/office/drawing/2014/main" id="{013C3AEB-9720-4D60-B9E1-E17EC2D2CCD3}"/>
              </a:ext>
            </a:extLst>
          </p:cNvPr>
          <p:cNvPicPr>
            <a:picLocks noChangeAspect="1"/>
          </p:cNvPicPr>
          <p:nvPr/>
        </p:nvPicPr>
        <p:blipFill>
          <a:blip r:embed="rId2"/>
          <a:stretch>
            <a:fillRect/>
          </a:stretch>
        </p:blipFill>
        <p:spPr>
          <a:xfrm>
            <a:off x="124287" y="1504257"/>
            <a:ext cx="12192000" cy="4768850"/>
          </a:xfrm>
          <a:prstGeom prst="rect">
            <a:avLst/>
          </a:prstGeom>
        </p:spPr>
      </p:pic>
    </p:spTree>
    <p:extLst>
      <p:ext uri="{BB962C8B-B14F-4D97-AF65-F5344CB8AC3E}">
        <p14:creationId xmlns:p14="http://schemas.microsoft.com/office/powerpoint/2010/main" val="34193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4A29-FC3D-462D-97E4-8329CBC1752C}"/>
              </a:ext>
            </a:extLst>
          </p:cNvPr>
          <p:cNvSpPr>
            <a:spLocks noGrp="1"/>
          </p:cNvSpPr>
          <p:nvPr>
            <p:ph type="title"/>
          </p:nvPr>
        </p:nvSpPr>
        <p:spPr>
          <a:xfrm>
            <a:off x="838200" y="21469"/>
            <a:ext cx="10515600" cy="1325563"/>
          </a:xfrm>
        </p:spPr>
        <p:txBody>
          <a:bodyPr/>
          <a:lstStyle/>
          <a:p>
            <a:r>
              <a:rPr lang="en-US"/>
              <a:t>Giao diện BigQuery</a:t>
            </a:r>
            <a:endParaRPr lang="en-GB"/>
          </a:p>
        </p:txBody>
      </p:sp>
      <p:pic>
        <p:nvPicPr>
          <p:cNvPr id="3" name="Picture 2">
            <a:extLst>
              <a:ext uri="{FF2B5EF4-FFF2-40B4-BE49-F238E27FC236}">
                <a16:creationId xmlns:a16="http://schemas.microsoft.com/office/drawing/2014/main" id="{1611188C-A200-478E-B06D-709E838908DA}"/>
              </a:ext>
            </a:extLst>
          </p:cNvPr>
          <p:cNvPicPr>
            <a:picLocks noChangeAspect="1"/>
          </p:cNvPicPr>
          <p:nvPr/>
        </p:nvPicPr>
        <p:blipFill>
          <a:blip r:embed="rId2"/>
          <a:stretch>
            <a:fillRect/>
          </a:stretch>
        </p:blipFill>
        <p:spPr>
          <a:xfrm>
            <a:off x="0" y="1127881"/>
            <a:ext cx="12192000" cy="5708650"/>
          </a:xfrm>
          <a:prstGeom prst="rect">
            <a:avLst/>
          </a:prstGeom>
        </p:spPr>
      </p:pic>
    </p:spTree>
    <p:extLst>
      <p:ext uri="{BB962C8B-B14F-4D97-AF65-F5344CB8AC3E}">
        <p14:creationId xmlns:p14="http://schemas.microsoft.com/office/powerpoint/2010/main" val="2337432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429B6-689A-4A8B-8099-4DF383E176DA}"/>
              </a:ext>
            </a:extLst>
          </p:cNvPr>
          <p:cNvSpPr>
            <a:spLocks noGrp="1"/>
          </p:cNvSpPr>
          <p:nvPr>
            <p:ph type="ctrTitle"/>
          </p:nvPr>
        </p:nvSpPr>
        <p:spPr/>
        <p:txBody>
          <a:bodyPr/>
          <a:lstStyle/>
          <a:p>
            <a:r>
              <a:rPr lang="en-US">
                <a:latin typeface="Times New Roman" panose="02020603050405020304" pitchFamily="18" charset="0"/>
                <a:cs typeface="Times New Roman" panose="02020603050405020304" pitchFamily="18" charset="0"/>
              </a:rPr>
              <a:t>Tạo Dataset và table trong BigQuery</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E3A5D6-7EC0-4CE1-B71A-501B5733727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93651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33E9B-70B3-47C8-B90A-EC4664226C4E}"/>
              </a:ext>
            </a:extLst>
          </p:cNvPr>
          <p:cNvSpPr>
            <a:spLocks noGrp="1"/>
          </p:cNvSpPr>
          <p:nvPr>
            <p:ph type="title"/>
          </p:nvPr>
        </p:nvSpPr>
        <p:spPr>
          <a:xfrm>
            <a:off x="838200" y="196849"/>
            <a:ext cx="10515600" cy="968375"/>
          </a:xfrm>
        </p:spPr>
        <p:txBody>
          <a:bodyPr/>
          <a:lstStyle/>
          <a:p>
            <a:r>
              <a:rPr lang="en-US" dirty="0"/>
              <a:t>1</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Dataset</a:t>
            </a:r>
          </a:p>
        </p:txBody>
      </p:sp>
      <p:sp>
        <p:nvSpPr>
          <p:cNvPr id="3" name="Content Placeholder 2">
            <a:extLst>
              <a:ext uri="{FF2B5EF4-FFF2-40B4-BE49-F238E27FC236}">
                <a16:creationId xmlns:a16="http://schemas.microsoft.com/office/drawing/2014/main" id="{87F1A678-8AE2-4941-95ED-2DE06E42E814}"/>
              </a:ext>
            </a:extLst>
          </p:cNvPr>
          <p:cNvSpPr>
            <a:spLocks noGrp="1"/>
          </p:cNvSpPr>
          <p:nvPr>
            <p:ph idx="1"/>
          </p:nvPr>
        </p:nvSpPr>
        <p:spPr>
          <a:xfrm>
            <a:off x="838200" y="1238250"/>
            <a:ext cx="10515600" cy="4938713"/>
          </a:xfrm>
        </p:spPr>
        <p:txBody>
          <a:bodyPr/>
          <a:lstStyle/>
          <a:p>
            <a:r>
              <a:rPr lang="en-US" sz="2400" dirty="0" err="1">
                <a:latin typeface="Times New Roman" panose="02020603050405020304" pitchFamily="18" charset="0"/>
                <a:cs typeface="Times New Roman" panose="02020603050405020304" pitchFamily="18" charset="0"/>
              </a:rPr>
              <a:t>Đăng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Console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GCP,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Menu </a:t>
            </a:r>
            <a:r>
              <a:rPr lang="en-US" sz="2400" dirty="0" err="1">
                <a:latin typeface="Times New Roman" panose="02020603050405020304" pitchFamily="18" charset="0"/>
                <a:cs typeface="Times New Roman" panose="02020603050405020304" pitchFamily="18" charset="0"/>
              </a:rPr>
              <a:t>trái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chọn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DataQuerry</a:t>
            </a:r>
            <a:endParaRPr lang="en-US" sz="2400" dirty="0">
              <a:latin typeface="Times New Roman" panose="02020603050405020304" pitchFamily="18"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BAD0D59E-B766-45E2-A1AD-0CAC40D09F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5688" y="1887608"/>
            <a:ext cx="9274673" cy="4656067"/>
          </a:xfrm>
          <a:prstGeom prst="rect">
            <a:avLst/>
          </a:prstGeom>
        </p:spPr>
      </p:pic>
    </p:spTree>
    <p:extLst>
      <p:ext uri="{BB962C8B-B14F-4D97-AF65-F5344CB8AC3E}">
        <p14:creationId xmlns:p14="http://schemas.microsoft.com/office/powerpoint/2010/main" val="383312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8D3F-DD50-4519-B61A-8736720CE334}"/>
              </a:ext>
            </a:extLst>
          </p:cNvPr>
          <p:cNvSpPr>
            <a:spLocks noGrp="1"/>
          </p:cNvSpPr>
          <p:nvPr>
            <p:ph type="title"/>
          </p:nvPr>
        </p:nvSpPr>
        <p:spPr/>
        <p:txBody>
          <a:bodyPr>
            <a:normAutofit fontScale="90000"/>
          </a:bodyPr>
          <a:lstStyle/>
          <a:p>
            <a:br>
              <a:rPr lang="en-US"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Tại</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màn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theo</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chúng</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sẽ</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dataset</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700" i="1"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khái</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i="1"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niệm</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dataset </a:t>
            </a:r>
            <a:r>
              <a:rPr lang="en-US" sz="2700" i="1"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GBQ </a:t>
            </a:r>
            <a:r>
              <a:rPr lang="en-US" sz="2700" i="1"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giống</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i="1"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như</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database </a:t>
            </a:r>
            <a:r>
              <a:rPr lang="en-US" sz="2700" i="1"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MySQL server)</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bằng</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cách</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ấn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button </a:t>
            </a:r>
            <a:r>
              <a:rPr lang="en-US" sz="27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CREATE DATASET.</a:t>
            </a:r>
            <a:br>
              <a:rPr lang="en-US" sz="31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3100" dirty="0"/>
          </a:p>
        </p:txBody>
      </p:sp>
      <p:sp>
        <p:nvSpPr>
          <p:cNvPr id="3" name="Content Placeholder 2">
            <a:extLst>
              <a:ext uri="{FF2B5EF4-FFF2-40B4-BE49-F238E27FC236}">
                <a16:creationId xmlns:a16="http://schemas.microsoft.com/office/drawing/2014/main" id="{93D935E0-1747-4799-8335-8B3C52871DBE}"/>
              </a:ext>
            </a:extLst>
          </p:cNvPr>
          <p:cNvSpPr>
            <a:spLocks noGrp="1"/>
          </p:cNvSpPr>
          <p:nvPr>
            <p:ph idx="1"/>
          </p:nvPr>
        </p:nvSpPr>
        <p:spPr/>
        <p:txBody>
          <a:bodyPr/>
          <a:lstStyle/>
          <a:p>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EED7923A-F393-4B96-A7CC-5CDDBB9DF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362" y="1825625"/>
            <a:ext cx="9872988" cy="4748574"/>
          </a:xfrm>
          <a:prstGeom prst="rect">
            <a:avLst/>
          </a:prstGeom>
        </p:spPr>
      </p:pic>
    </p:spTree>
    <p:extLst>
      <p:ext uri="{BB962C8B-B14F-4D97-AF65-F5344CB8AC3E}">
        <p14:creationId xmlns:p14="http://schemas.microsoft.com/office/powerpoint/2010/main" val="107974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1F13-4460-4637-8BC7-AAAD09EE24B1}"/>
              </a:ext>
            </a:extLst>
          </p:cNvPr>
          <p:cNvSpPr>
            <a:spLocks noGrp="1"/>
          </p:cNvSpPr>
          <p:nvPr>
            <p:ph type="title"/>
          </p:nvPr>
        </p:nvSpPr>
        <p:spPr/>
        <p:txBody>
          <a:bodyPr>
            <a:normAutofit fontScale="90000"/>
          </a:bodyPr>
          <a:lstStyle/>
          <a:p>
            <a:b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Màn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theo</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nhập</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tên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dataset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chỗ</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khung</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Dataset ID</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tuỳ</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theo</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ý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thích</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mình</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ví</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dụ</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DEMO) </a:t>
            </a:r>
            <a:r>
              <a:rPr lang="en-US" sz="27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Data location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default.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Rồi</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ấn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button Create dataset ở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bên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dưới</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5" name="Content Placeholder 4">
            <a:extLst>
              <a:ext uri="{FF2B5EF4-FFF2-40B4-BE49-F238E27FC236}">
                <a16:creationId xmlns:a16="http://schemas.microsoft.com/office/drawing/2014/main" id="{8E46E5DF-5516-483E-BD64-CE366F289D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90699"/>
            <a:ext cx="9781337" cy="4386263"/>
          </a:xfrm>
        </p:spPr>
      </p:pic>
    </p:spTree>
    <p:extLst>
      <p:ext uri="{BB962C8B-B14F-4D97-AF65-F5344CB8AC3E}">
        <p14:creationId xmlns:p14="http://schemas.microsoft.com/office/powerpoint/2010/main" val="2767139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DFC18-3979-4756-A09D-B81574A5BFDD}"/>
              </a:ext>
            </a:extLst>
          </p:cNvPr>
          <p:cNvSpPr>
            <a:spLocks noGrp="1"/>
          </p:cNvSpPr>
          <p:nvPr>
            <p:ph type="title"/>
          </p:nvPr>
        </p:nvSpPr>
        <p:spPr/>
        <p:txBody>
          <a:bodyPr>
            <a:noAutofit/>
          </a:bodyPr>
          <a:lstStyle/>
          <a:p>
            <a:b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Ta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đã</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xong</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dataset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có</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tên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DEMO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theo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sẽ</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table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dataset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đó</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hoàn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thiện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việc</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liệu</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dataset.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làm</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điều</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này</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bạn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click button </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CREATE TABLE</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giống</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như</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dưới</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B6450BB-5B4E-4C59-BC1A-D7DF8882D1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4287" y="1758950"/>
            <a:ext cx="9514637" cy="4576220"/>
          </a:xfrm>
        </p:spPr>
      </p:pic>
    </p:spTree>
    <p:extLst>
      <p:ext uri="{BB962C8B-B14F-4D97-AF65-F5344CB8AC3E}">
        <p14:creationId xmlns:p14="http://schemas.microsoft.com/office/powerpoint/2010/main" val="2697551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2C07-DE1F-44DB-AB49-F2EE7D3ACDD3}"/>
              </a:ext>
            </a:extLst>
          </p:cNvPr>
          <p:cNvSpPr>
            <a:spLocks noGrp="1"/>
          </p:cNvSpPr>
          <p:nvPr>
            <p:ph type="title"/>
          </p:nvPr>
        </p:nvSpPr>
        <p:spPr>
          <a:xfrm>
            <a:off x="838200" y="365126"/>
            <a:ext cx="10515600" cy="939800"/>
          </a:xfrm>
        </p:spPr>
        <p:txBody>
          <a:bodyPr>
            <a:normAutofit fontScale="90000"/>
          </a:bodyPr>
          <a:lstStyle/>
          <a:p>
            <a:b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Mục</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Create table from:</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bạn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upload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giống</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dưới</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sau</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đó</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browse</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upload file </a:t>
            </a:r>
            <a:r>
              <a:rPr lang="en-US" sz="2700" i="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CUSTOMERS.csv</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lên</a:t>
            </a:r>
            <a:r>
              <a:rPr lang="en-US" sz="27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GBQ.</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5" name="Content Placeholder 4">
            <a:extLst>
              <a:ext uri="{FF2B5EF4-FFF2-40B4-BE49-F238E27FC236}">
                <a16:creationId xmlns:a16="http://schemas.microsoft.com/office/drawing/2014/main" id="{C93CF8BE-B325-452A-AFD5-F3560EC0C4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00200"/>
            <a:ext cx="10250671" cy="4576762"/>
          </a:xfrm>
        </p:spPr>
      </p:pic>
    </p:spTree>
    <p:extLst>
      <p:ext uri="{BB962C8B-B14F-4D97-AF65-F5344CB8AC3E}">
        <p14:creationId xmlns:p14="http://schemas.microsoft.com/office/powerpoint/2010/main" val="191018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5C293-8016-4A9A-9C92-103337B526D6}"/>
              </a:ext>
            </a:extLst>
          </p:cNvPr>
          <p:cNvSpPr>
            <a:spLocks noGrp="1"/>
          </p:cNvSpPr>
          <p:nvPr>
            <p:ph type="title"/>
          </p:nvPr>
        </p:nvSpPr>
        <p:spPr>
          <a:xfrm>
            <a:off x="838200" y="365125"/>
            <a:ext cx="10515600" cy="1663700"/>
          </a:xfrm>
        </p:spPr>
        <p:txBody>
          <a:bodyPr>
            <a:noAutofit/>
          </a:bodyPr>
          <a:lstStyle/>
          <a:p>
            <a:pPr marL="0" marR="0">
              <a:lnSpc>
                <a:spcPct val="107000"/>
              </a:lnSpc>
              <a:spcBef>
                <a:spcPts val="0"/>
              </a:spcBef>
              <a:spcAft>
                <a:spcPts val="1800"/>
              </a:spcAft>
            </a:pP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Table name</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đặt</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tên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Table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cần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tạo</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Nhập</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CUSTOMERS</a:t>
            </a:r>
            <a:br>
              <a:rPr lang="en-US" sz="2400" dirty="0">
                <a:effectLst/>
                <a:latin typeface="Times New Roman" panose="02020603050405020304" pitchFamily="18" charset="0"/>
                <a:ea typeface="Calibri" panose="020F0502020204030204" pitchFamily="34" charset="0"/>
                <a:cs typeface="Times New Roman" panose="02020603050405020304" pitchFamily="18" charset="0"/>
              </a:rPr>
            </a:b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Schema: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nghĩa</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trường</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Auto detect: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Tích</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nếu</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muốn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GCP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tự</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nhận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header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file csv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làm</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tên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trường</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Nếu</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muộn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tự</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nghĩa</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button </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Add field</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chọn</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kiểu</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dữ</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liệu</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tại</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Type</a:t>
            </a:r>
            <a:endParaRPr lang="en-US" sz="2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2857A89C-0C34-45DC-8F3E-CB62F67A16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500" y="2266950"/>
            <a:ext cx="9321111" cy="4100553"/>
          </a:xfrm>
        </p:spPr>
      </p:pic>
    </p:spTree>
    <p:extLst>
      <p:ext uri="{BB962C8B-B14F-4D97-AF65-F5344CB8AC3E}">
        <p14:creationId xmlns:p14="http://schemas.microsoft.com/office/powerpoint/2010/main" val="164007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E871-657E-4C0D-A092-3DA4004159DB}"/>
              </a:ext>
            </a:extLst>
          </p:cNvPr>
          <p:cNvSpPr>
            <a:spLocks noGrp="1"/>
          </p:cNvSpPr>
          <p:nvPr>
            <p:ph type="title"/>
          </p:nvPr>
        </p:nvSpPr>
        <p:spPr>
          <a:xfrm>
            <a:off x="771525" y="146050"/>
            <a:ext cx="10515600" cy="2282825"/>
          </a:xfrm>
        </p:spPr>
        <p:txBody>
          <a:bodyPr>
            <a:normAutofit fontScale="90000"/>
          </a:bodyPr>
          <a:lstStyle/>
          <a:p>
            <a:pPr marL="0" marR="0">
              <a:lnSpc>
                <a:spcPct val="107000"/>
              </a:lnSpc>
              <a:spcBef>
                <a:spcPts val="0"/>
              </a:spcBef>
              <a:spcAft>
                <a:spcPts val="1800"/>
              </a:spcAft>
            </a:pPr>
            <a:b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Click </a:t>
            </a:r>
            <a:r>
              <a:rPr lang="en-US" sz="28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Advanced options</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Field delimiter: </a:t>
            </a: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Lựa</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kiểu</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cách</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file CSV: </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chọn</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Custom</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Custom</a:t>
            </a:r>
            <a:r>
              <a:rPr lang="en-US"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field delimiter</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Nhập</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dấu</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(Do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trong</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file CSV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trường</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dữ</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liệu</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đang</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phân</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cách</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nhau</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bằng</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dấu</a:t>
            </a: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US" sz="2800" dirty="0">
                <a:effectLst/>
                <a:latin typeface="Times New Roman" panose="02020603050405020304" pitchFamily="18" charset="0"/>
                <a:ea typeface="Calibri" panose="020F0502020204030204" pitchFamily="34" charset="0"/>
                <a:cs typeface="Times New Roman" panose="02020603050405020304" pitchFamily="18" charset="0"/>
              </a:rPr>
            </a:br>
            <a:r>
              <a:rPr lang="en-US" sz="28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Header rows to skip</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Nhập</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giá</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trị</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1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Bỏ</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qua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giá</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trị</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header </a:t>
            </a:r>
            <a:r>
              <a:rPr lang="en-US" sz="28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trong</a:t>
            </a:r>
            <a:r>
              <a:rPr lang="en-US" sz="28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file CSV)</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5" name="Content Placeholder 4">
            <a:extLst>
              <a:ext uri="{FF2B5EF4-FFF2-40B4-BE49-F238E27FC236}">
                <a16:creationId xmlns:a16="http://schemas.microsoft.com/office/drawing/2014/main" id="{DE723D84-8555-416B-9716-0A5541096F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524" y="2428875"/>
            <a:ext cx="8654295" cy="4076700"/>
          </a:xfrm>
        </p:spPr>
      </p:pic>
    </p:spTree>
    <p:extLst>
      <p:ext uri="{BB962C8B-B14F-4D97-AF65-F5344CB8AC3E}">
        <p14:creationId xmlns:p14="http://schemas.microsoft.com/office/powerpoint/2010/main" val="132505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891CB-2C0B-4065-BCAD-3F40B47AD02F}"/>
              </a:ext>
            </a:extLst>
          </p:cNvPr>
          <p:cNvSpPr>
            <a:spLocks noGrp="1"/>
          </p:cNvSpPr>
          <p:nvPr>
            <p:ph type="title"/>
          </p:nvPr>
        </p:nvSpPr>
        <p:spPr>
          <a:xfrm>
            <a:off x="838200" y="365125"/>
            <a:ext cx="10515600" cy="949325"/>
          </a:xfrm>
        </p:spPr>
        <p:txBody>
          <a:bodyPr>
            <a:normAutofit fontScale="90000"/>
          </a:bodyPr>
          <a:lstStyle/>
          <a:p>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Sau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khi</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click button </a:t>
            </a:r>
            <a:r>
              <a:rPr lang="en-US" sz="2400" b="1"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Create table</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ta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có</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dataset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như</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dưới</a:t>
            </a:r>
            <a:r>
              <a:rPr lang="en-US" sz="24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5" name="Content Placeholder 4">
            <a:extLst>
              <a:ext uri="{FF2B5EF4-FFF2-40B4-BE49-F238E27FC236}">
                <a16:creationId xmlns:a16="http://schemas.microsoft.com/office/drawing/2014/main" id="{7D87C7CC-3D3D-4924-BF46-B1C5639FE7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72469"/>
            <a:ext cx="9781337" cy="4704494"/>
          </a:xfrm>
        </p:spPr>
      </p:pic>
    </p:spTree>
    <p:extLst>
      <p:ext uri="{BB962C8B-B14F-4D97-AF65-F5344CB8AC3E}">
        <p14:creationId xmlns:p14="http://schemas.microsoft.com/office/powerpoint/2010/main" val="160080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585"/>
            <a:ext cx="10515600" cy="742458"/>
          </a:xfrm>
        </p:spPr>
        <p:txBody>
          <a:bodyPr/>
          <a:lstStyle/>
          <a:p>
            <a:r>
              <a:rPr lang="en-US"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2. Thực hiện </a:t>
            </a:r>
            <a:r>
              <a:rPr lang="en-US"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truy</a:t>
            </a:r>
            <a:r>
              <a:rPr lang="en-US"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vấn</a:t>
            </a:r>
            <a:endParaRPr lang="en-US" dirty="0"/>
          </a:p>
        </p:txBody>
      </p:sp>
      <p:sp>
        <p:nvSpPr>
          <p:cNvPr id="3" name="Content Placeholder 2"/>
          <p:cNvSpPr>
            <a:spLocks noGrp="1"/>
          </p:cNvSpPr>
          <p:nvPr>
            <p:ph idx="1"/>
          </p:nvPr>
        </p:nvSpPr>
        <p:spPr>
          <a:xfrm>
            <a:off x="838200" y="1104408"/>
            <a:ext cx="10515600" cy="4351338"/>
          </a:xfrm>
        </p:spPr>
        <p:txBody>
          <a:bodyPr>
            <a:normAutofit/>
          </a:bodyPr>
          <a:lstStyle/>
          <a:p>
            <a:pPr marL="0" indent="0">
              <a:buNone/>
            </a:pP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Câu</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truy</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vấn: </a:t>
            </a:r>
            <a:r>
              <a:rPr lang="en-US" sz="2000" b="1" dirty="0">
                <a:solidFill>
                  <a:srgbClr val="3367D6"/>
                </a:solidFill>
                <a:latin typeface="Times New Roman" panose="02020603050405020304" pitchFamily="18" charset="0"/>
                <a:ea typeface="Times New Roman" panose="02020603050405020304" pitchFamily="18" charset="0"/>
                <a:cs typeface="Times New Roman" panose="02020603050405020304" pitchFamily="18" charset="0"/>
              </a:rPr>
              <a:t>SELECT</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37474F"/>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3367D6"/>
                </a:solidFill>
                <a:latin typeface="Times New Roman" panose="02020603050405020304" pitchFamily="18" charset="0"/>
                <a:ea typeface="Times New Roman" panose="02020603050405020304" pitchFamily="18" charset="0"/>
                <a:cs typeface="Times New Roman" panose="02020603050405020304" pitchFamily="18" charset="0"/>
              </a:rPr>
              <a:t>FROM</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0D904F"/>
                </a:solidFill>
                <a:latin typeface="Times New Roman" panose="02020603050405020304" pitchFamily="18" charset="0"/>
                <a:ea typeface="Times New Roman" panose="02020603050405020304" pitchFamily="18" charset="0"/>
                <a:cs typeface="Times New Roman" panose="02020603050405020304" pitchFamily="18" charset="0"/>
              </a:rPr>
              <a:t>`elevated-nature-310407.DEMO.CUSTOMERS`</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3367D6"/>
                </a:solidFill>
                <a:latin typeface="Times New Roman" panose="02020603050405020304" pitchFamily="18" charset="0"/>
                <a:ea typeface="Times New Roman" panose="02020603050405020304" pitchFamily="18" charset="0"/>
                <a:cs typeface="Times New Roman" panose="02020603050405020304" pitchFamily="18" charset="0"/>
              </a:rPr>
              <a:t>LIMIT</a:t>
            </a:r>
            <a:r>
              <a:rPr lang="en-US" sz="20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F4511E"/>
                </a:solidFill>
                <a:latin typeface="Times New Roman" panose="02020603050405020304" pitchFamily="18" charset="0"/>
                <a:ea typeface="Times New Roman" panose="02020603050405020304" pitchFamily="18" charset="0"/>
                <a:cs typeface="Times New Roman" panose="02020603050405020304" pitchFamily="18" charset="0"/>
              </a:rPr>
              <a:t>1000</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được </a:t>
            </a: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gõ</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vô</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ô query (</a:t>
            </a:r>
            <a:r>
              <a:rPr lang="en-US" sz="2000" i="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hình dưới</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Click button </a:t>
            </a:r>
            <a:r>
              <a:rPr lang="en-US" sz="2000" b="1"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Run</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để có được kết </a:t>
            </a: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quả</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câu</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truy</a:t>
            </a:r>
            <a:r>
              <a:rPr lang="en-US" sz="2000" dirty="0">
                <a:solidFill>
                  <a:srgbClr val="404040"/>
                </a:solidFill>
                <a:latin typeface="Times New Roman" panose="02020603050405020304" pitchFamily="18" charset="0"/>
                <a:ea typeface="Times New Roman" panose="02020603050405020304" pitchFamily="18" charset="0"/>
                <a:cs typeface="Times New Roman" panose="02020603050405020304" pitchFamily="18" charset="0"/>
              </a:rPr>
              <a:t> vấn.</a:t>
            </a:r>
            <a:endParaRPr lang="en-US" sz="2000" dirty="0"/>
          </a:p>
        </p:txBody>
      </p:sp>
      <p:pic>
        <p:nvPicPr>
          <p:cNvPr id="4" name="Content Placeholder 4">
            <a:extLst>
              <a:ext uri="{FF2B5EF4-FFF2-40B4-BE49-F238E27FC236}">
                <a16:creationId xmlns:a16="http://schemas.microsoft.com/office/drawing/2014/main" id="{A7223612-1CF6-4B53-AEA8-08FA340540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029" y="1928746"/>
            <a:ext cx="8955874" cy="4216399"/>
          </a:xfrm>
          <a:prstGeom prst="rect">
            <a:avLst/>
          </a:prstGeom>
        </p:spPr>
      </p:pic>
    </p:spTree>
    <p:extLst>
      <p:ext uri="{BB962C8B-B14F-4D97-AF65-F5344CB8AC3E}">
        <p14:creationId xmlns:p14="http://schemas.microsoft.com/office/powerpoint/2010/main" val="4088946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09803-3399-4350-A9D1-871D8CE58F22}"/>
              </a:ext>
            </a:extLst>
          </p:cNvPr>
          <p:cNvSpPr>
            <a:spLocks noGrp="1"/>
          </p:cNvSpPr>
          <p:nvPr>
            <p:ph type="title"/>
          </p:nvPr>
        </p:nvSpPr>
        <p:spPr>
          <a:xfrm>
            <a:off x="838200" y="365125"/>
            <a:ext cx="10515600" cy="739775"/>
          </a:xfrm>
        </p:spPr>
        <p:txBody>
          <a:bodyPr>
            <a:normAutofit fontScale="90000"/>
          </a:bodyPr>
          <a:lstStyle/>
          <a:p>
            <a:b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Màn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hình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kết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quả</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câu</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truy</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vấn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5" name="Content Placeholder 4">
            <a:extLst>
              <a:ext uri="{FF2B5EF4-FFF2-40B4-BE49-F238E27FC236}">
                <a16:creationId xmlns:a16="http://schemas.microsoft.com/office/drawing/2014/main" id="{367CD341-2D4E-48DB-A3F1-8389C231BB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35820"/>
            <a:ext cx="9857537" cy="4741143"/>
          </a:xfrm>
        </p:spPr>
      </p:pic>
    </p:spTree>
    <p:extLst>
      <p:ext uri="{BB962C8B-B14F-4D97-AF65-F5344CB8AC3E}">
        <p14:creationId xmlns:p14="http://schemas.microsoft.com/office/powerpoint/2010/main" val="3679448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429B6-689A-4A8B-8099-4DF383E176DA}"/>
              </a:ext>
            </a:extLst>
          </p:cNvPr>
          <p:cNvSpPr>
            <a:spLocks noGrp="1"/>
          </p:cNvSpPr>
          <p:nvPr>
            <p:ph type="ctrTitle"/>
          </p:nvPr>
        </p:nvSpPr>
        <p:spPr/>
        <p:txBody>
          <a:bodyPr/>
          <a:lstStyle/>
          <a:p>
            <a:r>
              <a:rPr lang="en-US">
                <a:latin typeface="Times New Roman" panose="02020603050405020304" pitchFamily="18" charset="0"/>
                <a:cs typeface="Times New Roman" panose="02020603050405020304" pitchFamily="18" charset="0"/>
              </a:rPr>
              <a:t>SQL BigQuery</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E3A5D6-7EC0-4CE1-B71A-501B5733727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83432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5C3A-DE20-4268-86D0-22F5D949F1E7}"/>
              </a:ext>
            </a:extLst>
          </p:cNvPr>
          <p:cNvSpPr>
            <a:spLocks noGrp="1"/>
          </p:cNvSpPr>
          <p:nvPr>
            <p:ph type="title"/>
          </p:nvPr>
        </p:nvSpPr>
        <p:spPr/>
        <p:txBody>
          <a:bodyPr/>
          <a:lstStyle/>
          <a:p>
            <a:r>
              <a:rPr lang="en-US"/>
              <a:t>Tính phí trên BigQuery</a:t>
            </a:r>
            <a:endParaRPr lang="en-GB"/>
          </a:p>
        </p:txBody>
      </p:sp>
      <p:sp>
        <p:nvSpPr>
          <p:cNvPr id="3" name="Text Placeholder 2">
            <a:extLst>
              <a:ext uri="{FF2B5EF4-FFF2-40B4-BE49-F238E27FC236}">
                <a16:creationId xmlns:a16="http://schemas.microsoft.com/office/drawing/2014/main" id="{12BF3E24-3BE5-4D62-8736-4559EBE0B792}"/>
              </a:ext>
            </a:extLst>
          </p:cNvPr>
          <p:cNvSpPr>
            <a:spLocks noGrp="1"/>
          </p:cNvSpPr>
          <p:nvPr>
            <p:ph type="body" idx="1"/>
          </p:nvPr>
        </p:nvSpPr>
        <p:spPr>
          <a:xfrm>
            <a:off x="838200" y="1420427"/>
            <a:ext cx="11466250" cy="4756536"/>
          </a:xfrm>
        </p:spPr>
        <p:txBody>
          <a:bodyPr>
            <a:normAutofit/>
          </a:bodyPr>
          <a:lstStyle/>
          <a:p>
            <a:r>
              <a:rPr lang="en-US"/>
              <a:t>Cách tính phí dựa trên: </a:t>
            </a:r>
          </a:p>
          <a:p>
            <a:pPr lvl="1"/>
            <a:r>
              <a:rPr lang="en-GB">
                <a:hlinkClick r:id="rId2"/>
              </a:rPr>
              <a:t>Analysis pricing</a:t>
            </a:r>
            <a:r>
              <a:rPr lang="en-GB"/>
              <a:t>: chi phí để chạy các câu lệnh truy vấn (đo bằng dung l</a:t>
            </a:r>
            <a:r>
              <a:rPr lang="vi-VN"/>
              <a:t>ư</a:t>
            </a:r>
            <a:r>
              <a:rPr lang="en-US"/>
              <a:t>ợng quét)</a:t>
            </a:r>
            <a:endParaRPr lang="en-GB"/>
          </a:p>
          <a:p>
            <a:pPr lvl="1"/>
            <a:r>
              <a:rPr lang="en-GB">
                <a:hlinkClick r:id="rId3"/>
              </a:rPr>
              <a:t>Storage pricing</a:t>
            </a:r>
            <a:r>
              <a:rPr lang="en-GB"/>
              <a:t>: chi phí bộ nh</a:t>
            </a:r>
            <a:r>
              <a:rPr lang="en-US"/>
              <a:t>ớ để </a:t>
            </a:r>
            <a:r>
              <a:rPr lang="en-GB"/>
              <a:t>l</a:t>
            </a:r>
            <a:r>
              <a:rPr lang="vi-VN"/>
              <a:t>ư</a:t>
            </a:r>
            <a:r>
              <a:rPr lang="en-US"/>
              <a:t>u trữ dữ liệu mà ng</a:t>
            </a:r>
            <a:r>
              <a:rPr lang="vi-VN"/>
              <a:t>ư</a:t>
            </a:r>
            <a:r>
              <a:rPr lang="en-US"/>
              <a:t>ời dùng đ</a:t>
            </a:r>
            <a:r>
              <a:rPr lang="vi-VN"/>
              <a:t>ư</a:t>
            </a:r>
            <a:r>
              <a:rPr lang="en-US"/>
              <a:t>a trên Google</a:t>
            </a:r>
          </a:p>
          <a:p>
            <a:r>
              <a:rPr lang="vi-VN"/>
              <a:t>Mỗi bảng bạn lưu trong BigQuery sẽ sử dụng bộ nhớ và mỗi câu lệnh SQL mà bạn thực thi sẽ </a:t>
            </a:r>
            <a:r>
              <a:rPr lang="en-US"/>
              <a:t>bị tính phí</a:t>
            </a:r>
            <a:r>
              <a:rPr lang="vi-VN"/>
              <a:t> truy vấn</a:t>
            </a:r>
            <a:endParaRPr lang="en-US"/>
          </a:p>
          <a:p>
            <a:endParaRPr lang="en-US"/>
          </a:p>
          <a:p>
            <a:r>
              <a:rPr lang="en-US"/>
              <a:t>Mỗi tháng đ</a:t>
            </a:r>
            <a:r>
              <a:rPr lang="vi-VN"/>
              <a:t>ư</a:t>
            </a:r>
            <a:r>
              <a:rPr lang="en-US"/>
              <a:t>ợc miễn phí 1Tb dung l</a:t>
            </a:r>
            <a:r>
              <a:rPr lang="vi-VN"/>
              <a:t>ư</a:t>
            </a:r>
            <a:r>
              <a:rPr lang="en-US"/>
              <a:t>ợng truy vấn (Analysis)</a:t>
            </a:r>
          </a:p>
          <a:p>
            <a:r>
              <a:rPr lang="en-US"/>
              <a:t>S</a:t>
            </a:r>
            <a:r>
              <a:rPr lang="vi-VN"/>
              <a:t>au khi hết 1 TB miễn phí,mỗi lần thực thi câu truy vấn sẽ tính phí tuỳ vào dung lượng dữ liệu mà nó đọc qua (không bao gồm điều kiện trong câu truy vấn) chứ không phải dung lượng dữ liệu kết quả trả về </a:t>
            </a:r>
            <a:endParaRPr lang="en-US"/>
          </a:p>
        </p:txBody>
      </p:sp>
    </p:spTree>
    <p:extLst>
      <p:ext uri="{BB962C8B-B14F-4D97-AF65-F5344CB8AC3E}">
        <p14:creationId xmlns:p14="http://schemas.microsoft.com/office/powerpoint/2010/main" val="3318620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A5C3A-DE20-4268-86D0-22F5D949F1E7}"/>
              </a:ext>
            </a:extLst>
          </p:cNvPr>
          <p:cNvSpPr>
            <a:spLocks noGrp="1"/>
          </p:cNvSpPr>
          <p:nvPr>
            <p:ph type="title"/>
          </p:nvPr>
        </p:nvSpPr>
        <p:spPr/>
        <p:txBody>
          <a:bodyPr/>
          <a:lstStyle/>
          <a:p>
            <a:r>
              <a:rPr lang="en-US"/>
              <a:t>Tính phí trên BigQuery</a:t>
            </a:r>
            <a:endParaRPr lang="en-GB"/>
          </a:p>
        </p:txBody>
      </p:sp>
      <p:sp>
        <p:nvSpPr>
          <p:cNvPr id="3" name="Text Placeholder 2">
            <a:extLst>
              <a:ext uri="{FF2B5EF4-FFF2-40B4-BE49-F238E27FC236}">
                <a16:creationId xmlns:a16="http://schemas.microsoft.com/office/drawing/2014/main" id="{12BF3E24-3BE5-4D62-8736-4559EBE0B792}"/>
              </a:ext>
            </a:extLst>
          </p:cNvPr>
          <p:cNvSpPr>
            <a:spLocks noGrp="1"/>
          </p:cNvSpPr>
          <p:nvPr>
            <p:ph type="body" idx="1"/>
          </p:nvPr>
        </p:nvSpPr>
        <p:spPr>
          <a:xfrm>
            <a:off x="838200" y="1420427"/>
            <a:ext cx="11253186" cy="4756536"/>
          </a:xfrm>
        </p:spPr>
        <p:txBody>
          <a:bodyPr>
            <a:normAutofit/>
          </a:bodyPr>
          <a:lstStyle/>
          <a:p>
            <a:r>
              <a:rPr lang="vi-VN"/>
              <a:t>BigQuery sử dụng cấu trúc dữ liệu dạng cột. Bạn bị tính phí theo tổng dữ liệu trong các cột bạn chọn</a:t>
            </a:r>
            <a:r>
              <a:rPr lang="en-US"/>
              <a:t> (select)</a:t>
            </a:r>
          </a:p>
          <a:p>
            <a:r>
              <a:rPr lang="en-US"/>
              <a:t>Do đó:</a:t>
            </a:r>
          </a:p>
          <a:p>
            <a:pPr lvl="1"/>
            <a:r>
              <a:rPr lang="en-GB"/>
              <a:t>Nếu chúng ta kiểm tra dữ liệu trong bảng bằng cách chạy đi chạy lại cùng một truy vấn (select * ), thì giới hạn miễn phí sẽ hết rất nhanh </a:t>
            </a:r>
          </a:p>
          <a:p>
            <a:pPr marL="1028700" lvl="2" indent="0">
              <a:buNone/>
            </a:pPr>
            <a:r>
              <a:rPr lang="en-GB"/>
              <a:t>→ Với việc kiểm tra dữ liệu trong bảng chúng ta nên sử dụng chức năng </a:t>
            </a:r>
            <a:r>
              <a:rPr lang="en-GB" b="1">
                <a:solidFill>
                  <a:srgbClr val="FF0000"/>
                </a:solidFill>
              </a:rPr>
              <a:t>preview</a:t>
            </a:r>
            <a:r>
              <a:rPr lang="en-GB"/>
              <a:t> để xem data bên trong bảng đó</a:t>
            </a:r>
          </a:p>
          <a:p>
            <a:pPr lvl="1"/>
            <a:r>
              <a:rPr lang="en-GB"/>
              <a:t>Trong truy vấn chúng ta </a:t>
            </a:r>
            <a:r>
              <a:rPr lang="en-GB" b="1">
                <a:solidFill>
                  <a:srgbClr val="FF0000"/>
                </a:solidFill>
              </a:rPr>
              <a:t>chỉ</a:t>
            </a:r>
            <a:r>
              <a:rPr lang="en-GB"/>
              <a:t> nên lấy những cột nào cần lấy</a:t>
            </a:r>
          </a:p>
          <a:p>
            <a:pPr lvl="1"/>
            <a:r>
              <a:rPr lang="en-GB"/>
              <a:t>Nên s</a:t>
            </a:r>
            <a:r>
              <a:rPr lang="en-US"/>
              <a:t>ử dụng thêm “LIMIT”, ví dụ: </a:t>
            </a:r>
          </a:p>
          <a:p>
            <a:pPr marL="571500" lvl="1" indent="0">
              <a:buNone/>
            </a:pPr>
            <a:r>
              <a:rPr lang="en-US"/>
              <a:t>SELECT * FROM `gms-lab.greenfeed.bien_dong_gia_2020` LIMIT 1000;</a:t>
            </a:r>
          </a:p>
          <a:p>
            <a:pPr lvl="1"/>
            <a:endParaRPr lang="en-US"/>
          </a:p>
        </p:txBody>
      </p:sp>
    </p:spTree>
    <p:extLst>
      <p:ext uri="{BB962C8B-B14F-4D97-AF65-F5344CB8AC3E}">
        <p14:creationId xmlns:p14="http://schemas.microsoft.com/office/powerpoint/2010/main" val="2623841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2"/>
          <p:cNvSpPr txBox="1">
            <a:spLocks noGrp="1"/>
          </p:cNvSpPr>
          <p:nvPr>
            <p:ph type="title"/>
          </p:nvPr>
        </p:nvSpPr>
        <p:spPr>
          <a:xfrm>
            <a:off x="531952" y="406401"/>
            <a:ext cx="11128098" cy="527251"/>
          </a:xfrm>
          <a:prstGeom prst="rect">
            <a:avLst/>
          </a:prstGeom>
          <a:noFill/>
          <a:ln>
            <a:noFill/>
          </a:ln>
        </p:spPr>
        <p:txBody>
          <a:bodyPr spcFirstLastPara="1" wrap="square" lIns="0" tIns="0" rIns="0" bIns="0" anchor="b" anchorCtr="0">
            <a:noAutofit/>
          </a:bodyPr>
          <a:lstStyle/>
          <a:p>
            <a:pPr lvl="0"/>
            <a:r>
              <a:rPr lang="en-US" sz="4000" b="1">
                <a:ea typeface="Tahoma"/>
                <a:cs typeface="Tahoma"/>
                <a:sym typeface="Tahoma"/>
              </a:rPr>
              <a:t>Kiểu dữ liệu</a:t>
            </a:r>
            <a:endParaRPr sz="4000" b="1" dirty="0">
              <a:latin typeface="Tahoma"/>
              <a:ea typeface="Tahoma"/>
              <a:cs typeface="Tahoma"/>
              <a:sym typeface="Tahoma"/>
            </a:endParaRPr>
          </a:p>
        </p:txBody>
      </p:sp>
      <p:sp>
        <p:nvSpPr>
          <p:cNvPr id="212" name="Google Shape;212;p12"/>
          <p:cNvSpPr txBox="1">
            <a:spLocks noGrp="1"/>
          </p:cNvSpPr>
          <p:nvPr>
            <p:ph type="body" idx="1"/>
          </p:nvPr>
        </p:nvSpPr>
        <p:spPr>
          <a:xfrm>
            <a:off x="531290" y="1446982"/>
            <a:ext cx="11129420" cy="4596063"/>
          </a:xfrm>
          <a:prstGeom prst="rect">
            <a:avLst/>
          </a:prstGeom>
          <a:noFill/>
          <a:ln>
            <a:noFill/>
          </a:ln>
        </p:spPr>
        <p:txBody>
          <a:bodyPr spcFirstLastPara="1" wrap="square" lIns="0" tIns="0" rIns="0" bIns="0" anchor="t" anchorCtr="0">
            <a:noAutofit/>
          </a:bodyPr>
          <a:lstStyle/>
          <a:p>
            <a:pPr marL="457200" lvl="0" indent="-342900" algn="l" rtl="0">
              <a:lnSpc>
                <a:spcPct val="90000"/>
              </a:lnSpc>
              <a:spcBef>
                <a:spcPts val="1200"/>
              </a:spcBef>
              <a:spcAft>
                <a:spcPts val="0"/>
              </a:spcAft>
              <a:buClr>
                <a:schemeClr val="dk1"/>
              </a:buClr>
              <a:buSzPts val="1800"/>
              <a:buChar char="•"/>
            </a:pPr>
            <a:r>
              <a:rPr lang="en-US" sz="1800" dirty="0" err="1">
                <a:latin typeface="Tahoma"/>
                <a:ea typeface="Tahoma"/>
                <a:cs typeface="Tahoma"/>
                <a:sym typeface="Tahoma"/>
              </a:rPr>
              <a:t>Kiểu</a:t>
            </a:r>
            <a:r>
              <a:rPr lang="en-US" sz="1800" dirty="0">
                <a:latin typeface="Tahoma"/>
                <a:ea typeface="Tahoma"/>
                <a:cs typeface="Tahoma"/>
                <a:sym typeface="Tahoma"/>
              </a:rPr>
              <a:t> </a:t>
            </a:r>
            <a:r>
              <a:rPr lang="en-US" sz="1800" dirty="0" err="1">
                <a:latin typeface="Tahoma"/>
                <a:ea typeface="Tahoma"/>
                <a:cs typeface="Tahoma"/>
                <a:sym typeface="Tahoma"/>
              </a:rPr>
              <a:t>dữ</a:t>
            </a:r>
            <a:r>
              <a:rPr lang="en-US" sz="1800" dirty="0">
                <a:latin typeface="Tahoma"/>
                <a:ea typeface="Tahoma"/>
                <a:cs typeface="Tahoma"/>
                <a:sym typeface="Tahoma"/>
              </a:rPr>
              <a:t> </a:t>
            </a:r>
            <a:r>
              <a:rPr lang="en-US" sz="1800" dirty="0" err="1">
                <a:latin typeface="Tahoma"/>
                <a:ea typeface="Tahoma"/>
                <a:cs typeface="Tahoma"/>
                <a:sym typeface="Tahoma"/>
              </a:rPr>
              <a:t>liệu</a:t>
            </a:r>
            <a:r>
              <a:rPr lang="en-US" sz="1800" dirty="0">
                <a:latin typeface="Tahoma"/>
                <a:ea typeface="Tahoma"/>
                <a:cs typeface="Tahoma"/>
                <a:sym typeface="Tahoma"/>
              </a:rPr>
              <a:t> </a:t>
            </a:r>
            <a:r>
              <a:rPr lang="en-US" sz="1800" dirty="0" err="1">
                <a:latin typeface="Tahoma"/>
                <a:ea typeface="Tahoma"/>
                <a:cs typeface="Tahoma"/>
                <a:sym typeface="Tahoma"/>
              </a:rPr>
              <a:t>trong</a:t>
            </a:r>
            <a:r>
              <a:rPr lang="en-US" sz="1800" dirty="0">
                <a:latin typeface="Tahoma"/>
                <a:ea typeface="Tahoma"/>
                <a:cs typeface="Tahoma"/>
                <a:sym typeface="Tahoma"/>
              </a:rPr>
              <a:t> SQL </a:t>
            </a:r>
            <a:r>
              <a:rPr lang="en-US" sz="1800" dirty="0" err="1">
                <a:latin typeface="Tahoma"/>
                <a:ea typeface="Tahoma"/>
                <a:cs typeface="Tahoma"/>
                <a:sym typeface="Tahoma"/>
              </a:rPr>
              <a:t>định</a:t>
            </a:r>
            <a:r>
              <a:rPr lang="en-US" sz="1800" dirty="0">
                <a:latin typeface="Tahoma"/>
                <a:ea typeface="Tahoma"/>
                <a:cs typeface="Tahoma"/>
                <a:sym typeface="Tahoma"/>
              </a:rPr>
              <a:t> </a:t>
            </a:r>
            <a:r>
              <a:rPr lang="en-US" sz="1800" dirty="0" err="1">
                <a:latin typeface="Tahoma"/>
                <a:ea typeface="Tahoma"/>
                <a:cs typeface="Tahoma"/>
                <a:sym typeface="Tahoma"/>
              </a:rPr>
              <a:t>nghĩa</a:t>
            </a:r>
            <a:r>
              <a:rPr lang="en-US" sz="1800" dirty="0">
                <a:latin typeface="Tahoma"/>
                <a:ea typeface="Tahoma"/>
                <a:cs typeface="Tahoma"/>
                <a:sym typeface="Tahoma"/>
              </a:rPr>
              <a:t> </a:t>
            </a:r>
            <a:r>
              <a:rPr lang="en-US" sz="1800" dirty="0" err="1">
                <a:latin typeface="Tahoma"/>
                <a:ea typeface="Tahoma"/>
                <a:cs typeface="Tahoma"/>
                <a:sym typeface="Tahoma"/>
              </a:rPr>
              <a:t>một</a:t>
            </a:r>
            <a:r>
              <a:rPr lang="en-US" sz="1800" dirty="0">
                <a:latin typeface="Tahoma"/>
                <a:ea typeface="Tahoma"/>
                <a:cs typeface="Tahoma"/>
                <a:sym typeface="Tahoma"/>
              </a:rPr>
              <a:t> </a:t>
            </a:r>
            <a:r>
              <a:rPr lang="en-US" sz="1800" dirty="0" err="1">
                <a:latin typeface="Tahoma"/>
                <a:ea typeface="Tahoma"/>
                <a:cs typeface="Tahoma"/>
                <a:sym typeface="Tahoma"/>
              </a:rPr>
              <a:t>kiểu</a:t>
            </a:r>
            <a:r>
              <a:rPr lang="en-US" sz="1800" dirty="0">
                <a:latin typeface="Tahoma"/>
                <a:ea typeface="Tahoma"/>
                <a:cs typeface="Tahoma"/>
                <a:sym typeface="Tahoma"/>
              </a:rPr>
              <a:t> </a:t>
            </a:r>
            <a:r>
              <a:rPr lang="en-US" sz="1800" dirty="0" err="1">
                <a:latin typeface="Tahoma"/>
                <a:ea typeface="Tahoma"/>
                <a:cs typeface="Tahoma"/>
                <a:sym typeface="Tahoma"/>
              </a:rPr>
              <a:t>giá</a:t>
            </a:r>
            <a:r>
              <a:rPr lang="en-US" sz="1800" dirty="0">
                <a:latin typeface="Tahoma"/>
                <a:ea typeface="Tahoma"/>
                <a:cs typeface="Tahoma"/>
                <a:sym typeface="Tahoma"/>
              </a:rPr>
              <a:t> </a:t>
            </a:r>
            <a:r>
              <a:rPr lang="en-US" sz="1800" dirty="0" err="1">
                <a:latin typeface="Tahoma"/>
                <a:ea typeface="Tahoma"/>
                <a:cs typeface="Tahoma"/>
                <a:sym typeface="Tahoma"/>
              </a:rPr>
              <a:t>trị</a:t>
            </a:r>
            <a:r>
              <a:rPr lang="en-US" sz="1800" dirty="0">
                <a:latin typeface="Tahoma"/>
                <a:ea typeface="Tahoma"/>
                <a:cs typeface="Tahoma"/>
                <a:sym typeface="Tahoma"/>
              </a:rPr>
              <a:t> </a:t>
            </a:r>
            <a:r>
              <a:rPr lang="en-US" sz="1800" dirty="0" err="1">
                <a:latin typeface="Tahoma"/>
                <a:ea typeface="Tahoma"/>
                <a:cs typeface="Tahoma"/>
                <a:sym typeface="Tahoma"/>
              </a:rPr>
              <a:t>mà</a:t>
            </a:r>
            <a:r>
              <a:rPr lang="en-US" sz="1800" dirty="0">
                <a:latin typeface="Tahoma"/>
                <a:ea typeface="Tahoma"/>
                <a:cs typeface="Tahoma"/>
                <a:sym typeface="Tahoma"/>
              </a:rPr>
              <a:t> </a:t>
            </a:r>
            <a:r>
              <a:rPr lang="en-US" sz="1800" dirty="0" err="1">
                <a:latin typeface="Tahoma"/>
                <a:ea typeface="Tahoma"/>
                <a:cs typeface="Tahoma"/>
                <a:sym typeface="Tahoma"/>
              </a:rPr>
              <a:t>một</a:t>
            </a:r>
            <a:r>
              <a:rPr lang="en-US" sz="1800" dirty="0">
                <a:latin typeface="Tahoma"/>
                <a:ea typeface="Tahoma"/>
                <a:cs typeface="Tahoma"/>
                <a:sym typeface="Tahoma"/>
              </a:rPr>
              <a:t> </a:t>
            </a:r>
            <a:r>
              <a:rPr lang="en-US" sz="1800" dirty="0" err="1">
                <a:latin typeface="Tahoma"/>
                <a:ea typeface="Tahoma"/>
                <a:cs typeface="Tahoma"/>
                <a:sym typeface="Tahoma"/>
              </a:rPr>
              <a:t>cột</a:t>
            </a:r>
            <a:r>
              <a:rPr lang="en-US" sz="1800" dirty="0">
                <a:latin typeface="Tahoma"/>
                <a:ea typeface="Tahoma"/>
                <a:cs typeface="Tahoma"/>
                <a:sym typeface="Tahoma"/>
              </a:rPr>
              <a:t> </a:t>
            </a:r>
            <a:r>
              <a:rPr lang="en-US" sz="1800" dirty="0" err="1">
                <a:latin typeface="Tahoma"/>
                <a:ea typeface="Tahoma"/>
                <a:cs typeface="Tahoma"/>
                <a:sym typeface="Tahoma"/>
              </a:rPr>
              <a:t>có</a:t>
            </a:r>
            <a:r>
              <a:rPr lang="en-US" sz="1800" dirty="0">
                <a:latin typeface="Tahoma"/>
                <a:ea typeface="Tahoma"/>
                <a:cs typeface="Tahoma"/>
                <a:sym typeface="Tahoma"/>
              </a:rPr>
              <a:t> </a:t>
            </a:r>
            <a:r>
              <a:rPr lang="en-US" sz="1800" dirty="0" err="1">
                <a:latin typeface="Tahoma"/>
                <a:ea typeface="Tahoma"/>
                <a:cs typeface="Tahoma"/>
                <a:sym typeface="Tahoma"/>
              </a:rPr>
              <a:t>thể</a:t>
            </a:r>
            <a:r>
              <a:rPr lang="en-US" sz="1800" dirty="0">
                <a:latin typeface="Tahoma"/>
                <a:ea typeface="Tahoma"/>
                <a:cs typeface="Tahoma"/>
                <a:sym typeface="Tahoma"/>
              </a:rPr>
              <a:t> </a:t>
            </a:r>
            <a:r>
              <a:rPr lang="en-US" sz="1800" dirty="0" err="1">
                <a:latin typeface="Tahoma"/>
                <a:ea typeface="Tahoma"/>
                <a:cs typeface="Tahoma"/>
                <a:sym typeface="Tahoma"/>
              </a:rPr>
              <a:t>chứa</a:t>
            </a:r>
            <a:r>
              <a:rPr lang="en-US" sz="1800" dirty="0">
                <a:latin typeface="Tahoma"/>
                <a:ea typeface="Tahoma"/>
                <a:cs typeface="Tahoma"/>
                <a:sym typeface="Tahoma"/>
              </a:rPr>
              <a:t>. </a:t>
            </a:r>
            <a:endParaRPr sz="1800" dirty="0">
              <a:latin typeface="Tahoma"/>
              <a:ea typeface="Tahoma"/>
              <a:cs typeface="Tahoma"/>
              <a:sym typeface="Tahoma"/>
            </a:endParaRPr>
          </a:p>
          <a:p>
            <a:pPr marL="457200" lvl="0" indent="-342900" algn="l" rtl="0">
              <a:lnSpc>
                <a:spcPct val="90000"/>
              </a:lnSpc>
              <a:spcBef>
                <a:spcPts val="1200"/>
              </a:spcBef>
              <a:spcAft>
                <a:spcPts val="0"/>
              </a:spcAft>
              <a:buClr>
                <a:schemeClr val="dk1"/>
              </a:buClr>
              <a:buSzPts val="1800"/>
              <a:buChar char="•"/>
            </a:pPr>
            <a:r>
              <a:rPr lang="en-US" sz="1800" dirty="0" err="1">
                <a:latin typeface="Tahoma"/>
                <a:ea typeface="Tahoma"/>
                <a:cs typeface="Tahoma"/>
                <a:sym typeface="Tahoma"/>
              </a:rPr>
              <a:t>Trong</a:t>
            </a:r>
            <a:r>
              <a:rPr lang="en-US" sz="1800" dirty="0">
                <a:latin typeface="Tahoma"/>
                <a:ea typeface="Tahoma"/>
                <a:cs typeface="Tahoma"/>
                <a:sym typeface="Tahoma"/>
              </a:rPr>
              <a:t> </a:t>
            </a:r>
            <a:r>
              <a:rPr lang="en-US" sz="1800" dirty="0" err="1">
                <a:latin typeface="Tahoma"/>
                <a:ea typeface="Tahoma"/>
                <a:cs typeface="Tahoma"/>
                <a:sym typeface="Tahoma"/>
              </a:rPr>
              <a:t>một</a:t>
            </a:r>
            <a:r>
              <a:rPr lang="en-US" sz="1800" dirty="0">
                <a:latin typeface="Tahoma"/>
                <a:ea typeface="Tahoma"/>
                <a:cs typeface="Tahoma"/>
                <a:sym typeface="Tahoma"/>
              </a:rPr>
              <a:t> </a:t>
            </a:r>
            <a:r>
              <a:rPr lang="en-US" sz="1800" dirty="0" err="1">
                <a:latin typeface="Tahoma"/>
                <a:ea typeface="Tahoma"/>
                <a:cs typeface="Tahoma"/>
                <a:sym typeface="Tahoma"/>
              </a:rPr>
              <a:t>bảng</a:t>
            </a:r>
            <a:r>
              <a:rPr lang="en-US" sz="1800" dirty="0">
                <a:latin typeface="Tahoma"/>
                <a:ea typeface="Tahoma"/>
                <a:cs typeface="Tahoma"/>
                <a:sym typeface="Tahoma"/>
              </a:rPr>
              <a:t>, </a:t>
            </a:r>
            <a:r>
              <a:rPr lang="en-US" sz="1800" dirty="0" err="1">
                <a:latin typeface="Tahoma"/>
                <a:ea typeface="Tahoma"/>
                <a:cs typeface="Tahoma"/>
                <a:sym typeface="Tahoma"/>
              </a:rPr>
              <a:t>mỗi</a:t>
            </a:r>
            <a:r>
              <a:rPr lang="en-US" sz="1800" dirty="0">
                <a:latin typeface="Tahoma"/>
                <a:ea typeface="Tahoma"/>
                <a:cs typeface="Tahoma"/>
                <a:sym typeface="Tahoma"/>
              </a:rPr>
              <a:t> </a:t>
            </a:r>
            <a:r>
              <a:rPr lang="en-US" sz="1800" dirty="0" err="1">
                <a:latin typeface="Tahoma"/>
                <a:ea typeface="Tahoma"/>
                <a:cs typeface="Tahoma"/>
                <a:sym typeface="Tahoma"/>
              </a:rPr>
              <a:t>cột</a:t>
            </a:r>
            <a:r>
              <a:rPr lang="en-US" sz="1800" dirty="0">
                <a:latin typeface="Tahoma"/>
                <a:ea typeface="Tahoma"/>
                <a:cs typeface="Tahoma"/>
                <a:sym typeface="Tahoma"/>
              </a:rPr>
              <a:t> </a:t>
            </a:r>
            <a:r>
              <a:rPr lang="en-US" sz="1800" dirty="0" err="1">
                <a:latin typeface="Tahoma"/>
                <a:ea typeface="Tahoma"/>
                <a:cs typeface="Tahoma"/>
                <a:sym typeface="Tahoma"/>
              </a:rPr>
              <a:t>cần</a:t>
            </a:r>
            <a:r>
              <a:rPr lang="en-US" sz="1800" dirty="0">
                <a:latin typeface="Tahoma"/>
                <a:ea typeface="Tahoma"/>
                <a:cs typeface="Tahoma"/>
                <a:sym typeface="Tahoma"/>
              </a:rPr>
              <a:t> </a:t>
            </a:r>
            <a:r>
              <a:rPr lang="en-US" sz="1800" dirty="0" err="1">
                <a:latin typeface="Tahoma"/>
                <a:ea typeface="Tahoma"/>
                <a:cs typeface="Tahoma"/>
                <a:sym typeface="Tahoma"/>
              </a:rPr>
              <a:t>có</a:t>
            </a:r>
            <a:r>
              <a:rPr lang="en-US" sz="1800" dirty="0">
                <a:latin typeface="Tahoma"/>
                <a:ea typeface="Tahoma"/>
                <a:cs typeface="Tahoma"/>
                <a:sym typeface="Tahoma"/>
              </a:rPr>
              <a:t> </a:t>
            </a:r>
            <a:r>
              <a:rPr lang="en-US" sz="1800" dirty="0" err="1">
                <a:latin typeface="Tahoma"/>
                <a:ea typeface="Tahoma"/>
                <a:cs typeface="Tahoma"/>
                <a:sym typeface="Tahoma"/>
              </a:rPr>
              <a:t>một</a:t>
            </a:r>
            <a:r>
              <a:rPr lang="en-US" sz="1800" dirty="0">
                <a:latin typeface="Tahoma"/>
                <a:ea typeface="Tahoma"/>
                <a:cs typeface="Tahoma"/>
                <a:sym typeface="Tahoma"/>
              </a:rPr>
              <a:t> </a:t>
            </a:r>
            <a:r>
              <a:rPr lang="en-US" sz="1800" dirty="0" err="1">
                <a:latin typeface="Tahoma"/>
                <a:ea typeface="Tahoma"/>
                <a:cs typeface="Tahoma"/>
                <a:sym typeface="Tahoma"/>
              </a:rPr>
              <a:t>tên</a:t>
            </a:r>
            <a:r>
              <a:rPr lang="en-US" sz="1800" dirty="0">
                <a:latin typeface="Tahoma"/>
                <a:ea typeface="Tahoma"/>
                <a:cs typeface="Tahoma"/>
                <a:sym typeface="Tahoma"/>
              </a:rPr>
              <a:t> </a:t>
            </a:r>
            <a:r>
              <a:rPr lang="en-US" sz="1800" dirty="0" err="1">
                <a:latin typeface="Tahoma"/>
                <a:ea typeface="Tahoma"/>
                <a:cs typeface="Tahoma"/>
                <a:sym typeface="Tahoma"/>
              </a:rPr>
              <a:t>và</a:t>
            </a:r>
            <a:r>
              <a:rPr lang="en-US" sz="1800" dirty="0">
                <a:latin typeface="Tahoma"/>
                <a:ea typeface="Tahoma"/>
                <a:cs typeface="Tahoma"/>
                <a:sym typeface="Tahoma"/>
              </a:rPr>
              <a:t> </a:t>
            </a:r>
            <a:r>
              <a:rPr lang="en-US" sz="1800" dirty="0" err="1">
                <a:latin typeface="Tahoma"/>
                <a:ea typeface="Tahoma"/>
                <a:cs typeface="Tahoma"/>
                <a:sym typeface="Tahoma"/>
              </a:rPr>
              <a:t>một</a:t>
            </a:r>
            <a:r>
              <a:rPr lang="en-US" sz="1800" dirty="0">
                <a:latin typeface="Tahoma"/>
                <a:ea typeface="Tahoma"/>
                <a:cs typeface="Tahoma"/>
                <a:sym typeface="Tahoma"/>
              </a:rPr>
              <a:t> </a:t>
            </a:r>
            <a:r>
              <a:rPr lang="en-US" sz="1800" dirty="0" err="1">
                <a:latin typeface="Tahoma"/>
                <a:ea typeface="Tahoma"/>
                <a:cs typeface="Tahoma"/>
                <a:sym typeface="Tahoma"/>
              </a:rPr>
              <a:t>kiểu</a:t>
            </a:r>
            <a:r>
              <a:rPr lang="en-US" sz="1800" dirty="0">
                <a:latin typeface="Tahoma"/>
                <a:ea typeface="Tahoma"/>
                <a:cs typeface="Tahoma"/>
                <a:sym typeface="Tahoma"/>
              </a:rPr>
              <a:t> </a:t>
            </a:r>
            <a:r>
              <a:rPr lang="en-US" sz="1800" dirty="0" err="1">
                <a:latin typeface="Tahoma"/>
                <a:ea typeface="Tahoma"/>
                <a:cs typeface="Tahoma"/>
                <a:sym typeface="Tahoma"/>
              </a:rPr>
              <a:t>dữ</a:t>
            </a:r>
            <a:r>
              <a:rPr lang="en-US" sz="1800" dirty="0">
                <a:latin typeface="Tahoma"/>
                <a:ea typeface="Tahoma"/>
                <a:cs typeface="Tahoma"/>
                <a:sym typeface="Tahoma"/>
              </a:rPr>
              <a:t> </a:t>
            </a:r>
            <a:r>
              <a:rPr lang="en-US" sz="1800" dirty="0" err="1">
                <a:latin typeface="Tahoma"/>
                <a:ea typeface="Tahoma"/>
                <a:cs typeface="Tahoma"/>
                <a:sym typeface="Tahoma"/>
              </a:rPr>
              <a:t>liệu</a:t>
            </a:r>
            <a:r>
              <a:rPr lang="en-US" sz="1800" dirty="0">
                <a:latin typeface="Tahoma"/>
                <a:ea typeface="Tahoma"/>
                <a:cs typeface="Tahoma"/>
                <a:sym typeface="Tahoma"/>
              </a:rPr>
              <a:t>. </a:t>
            </a:r>
            <a:r>
              <a:rPr lang="en-US" sz="1800" dirty="0" err="1">
                <a:latin typeface="Tahoma"/>
                <a:ea typeface="Tahoma"/>
                <a:cs typeface="Tahoma"/>
                <a:sym typeface="Tahoma"/>
              </a:rPr>
              <a:t>Kiểu</a:t>
            </a:r>
            <a:r>
              <a:rPr lang="en-US" sz="1800" dirty="0">
                <a:latin typeface="Tahoma"/>
                <a:ea typeface="Tahoma"/>
                <a:cs typeface="Tahoma"/>
                <a:sym typeface="Tahoma"/>
              </a:rPr>
              <a:t> </a:t>
            </a:r>
            <a:r>
              <a:rPr lang="en-US" sz="1800" dirty="0" err="1">
                <a:latin typeface="Tahoma"/>
                <a:ea typeface="Tahoma"/>
                <a:cs typeface="Tahoma"/>
                <a:sym typeface="Tahoma"/>
              </a:rPr>
              <a:t>dữ</a:t>
            </a:r>
            <a:r>
              <a:rPr lang="en-US" sz="1800" dirty="0">
                <a:latin typeface="Tahoma"/>
                <a:ea typeface="Tahoma"/>
                <a:cs typeface="Tahoma"/>
                <a:sym typeface="Tahoma"/>
              </a:rPr>
              <a:t> </a:t>
            </a:r>
            <a:r>
              <a:rPr lang="en-US" sz="1800" dirty="0" err="1">
                <a:latin typeface="Tahoma"/>
                <a:ea typeface="Tahoma"/>
                <a:cs typeface="Tahoma"/>
                <a:sym typeface="Tahoma"/>
              </a:rPr>
              <a:t>liệu</a:t>
            </a:r>
            <a:r>
              <a:rPr lang="en-US" sz="1800" dirty="0">
                <a:latin typeface="Tahoma"/>
                <a:ea typeface="Tahoma"/>
                <a:cs typeface="Tahoma"/>
                <a:sym typeface="Tahoma"/>
              </a:rPr>
              <a:t> </a:t>
            </a:r>
            <a:r>
              <a:rPr lang="en-US" sz="1800" dirty="0" err="1">
                <a:latin typeface="Tahoma"/>
                <a:ea typeface="Tahoma"/>
                <a:cs typeface="Tahoma"/>
                <a:sym typeface="Tahoma"/>
              </a:rPr>
              <a:t>thì</a:t>
            </a:r>
            <a:r>
              <a:rPr lang="en-US" sz="1800" dirty="0">
                <a:latin typeface="Tahoma"/>
                <a:ea typeface="Tahoma"/>
                <a:cs typeface="Tahoma"/>
                <a:sym typeface="Tahoma"/>
              </a:rPr>
              <a:t> </a:t>
            </a:r>
            <a:r>
              <a:rPr lang="en-US" sz="1800" dirty="0" err="1">
                <a:latin typeface="Tahoma"/>
                <a:ea typeface="Tahoma"/>
                <a:cs typeface="Tahoma"/>
                <a:sym typeface="Tahoma"/>
              </a:rPr>
              <a:t>khá</a:t>
            </a:r>
            <a:r>
              <a:rPr lang="en-US" sz="1800" dirty="0">
                <a:latin typeface="Tahoma"/>
                <a:ea typeface="Tahoma"/>
                <a:cs typeface="Tahoma"/>
                <a:sym typeface="Tahoma"/>
              </a:rPr>
              <a:t> </a:t>
            </a:r>
            <a:r>
              <a:rPr lang="en-US" sz="1800" dirty="0" err="1">
                <a:latin typeface="Tahoma"/>
                <a:ea typeface="Tahoma"/>
                <a:cs typeface="Tahoma"/>
                <a:sym typeface="Tahoma"/>
              </a:rPr>
              <a:t>đa</a:t>
            </a:r>
            <a:r>
              <a:rPr lang="en-US" sz="1800" dirty="0">
                <a:latin typeface="Tahoma"/>
                <a:ea typeface="Tahoma"/>
                <a:cs typeface="Tahoma"/>
                <a:sym typeface="Tahoma"/>
              </a:rPr>
              <a:t> </a:t>
            </a:r>
            <a:r>
              <a:rPr lang="en-US" sz="1800" dirty="0" err="1">
                <a:latin typeface="Tahoma"/>
                <a:ea typeface="Tahoma"/>
                <a:cs typeface="Tahoma"/>
                <a:sym typeface="Tahoma"/>
              </a:rPr>
              <a:t>dạng</a:t>
            </a:r>
            <a:r>
              <a:rPr lang="en-US" sz="1800" dirty="0">
                <a:latin typeface="Tahoma"/>
                <a:ea typeface="Tahoma"/>
                <a:cs typeface="Tahoma"/>
                <a:sym typeface="Tahoma"/>
              </a:rPr>
              <a:t> </a:t>
            </a:r>
            <a:r>
              <a:rPr lang="en-US" sz="1800" dirty="0" err="1">
                <a:latin typeface="Tahoma"/>
                <a:ea typeface="Tahoma"/>
                <a:cs typeface="Tahoma"/>
                <a:sym typeface="Tahoma"/>
              </a:rPr>
              <a:t>với</a:t>
            </a:r>
            <a:r>
              <a:rPr lang="en-US" sz="1800" dirty="0">
                <a:latin typeface="Tahoma"/>
                <a:ea typeface="Tahoma"/>
                <a:cs typeface="Tahoma"/>
                <a:sym typeface="Tahoma"/>
              </a:rPr>
              <a:t> </a:t>
            </a:r>
            <a:r>
              <a:rPr lang="en-US" sz="1800" dirty="0" err="1">
                <a:latin typeface="Tahoma"/>
                <a:ea typeface="Tahoma"/>
                <a:cs typeface="Tahoma"/>
                <a:sym typeface="Tahoma"/>
              </a:rPr>
              <a:t>các</a:t>
            </a:r>
            <a:r>
              <a:rPr lang="en-US" sz="1800" dirty="0">
                <a:latin typeface="Tahoma"/>
                <a:ea typeface="Tahoma"/>
                <a:cs typeface="Tahoma"/>
                <a:sym typeface="Tahoma"/>
              </a:rPr>
              <a:t> Database </a:t>
            </a:r>
            <a:r>
              <a:rPr lang="en-US" sz="1800" dirty="0" err="1">
                <a:latin typeface="Tahoma"/>
                <a:ea typeface="Tahoma"/>
                <a:cs typeface="Tahoma"/>
                <a:sym typeface="Tahoma"/>
              </a:rPr>
              <a:t>khác</a:t>
            </a:r>
            <a:r>
              <a:rPr lang="en-US" sz="1800" dirty="0">
                <a:latin typeface="Tahoma"/>
                <a:ea typeface="Tahoma"/>
                <a:cs typeface="Tahoma"/>
                <a:sym typeface="Tahoma"/>
              </a:rPr>
              <a:t> </a:t>
            </a:r>
            <a:r>
              <a:rPr lang="en-US" sz="1800" dirty="0" err="1">
                <a:latin typeface="Tahoma"/>
                <a:ea typeface="Tahoma"/>
                <a:cs typeface="Tahoma"/>
                <a:sym typeface="Tahoma"/>
              </a:rPr>
              <a:t>nhau</a:t>
            </a:r>
            <a:endParaRPr dirty="0"/>
          </a:p>
          <a:p>
            <a:pPr marL="457200" lvl="0" indent="-342900" algn="l" rtl="0">
              <a:lnSpc>
                <a:spcPct val="90000"/>
              </a:lnSpc>
              <a:spcBef>
                <a:spcPts val="1200"/>
              </a:spcBef>
              <a:spcAft>
                <a:spcPts val="0"/>
              </a:spcAft>
              <a:buClr>
                <a:schemeClr val="dk1"/>
              </a:buClr>
              <a:buSzPts val="1800"/>
              <a:buChar char="•"/>
            </a:pPr>
            <a:r>
              <a:rPr lang="en-US" sz="1800" dirty="0" err="1">
                <a:latin typeface="Tahoma"/>
                <a:ea typeface="Tahoma"/>
                <a:cs typeface="Tahoma"/>
                <a:sym typeface="Tahoma"/>
              </a:rPr>
              <a:t>Sử</a:t>
            </a:r>
            <a:r>
              <a:rPr lang="en-US" sz="1800" dirty="0">
                <a:latin typeface="Tahoma"/>
                <a:ea typeface="Tahoma"/>
                <a:cs typeface="Tahoma"/>
                <a:sym typeface="Tahoma"/>
              </a:rPr>
              <a:t> </a:t>
            </a:r>
            <a:r>
              <a:rPr lang="en-US" sz="1800" dirty="0" err="1">
                <a:latin typeface="Tahoma"/>
                <a:ea typeface="Tahoma"/>
                <a:cs typeface="Tahoma"/>
                <a:sym typeface="Tahoma"/>
              </a:rPr>
              <a:t>dụng</a:t>
            </a:r>
            <a:r>
              <a:rPr lang="en-US" sz="1800" dirty="0">
                <a:latin typeface="Tahoma"/>
                <a:ea typeface="Tahoma"/>
                <a:cs typeface="Tahoma"/>
                <a:sym typeface="Tahoma"/>
              </a:rPr>
              <a:t> </a:t>
            </a:r>
            <a:r>
              <a:rPr lang="en-US" sz="1800" dirty="0" err="1">
                <a:latin typeface="Tahoma"/>
                <a:ea typeface="Tahoma"/>
                <a:cs typeface="Tahoma"/>
                <a:sym typeface="Tahoma"/>
              </a:rPr>
              <a:t>các</a:t>
            </a:r>
            <a:r>
              <a:rPr lang="en-US" sz="1800" dirty="0">
                <a:latin typeface="Tahoma"/>
                <a:ea typeface="Tahoma"/>
                <a:cs typeface="Tahoma"/>
                <a:sym typeface="Tahoma"/>
              </a:rPr>
              <a:t> </a:t>
            </a:r>
            <a:r>
              <a:rPr lang="en-US" sz="1800" dirty="0" err="1">
                <a:latin typeface="Tahoma"/>
                <a:ea typeface="Tahoma"/>
                <a:cs typeface="Tahoma"/>
                <a:sym typeface="Tahoma"/>
              </a:rPr>
              <a:t>Kiểu</a:t>
            </a:r>
            <a:r>
              <a:rPr lang="en-US" sz="1800" dirty="0">
                <a:latin typeface="Tahoma"/>
                <a:ea typeface="Tahoma"/>
                <a:cs typeface="Tahoma"/>
                <a:sym typeface="Tahoma"/>
              </a:rPr>
              <a:t> </a:t>
            </a:r>
            <a:r>
              <a:rPr lang="en-US" sz="1800" dirty="0" err="1">
                <a:latin typeface="Tahoma"/>
                <a:ea typeface="Tahoma"/>
                <a:cs typeface="Tahoma"/>
                <a:sym typeface="Tahoma"/>
              </a:rPr>
              <a:t>dữ</a:t>
            </a:r>
            <a:r>
              <a:rPr lang="en-US" sz="1800" dirty="0">
                <a:latin typeface="Tahoma"/>
                <a:ea typeface="Tahoma"/>
                <a:cs typeface="Tahoma"/>
                <a:sym typeface="Tahoma"/>
              </a:rPr>
              <a:t> </a:t>
            </a:r>
            <a:r>
              <a:rPr lang="en-US" sz="1800" dirty="0" err="1">
                <a:latin typeface="Tahoma"/>
                <a:ea typeface="Tahoma"/>
                <a:cs typeface="Tahoma"/>
                <a:sym typeface="Tahoma"/>
              </a:rPr>
              <a:t>liệu</a:t>
            </a:r>
            <a:r>
              <a:rPr lang="en-US" sz="1800" dirty="0">
                <a:latin typeface="Tahoma"/>
                <a:ea typeface="Tahoma"/>
                <a:cs typeface="Tahoma"/>
                <a:sym typeface="Tahoma"/>
              </a:rPr>
              <a:t> </a:t>
            </a:r>
            <a:r>
              <a:rPr lang="en-US" sz="1800" dirty="0" err="1">
                <a:latin typeface="Tahoma"/>
                <a:ea typeface="Tahoma"/>
                <a:cs typeface="Tahoma"/>
                <a:sym typeface="Tahoma"/>
              </a:rPr>
              <a:t>này</a:t>
            </a:r>
            <a:r>
              <a:rPr lang="en-US" sz="1800" dirty="0">
                <a:latin typeface="Tahoma"/>
                <a:ea typeface="Tahoma"/>
                <a:cs typeface="Tahoma"/>
                <a:sym typeface="Tahoma"/>
              </a:rPr>
              <a:t> </a:t>
            </a:r>
            <a:r>
              <a:rPr lang="en-US" sz="1800" dirty="0" err="1">
                <a:latin typeface="Tahoma"/>
                <a:ea typeface="Tahoma"/>
                <a:cs typeface="Tahoma"/>
                <a:sym typeface="Tahoma"/>
              </a:rPr>
              <a:t>trong</a:t>
            </a:r>
            <a:r>
              <a:rPr lang="en-US" sz="1800" dirty="0">
                <a:latin typeface="Tahoma"/>
                <a:ea typeface="Tahoma"/>
                <a:cs typeface="Tahoma"/>
                <a:sym typeface="Tahoma"/>
              </a:rPr>
              <a:t> </a:t>
            </a:r>
            <a:r>
              <a:rPr lang="en-US" sz="1800" dirty="0" err="1">
                <a:latin typeface="Tahoma"/>
                <a:ea typeface="Tahoma"/>
                <a:cs typeface="Tahoma"/>
                <a:sym typeface="Tahoma"/>
              </a:rPr>
              <a:t>khi</a:t>
            </a:r>
            <a:r>
              <a:rPr lang="en-US" sz="1800" dirty="0">
                <a:latin typeface="Tahoma"/>
                <a:ea typeface="Tahoma"/>
                <a:cs typeface="Tahoma"/>
                <a:sym typeface="Tahoma"/>
              </a:rPr>
              <a:t> </a:t>
            </a:r>
            <a:r>
              <a:rPr lang="en-US" sz="1800" dirty="0" err="1">
                <a:latin typeface="Tahoma"/>
                <a:ea typeface="Tahoma"/>
                <a:cs typeface="Tahoma"/>
                <a:sym typeface="Tahoma"/>
              </a:rPr>
              <a:t>tạo</a:t>
            </a:r>
            <a:r>
              <a:rPr lang="en-US" sz="1800" dirty="0">
                <a:latin typeface="Tahoma"/>
                <a:ea typeface="Tahoma"/>
                <a:cs typeface="Tahoma"/>
                <a:sym typeface="Tahoma"/>
              </a:rPr>
              <a:t> </a:t>
            </a:r>
            <a:r>
              <a:rPr lang="en-US" sz="1800" dirty="0" err="1">
                <a:latin typeface="Tahoma"/>
                <a:ea typeface="Tahoma"/>
                <a:cs typeface="Tahoma"/>
                <a:sym typeface="Tahoma"/>
              </a:rPr>
              <a:t>các</a:t>
            </a:r>
            <a:r>
              <a:rPr lang="en-US" sz="1800" dirty="0">
                <a:latin typeface="Tahoma"/>
                <a:ea typeface="Tahoma"/>
                <a:cs typeface="Tahoma"/>
                <a:sym typeface="Tahoma"/>
              </a:rPr>
              <a:t> </a:t>
            </a:r>
            <a:r>
              <a:rPr lang="en-US" sz="1800" dirty="0" err="1">
                <a:latin typeface="Tahoma"/>
                <a:ea typeface="Tahoma"/>
                <a:cs typeface="Tahoma"/>
                <a:sym typeface="Tahoma"/>
              </a:rPr>
              <a:t>bảng</a:t>
            </a:r>
            <a:r>
              <a:rPr lang="en-US" sz="1800" dirty="0">
                <a:latin typeface="Tahoma"/>
                <a:ea typeface="Tahoma"/>
                <a:cs typeface="Tahoma"/>
                <a:sym typeface="Tahoma"/>
              </a:rPr>
              <a:t> </a:t>
            </a:r>
            <a:r>
              <a:rPr lang="en-US" sz="1800" dirty="0" err="1">
                <a:latin typeface="Tahoma"/>
                <a:ea typeface="Tahoma"/>
                <a:cs typeface="Tahoma"/>
                <a:sym typeface="Tahoma"/>
              </a:rPr>
              <a:t>dựa</a:t>
            </a:r>
            <a:r>
              <a:rPr lang="en-US" sz="1800" dirty="0">
                <a:latin typeface="Tahoma"/>
                <a:ea typeface="Tahoma"/>
                <a:cs typeface="Tahoma"/>
                <a:sym typeface="Tahoma"/>
              </a:rPr>
              <a:t> </a:t>
            </a:r>
            <a:r>
              <a:rPr lang="en-US" sz="1800" dirty="0" err="1">
                <a:latin typeface="Tahoma"/>
                <a:ea typeface="Tahoma"/>
                <a:cs typeface="Tahoma"/>
                <a:sym typeface="Tahoma"/>
              </a:rPr>
              <a:t>trên</a:t>
            </a:r>
            <a:r>
              <a:rPr lang="en-US" sz="1800" dirty="0">
                <a:latin typeface="Tahoma"/>
                <a:ea typeface="Tahoma"/>
                <a:cs typeface="Tahoma"/>
                <a:sym typeface="Tahoma"/>
              </a:rPr>
              <a:t> </a:t>
            </a:r>
            <a:r>
              <a:rPr lang="en-US" sz="1800" dirty="0" err="1">
                <a:latin typeface="Tahoma"/>
                <a:ea typeface="Tahoma"/>
                <a:cs typeface="Tahoma"/>
                <a:sym typeface="Tahoma"/>
              </a:rPr>
              <a:t>từng</a:t>
            </a:r>
            <a:r>
              <a:rPr lang="en-US" sz="1800" dirty="0">
                <a:latin typeface="Tahoma"/>
                <a:ea typeface="Tahoma"/>
                <a:cs typeface="Tahoma"/>
                <a:sym typeface="Tahoma"/>
              </a:rPr>
              <a:t> </a:t>
            </a:r>
            <a:r>
              <a:rPr lang="en-US" sz="1800" dirty="0" err="1">
                <a:latin typeface="Tahoma"/>
                <a:ea typeface="Tahoma"/>
                <a:cs typeface="Tahoma"/>
                <a:sym typeface="Tahoma"/>
              </a:rPr>
              <a:t>yêu</a:t>
            </a:r>
            <a:r>
              <a:rPr lang="en-US" sz="1800" dirty="0">
                <a:latin typeface="Tahoma"/>
                <a:ea typeface="Tahoma"/>
                <a:cs typeface="Tahoma"/>
                <a:sym typeface="Tahoma"/>
              </a:rPr>
              <a:t> </a:t>
            </a:r>
            <a:r>
              <a:rPr lang="en-US" sz="1800" dirty="0" err="1">
                <a:latin typeface="Tahoma"/>
                <a:ea typeface="Tahoma"/>
                <a:cs typeface="Tahoma"/>
                <a:sym typeface="Tahoma"/>
              </a:rPr>
              <a:t>cầu</a:t>
            </a:r>
            <a:r>
              <a:rPr lang="en-US" sz="1800" dirty="0">
                <a:latin typeface="Tahoma"/>
                <a:ea typeface="Tahoma"/>
                <a:cs typeface="Tahoma"/>
                <a:sym typeface="Tahoma"/>
              </a:rPr>
              <a:t> </a:t>
            </a:r>
            <a:r>
              <a:rPr lang="en-US" sz="1800" dirty="0" err="1">
                <a:latin typeface="Tahoma"/>
                <a:ea typeface="Tahoma"/>
                <a:cs typeface="Tahoma"/>
                <a:sym typeface="Tahoma"/>
              </a:rPr>
              <a:t>cụ</a:t>
            </a:r>
            <a:r>
              <a:rPr lang="en-US" sz="1800" dirty="0">
                <a:latin typeface="Tahoma"/>
                <a:ea typeface="Tahoma"/>
                <a:cs typeface="Tahoma"/>
                <a:sym typeface="Tahoma"/>
              </a:rPr>
              <a:t> </a:t>
            </a:r>
            <a:r>
              <a:rPr lang="en-US" sz="1800" err="1">
                <a:latin typeface="Tahoma"/>
                <a:ea typeface="Tahoma"/>
                <a:cs typeface="Tahoma"/>
                <a:sym typeface="Tahoma"/>
              </a:rPr>
              <a:t>thể</a:t>
            </a:r>
            <a:r>
              <a:rPr lang="en-US" sz="1800">
                <a:latin typeface="Tahoma"/>
                <a:ea typeface="Tahoma"/>
                <a:cs typeface="Tahoma"/>
                <a:sym typeface="Tahoma"/>
              </a:rPr>
              <a:t>.</a:t>
            </a:r>
            <a:endParaRPr sz="1800" dirty="0">
              <a:latin typeface="Tahoma"/>
              <a:ea typeface="Tahoma"/>
              <a:cs typeface="Tahoma"/>
              <a:sym typeface="Tahoma"/>
            </a:endParaRPr>
          </a:p>
        </p:txBody>
      </p:sp>
      <p:sp>
        <p:nvSpPr>
          <p:cNvPr id="213" name="Google Shape;213;p12"/>
          <p:cNvSpPr txBox="1">
            <a:spLocks noGrp="1"/>
          </p:cNvSpPr>
          <p:nvPr>
            <p:ph type="body" idx="2"/>
          </p:nvPr>
        </p:nvSpPr>
        <p:spPr>
          <a:xfrm>
            <a:off x="531290" y="1103683"/>
            <a:ext cx="11128097" cy="343299"/>
          </a:xfrm>
          <a:prstGeom prst="rect">
            <a:avLst/>
          </a:prstGeom>
          <a:noFill/>
          <a:ln>
            <a:noFill/>
          </a:ln>
        </p:spPr>
        <p:txBody>
          <a:bodyPr spcFirstLastPara="1" wrap="square" lIns="0" tIns="0" rIns="0" bIns="0" anchor="t" anchorCtr="0">
            <a:noAutofit/>
          </a:bodyPr>
          <a:lstStyle/>
          <a:p>
            <a:pPr marL="457200" lvl="0" indent="-228600" algn="l" rtl="0">
              <a:lnSpc>
                <a:spcPct val="90000"/>
              </a:lnSpc>
              <a:spcBef>
                <a:spcPts val="0"/>
              </a:spcBef>
              <a:spcAft>
                <a:spcPts val="0"/>
              </a:spcAft>
              <a:buClr>
                <a:schemeClr val="dk1"/>
              </a:buClr>
              <a:buSzPts val="2400"/>
              <a:buFont typeface="Calibri"/>
              <a:buNone/>
            </a:pPr>
            <a:endParaRPr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083B-C174-4F56-A7E2-A6B9E44594AF}"/>
              </a:ext>
            </a:extLst>
          </p:cNvPr>
          <p:cNvSpPr>
            <a:spLocks noGrp="1"/>
          </p:cNvSpPr>
          <p:nvPr>
            <p:ph type="title"/>
          </p:nvPr>
        </p:nvSpPr>
        <p:spPr/>
        <p:txBody>
          <a:bodyPr/>
          <a:lstStyle/>
          <a:p>
            <a:r>
              <a:rPr lang="en-US"/>
              <a:t>Data Type</a:t>
            </a:r>
            <a:endParaRPr lang="en-GB"/>
          </a:p>
        </p:txBody>
      </p:sp>
      <p:graphicFrame>
        <p:nvGraphicFramePr>
          <p:cNvPr id="4" name="Content Placeholder 3">
            <a:extLst>
              <a:ext uri="{FF2B5EF4-FFF2-40B4-BE49-F238E27FC236}">
                <a16:creationId xmlns:a16="http://schemas.microsoft.com/office/drawing/2014/main" id="{9269A420-BF27-4CC1-BF17-E3F6870545D5}"/>
              </a:ext>
            </a:extLst>
          </p:cNvPr>
          <p:cNvGraphicFramePr>
            <a:graphicFrameLocks noGrp="1"/>
          </p:cNvGraphicFramePr>
          <p:nvPr>
            <p:ph idx="1"/>
            <p:extLst>
              <p:ext uri="{D42A27DB-BD31-4B8C-83A1-F6EECF244321}">
                <p14:modId xmlns:p14="http://schemas.microsoft.com/office/powerpoint/2010/main" val="3017525625"/>
              </p:ext>
            </p:extLst>
          </p:nvPr>
        </p:nvGraphicFramePr>
        <p:xfrm>
          <a:off x="947257" y="1890624"/>
          <a:ext cx="10515600" cy="3749040"/>
        </p:xfrm>
        <a:graphic>
          <a:graphicData uri="http://schemas.openxmlformats.org/drawingml/2006/table">
            <a:tbl>
              <a:tblPr/>
              <a:tblGrid>
                <a:gridCol w="1611385">
                  <a:extLst>
                    <a:ext uri="{9D8B030D-6E8A-4147-A177-3AD203B41FA5}">
                      <a16:colId xmlns:a16="http://schemas.microsoft.com/office/drawing/2014/main" val="3237915041"/>
                    </a:ext>
                  </a:extLst>
                </a:gridCol>
                <a:gridCol w="8904215">
                  <a:extLst>
                    <a:ext uri="{9D8B030D-6E8A-4147-A177-3AD203B41FA5}">
                      <a16:colId xmlns:a16="http://schemas.microsoft.com/office/drawing/2014/main" val="876246602"/>
                    </a:ext>
                  </a:extLst>
                </a:gridCol>
              </a:tblGrid>
              <a:tr h="0">
                <a:tc>
                  <a:txBody>
                    <a:bodyPr/>
                    <a:lstStyle/>
                    <a:p>
                      <a:pPr algn="ctr"/>
                      <a:r>
                        <a:rPr lang="en-GB" b="1"/>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GB" b="1"/>
                        <a:t>Possible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969913141"/>
                  </a:ext>
                </a:extLst>
              </a:tr>
              <a:tr h="0">
                <a:tc>
                  <a:txBody>
                    <a:bodyPr/>
                    <a:lstStyle/>
                    <a:p>
                      <a:r>
                        <a:rPr lang="en-GB" b="1"/>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Variable-length character (UTF-8)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2805268"/>
                  </a:ext>
                </a:extLst>
              </a:tr>
              <a:tr h="0">
                <a:tc>
                  <a:txBody>
                    <a:bodyPr/>
                    <a:lstStyle/>
                    <a:p>
                      <a:r>
                        <a:rPr lang="en-GB" b="1"/>
                        <a:t>INTEGER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64-bit signed integer.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8812841"/>
                  </a:ext>
                </a:extLst>
              </a:tr>
              <a:tr h="0">
                <a:tc>
                  <a:txBody>
                    <a:bodyPr/>
                    <a:lstStyle/>
                    <a:p>
                      <a:r>
                        <a:rPr lang="en-GB" b="1"/>
                        <a:t>FLOAT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Double-precision floating-point 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9544887"/>
                  </a:ext>
                </a:extLst>
              </a:tr>
              <a:tr h="0">
                <a:tc>
                  <a:txBody>
                    <a:bodyPr/>
                    <a:lstStyle/>
                    <a:p>
                      <a:r>
                        <a:rPr lang="en-GB" b="1"/>
                        <a:t>BOOLEAN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Font typeface="Arial" panose="020B0604020202020204" pitchFamily="34" charset="0"/>
                        <a:buChar char="•"/>
                      </a:pPr>
                      <a:r>
                        <a:rPr lang="en-US" b="1"/>
                        <a:t>CSV format:</a:t>
                      </a:r>
                      <a:r>
                        <a:rPr lang="en-US"/>
                        <a:t> 1 or 0, true or false, t or f, yes or no, or y or n (all case insensitive). </a:t>
                      </a:r>
                    </a:p>
                    <a:p>
                      <a:pPr>
                        <a:buFont typeface="Arial" panose="020B0604020202020204" pitchFamily="34" charset="0"/>
                        <a:buChar char="•"/>
                      </a:pPr>
                      <a:r>
                        <a:rPr lang="en-US" b="1"/>
                        <a:t>JSON format:</a:t>
                      </a:r>
                      <a:r>
                        <a:rPr lang="en-US"/>
                        <a:t> true or false (case insensitive).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9778928"/>
                  </a:ext>
                </a:extLst>
              </a:tr>
              <a:tr h="0">
                <a:tc>
                  <a:txBody>
                    <a:bodyPr/>
                    <a:lstStyle/>
                    <a:p>
                      <a:r>
                        <a:rPr lang="en-GB" b="1"/>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YYYY-MM-DD</a:t>
                      </a:r>
                    </a:p>
                    <a:p>
                      <a:r>
                        <a:rPr lang="en-US"/>
                        <a:t>Range: </a:t>
                      </a:r>
                      <a:r>
                        <a:rPr lang="en-GB"/>
                        <a:t>0001-01-01 to 9999-12-31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9411416"/>
                  </a:ext>
                </a:extLst>
              </a:tr>
              <a:tr h="0">
                <a:tc>
                  <a:txBody>
                    <a:bodyPr/>
                    <a:lstStyle/>
                    <a:p>
                      <a:r>
                        <a:rPr lang="en-US" b="1"/>
                        <a:t>TIME</a:t>
                      </a:r>
                      <a:endParaRPr lang="en-GB"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00:00:00 to 23:59:59.99999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9251730"/>
                  </a:ext>
                </a:extLst>
              </a:tr>
              <a:tr h="0">
                <a:tc>
                  <a:txBody>
                    <a:bodyPr/>
                    <a:lstStyle/>
                    <a:p>
                      <a:r>
                        <a:rPr lang="en-GB" b="1"/>
                        <a:t>DATETIME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YYYY-MM-DD HH:MM:SS</a:t>
                      </a:r>
                    </a:p>
                    <a:p>
                      <a:r>
                        <a:rPr lang="en-GB"/>
                        <a:t>Range: 0001-01-01 00:00:00 to 9999-12-31 23:59:59.999999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9321486"/>
                  </a:ext>
                </a:extLst>
              </a:tr>
            </a:tbl>
          </a:graphicData>
        </a:graphic>
      </p:graphicFrame>
    </p:spTree>
    <p:extLst>
      <p:ext uri="{BB962C8B-B14F-4D97-AF65-F5344CB8AC3E}">
        <p14:creationId xmlns:p14="http://schemas.microsoft.com/office/powerpoint/2010/main" val="664375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5"/>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Tahoma"/>
              <a:buNone/>
            </a:pPr>
            <a:r>
              <a:rPr lang="en-US" sz="4000">
                <a:latin typeface="Tahoma"/>
                <a:ea typeface="Tahoma"/>
                <a:cs typeface="Tahoma"/>
                <a:sym typeface="Tahoma"/>
              </a:rPr>
              <a:t>TOÁN TỬ</a:t>
            </a:r>
            <a:endParaRPr sz="4000">
              <a:latin typeface="Tahoma"/>
              <a:ea typeface="Tahoma"/>
              <a:cs typeface="Tahoma"/>
              <a:sym typeface="Tahoma"/>
            </a:endParaRPr>
          </a:p>
        </p:txBody>
      </p:sp>
      <p:sp>
        <p:nvSpPr>
          <p:cNvPr id="236" name="Google Shape;236;p15"/>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0"/>
              </a:spcBef>
              <a:spcAft>
                <a:spcPts val="0"/>
              </a:spcAft>
              <a:buClr>
                <a:schemeClr val="dk1"/>
              </a:buClr>
              <a:buSzPts val="2400"/>
              <a:buChar char="•"/>
            </a:pPr>
            <a:r>
              <a:rPr lang="en-US" sz="1800">
                <a:latin typeface="Tahoma"/>
                <a:ea typeface="Tahoma"/>
                <a:cs typeface="Tahoma"/>
                <a:sym typeface="Tahoma"/>
              </a:rPr>
              <a:t>Toán tử là một từ dành riêng hoặc một ký tự được sử dụng chủ yếu trong mệnh đề WHERE của câu lệnh SQL để thực hiện các thao tác, chẳng hạn như so sánh và các phép toán số học. </a:t>
            </a:r>
          </a:p>
          <a:p>
            <a:pPr marL="228600" lvl="0" indent="-228600" algn="l" rtl="0">
              <a:lnSpc>
                <a:spcPct val="90000"/>
              </a:lnSpc>
              <a:spcBef>
                <a:spcPts val="0"/>
              </a:spcBef>
              <a:spcAft>
                <a:spcPts val="0"/>
              </a:spcAft>
              <a:buClr>
                <a:schemeClr val="dk1"/>
              </a:buClr>
              <a:buSzPts val="2400"/>
              <a:buChar char="•"/>
            </a:pPr>
            <a:endParaRPr sz="1800">
              <a:latin typeface="Tahoma"/>
              <a:ea typeface="Tahoma"/>
              <a:cs typeface="Tahoma"/>
              <a:sym typeface="Tahoma"/>
            </a:endParaRPr>
          </a:p>
          <a:p>
            <a:pPr marL="228600" lvl="0" indent="-228600" algn="l" rtl="0">
              <a:lnSpc>
                <a:spcPct val="90000"/>
              </a:lnSpc>
              <a:spcBef>
                <a:spcPts val="0"/>
              </a:spcBef>
              <a:spcAft>
                <a:spcPts val="0"/>
              </a:spcAft>
              <a:buClr>
                <a:schemeClr val="dk1"/>
              </a:buClr>
              <a:buSzPts val="2400"/>
              <a:buChar char="•"/>
            </a:pPr>
            <a:r>
              <a:rPr lang="en-US" sz="1800">
                <a:latin typeface="Tahoma"/>
                <a:ea typeface="Tahoma"/>
                <a:cs typeface="Tahoma"/>
                <a:sym typeface="Tahoma"/>
              </a:rPr>
              <a:t>Các toán tử này được sử dụng để chỉ định các điều kiện trong câu lệnh SQL và dùng làm ngữ pháp cho nhiều điều kiện trong một câu lệnh.</a:t>
            </a:r>
            <a:endParaRPr sz="1800">
              <a:latin typeface="Tahoma"/>
              <a:ea typeface="Tahoma"/>
              <a:cs typeface="Tahoma"/>
              <a:sym typeface="Tahoma"/>
            </a:endParaRPr>
          </a:p>
          <a:p>
            <a:pPr marL="457200" lvl="0" indent="-342900" algn="l" rtl="0">
              <a:lnSpc>
                <a:spcPct val="90000"/>
              </a:lnSpc>
              <a:spcBef>
                <a:spcPts val="1200"/>
              </a:spcBef>
              <a:spcAft>
                <a:spcPts val="0"/>
              </a:spcAft>
              <a:buClr>
                <a:schemeClr val="dk1"/>
              </a:buClr>
              <a:buSzPts val="1800"/>
              <a:buChar char="•"/>
            </a:pPr>
            <a:r>
              <a:rPr lang="en-US" sz="1800">
                <a:latin typeface="Tahoma"/>
                <a:ea typeface="Tahoma"/>
                <a:cs typeface="Tahoma"/>
                <a:sym typeface="Tahoma"/>
              </a:rPr>
              <a:t>Toán tử số học</a:t>
            </a:r>
            <a:endParaRPr/>
          </a:p>
          <a:p>
            <a:pPr marL="457200" lvl="0" indent="-342900" algn="l" rtl="0">
              <a:lnSpc>
                <a:spcPct val="90000"/>
              </a:lnSpc>
              <a:spcBef>
                <a:spcPts val="1200"/>
              </a:spcBef>
              <a:spcAft>
                <a:spcPts val="0"/>
              </a:spcAft>
              <a:buClr>
                <a:schemeClr val="dk1"/>
              </a:buClr>
              <a:buSzPts val="1800"/>
              <a:buChar char="•"/>
            </a:pPr>
            <a:r>
              <a:rPr lang="en-US" sz="1800">
                <a:latin typeface="Tahoma"/>
                <a:ea typeface="Tahoma"/>
                <a:cs typeface="Tahoma"/>
                <a:sym typeface="Tahoma"/>
              </a:rPr>
              <a:t>Toán tử so sánh</a:t>
            </a:r>
            <a:endParaRPr sz="1800">
              <a:latin typeface="Tahoma"/>
              <a:ea typeface="Tahoma"/>
              <a:cs typeface="Tahoma"/>
              <a:sym typeface="Tahoma"/>
            </a:endParaRPr>
          </a:p>
          <a:p>
            <a:pPr marL="457200" lvl="0" indent="-342900" algn="l" rtl="0">
              <a:lnSpc>
                <a:spcPct val="90000"/>
              </a:lnSpc>
              <a:spcBef>
                <a:spcPts val="1200"/>
              </a:spcBef>
              <a:spcAft>
                <a:spcPts val="0"/>
              </a:spcAft>
              <a:buClr>
                <a:schemeClr val="dk1"/>
              </a:buClr>
              <a:buSzPts val="1800"/>
              <a:buChar char="•"/>
            </a:pPr>
            <a:r>
              <a:rPr lang="en-US" sz="1800">
                <a:latin typeface="Tahoma"/>
                <a:ea typeface="Tahoma"/>
                <a:cs typeface="Tahoma"/>
                <a:sym typeface="Tahoma"/>
              </a:rPr>
              <a:t>Toán tử logic</a:t>
            </a:r>
            <a:endParaRPr/>
          </a:p>
          <a:p>
            <a:pPr marL="457200" lvl="0" indent="-342900" algn="l" rtl="0">
              <a:lnSpc>
                <a:spcPct val="90000"/>
              </a:lnSpc>
              <a:spcBef>
                <a:spcPts val="1200"/>
              </a:spcBef>
              <a:spcAft>
                <a:spcPts val="0"/>
              </a:spcAft>
              <a:buClr>
                <a:schemeClr val="dk1"/>
              </a:buClr>
              <a:buSzPts val="1800"/>
              <a:buChar char="•"/>
            </a:pPr>
            <a:r>
              <a:rPr lang="en-US" sz="1800">
                <a:latin typeface="Tahoma"/>
                <a:ea typeface="Tahoma"/>
                <a:cs typeface="Tahoma"/>
                <a:sym typeface="Tahoma"/>
              </a:rPr>
              <a:t>Các toán tử sử dụng để phủ định các điều kiện</a:t>
            </a:r>
            <a:endParaRPr/>
          </a:p>
          <a:p>
            <a:pPr marL="228600" lvl="0" indent="-76200" algn="l" rtl="0">
              <a:lnSpc>
                <a:spcPct val="90000"/>
              </a:lnSpc>
              <a:spcBef>
                <a:spcPts val="0"/>
              </a:spcBef>
              <a:spcAft>
                <a:spcPts val="0"/>
              </a:spcAft>
              <a:buClr>
                <a:schemeClr val="dk1"/>
              </a:buClr>
              <a:buSzPts val="2400"/>
              <a:buNone/>
            </a:pPr>
            <a:endParaRPr sz="1800">
              <a:latin typeface="Tahoma"/>
              <a:ea typeface="Tahoma"/>
              <a:cs typeface="Tahoma"/>
              <a:sym typeface="Tahoma"/>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6"/>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Cambria"/>
              <a:buNone/>
            </a:pPr>
            <a:r>
              <a:rPr lang="en-US" sz="4000" b="1">
                <a:latin typeface="Cambria"/>
                <a:ea typeface="Cambria"/>
                <a:cs typeface="Cambria"/>
                <a:sym typeface="Cambria"/>
              </a:rPr>
              <a:t>TOÁN TỬ</a:t>
            </a:r>
            <a:endParaRPr sz="4000" b="1"/>
          </a:p>
        </p:txBody>
      </p:sp>
      <p:sp>
        <p:nvSpPr>
          <p:cNvPr id="245" name="Google Shape;245;p16"/>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None/>
            </a:pPr>
            <a:r>
              <a:rPr lang="en-US" sz="1800">
                <a:latin typeface="Tahoma"/>
                <a:ea typeface="Tahoma"/>
                <a:cs typeface="Tahoma"/>
                <a:sym typeface="Tahoma"/>
              </a:rPr>
              <a:t>Bảng dưới liệt kê các toán tử số học trong SQL. Giả sử biến a giữ 30 và biến b giữ 60, thì:</a:t>
            </a:r>
            <a:endParaRPr sz="1800">
              <a:latin typeface="Tahoma"/>
              <a:ea typeface="Tahoma"/>
              <a:cs typeface="Tahoma"/>
              <a:sym typeface="Tahoma"/>
            </a:endParaRPr>
          </a:p>
        </p:txBody>
      </p:sp>
      <p:sp>
        <p:nvSpPr>
          <p:cNvPr id="246" name="Google Shape;246;p16"/>
          <p:cNvSpPr txBox="1">
            <a:spLocks noGrp="1"/>
          </p:cNvSpPr>
          <p:nvPr>
            <p:ph type="body" idx="2"/>
          </p:nvPr>
        </p:nvSpPr>
        <p:spPr>
          <a:xfrm>
            <a:off x="533402" y="950242"/>
            <a:ext cx="11125199" cy="343299"/>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0"/>
              </a:spcBef>
              <a:spcAft>
                <a:spcPts val="0"/>
              </a:spcAft>
              <a:buClr>
                <a:schemeClr val="dk1"/>
              </a:buClr>
              <a:buSzPts val="2400"/>
              <a:buNone/>
            </a:pPr>
            <a:r>
              <a:rPr lang="en-US">
                <a:latin typeface="Tahoma"/>
                <a:ea typeface="Tahoma"/>
                <a:cs typeface="Tahoma"/>
                <a:sym typeface="Tahoma"/>
              </a:rPr>
              <a:t>Toán tử số học trong SQL</a:t>
            </a:r>
            <a:endParaRPr/>
          </a:p>
        </p:txBody>
      </p:sp>
      <p:sp>
        <p:nvSpPr>
          <p:cNvPr id="247" name="Google Shape;247;p16"/>
          <p:cNvSpPr txBox="1">
            <a:spLocks noGrp="1"/>
          </p:cNvSpPr>
          <p:nvPr>
            <p:ph type="ftr" idx="11"/>
          </p:nvPr>
        </p:nvSpPr>
        <p:spPr>
          <a:xfrm>
            <a:off x="8623302" y="6556376"/>
            <a:ext cx="2701925" cy="18256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888888"/>
              </a:buClr>
              <a:buSzPts val="1400"/>
              <a:buFont typeface="Calibri"/>
              <a:buNone/>
            </a:pPr>
            <a:r>
              <a:rPr lang="en-US"/>
              <a:t>Confidential – Oracle Restricted</a:t>
            </a:r>
            <a:endParaRPr/>
          </a:p>
        </p:txBody>
      </p:sp>
      <p:sp>
        <p:nvSpPr>
          <p:cNvPr id="248" name="Google Shape;248;p16"/>
          <p:cNvSpPr txBox="1">
            <a:spLocks noGrp="1"/>
          </p:cNvSpPr>
          <p:nvPr>
            <p:ph type="sldNum" idx="12"/>
          </p:nvPr>
        </p:nvSpPr>
        <p:spPr>
          <a:xfrm>
            <a:off x="11325227" y="6556376"/>
            <a:ext cx="333375" cy="182563"/>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800"/>
              <a:buFont typeface="Calibri"/>
              <a:buNone/>
            </a:pPr>
            <a:fld id="{00000000-1234-1234-1234-123412341234}" type="slidenum">
              <a:rPr lang="en-US"/>
              <a:t>29</a:t>
            </a:fld>
            <a:endParaRPr/>
          </a:p>
        </p:txBody>
      </p:sp>
      <p:graphicFrame>
        <p:nvGraphicFramePr>
          <p:cNvPr id="249" name="Google Shape;249;p16"/>
          <p:cNvGraphicFramePr/>
          <p:nvPr/>
        </p:nvGraphicFramePr>
        <p:xfrm>
          <a:off x="1765538" y="2153412"/>
          <a:ext cx="7296150" cy="2766060"/>
        </p:xfrm>
        <a:graphic>
          <a:graphicData uri="http://schemas.openxmlformats.org/drawingml/2006/table">
            <a:tbl>
              <a:tblPr>
                <a:noFill/>
              </a:tblPr>
              <a:tblGrid>
                <a:gridCol w="1666875">
                  <a:extLst>
                    <a:ext uri="{9D8B030D-6E8A-4147-A177-3AD203B41FA5}">
                      <a16:colId xmlns:a16="http://schemas.microsoft.com/office/drawing/2014/main" val="20000"/>
                    </a:ext>
                  </a:extLst>
                </a:gridCol>
                <a:gridCol w="3638550">
                  <a:extLst>
                    <a:ext uri="{9D8B030D-6E8A-4147-A177-3AD203B41FA5}">
                      <a16:colId xmlns:a16="http://schemas.microsoft.com/office/drawing/2014/main" val="20001"/>
                    </a:ext>
                  </a:extLst>
                </a:gridCol>
                <a:gridCol w="1990725">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None/>
                      </a:pPr>
                      <a:r>
                        <a:rPr lang="en-US" sz="1800" u="none" strike="noStrike" cap="none">
                          <a:solidFill>
                            <a:srgbClr val="000000"/>
                          </a:solidFill>
                          <a:latin typeface="times new roman"/>
                          <a:ea typeface="times new roman"/>
                          <a:cs typeface="times new roman"/>
                          <a:sym typeface="times new roman"/>
                        </a:rPr>
                        <a:t>Toán tử</a:t>
                      </a:r>
                      <a:endParaRPr sz="1800" u="none" strike="noStrike" cap="none">
                        <a:solidFill>
                          <a:srgbClr val="000000"/>
                        </a:solidFill>
                        <a:latin typeface="times new roman"/>
                        <a:ea typeface="times new roman"/>
                        <a:cs typeface="times new roman"/>
                        <a:sym typeface="times new roman"/>
                      </a:endParaRPr>
                    </a:p>
                  </a:txBody>
                  <a:tcPr marL="47625" marR="47625" marT="47625" marB="47625">
                    <a:lnL w="9525" cap="flat" cmpd="sng">
                      <a:solidFill>
                        <a:srgbClr val="10D5B5"/>
                      </a:solidFill>
                      <a:prstDash val="solid"/>
                      <a:round/>
                      <a:headEnd type="none" w="sm" len="sm"/>
                      <a:tailEnd type="none" w="sm" len="sm"/>
                    </a:lnL>
                    <a:lnR w="9525" cap="flat" cmpd="sng">
                      <a:solidFill>
                        <a:srgbClr val="10D5B5"/>
                      </a:solidFill>
                      <a:prstDash val="solid"/>
                      <a:round/>
                      <a:headEnd type="none" w="sm" len="sm"/>
                      <a:tailEnd type="none" w="sm" len="sm"/>
                    </a:lnR>
                    <a:lnT w="9525" cap="flat" cmpd="sng">
                      <a:solidFill>
                        <a:srgbClr val="10D5B5"/>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l" rtl="0">
                        <a:spcBef>
                          <a:spcPts val="0"/>
                        </a:spcBef>
                        <a:spcAft>
                          <a:spcPts val="0"/>
                        </a:spcAft>
                        <a:buNone/>
                      </a:pPr>
                      <a:r>
                        <a:rPr lang="en-US" sz="1800" u="none" strike="noStrike" cap="none">
                          <a:solidFill>
                            <a:srgbClr val="000000"/>
                          </a:solidFill>
                          <a:latin typeface="times new roman"/>
                          <a:ea typeface="times new roman"/>
                          <a:cs typeface="times new roman"/>
                          <a:sym typeface="times new roman"/>
                        </a:rPr>
                        <a:t>Mô tả</a:t>
                      </a:r>
                      <a:endParaRPr/>
                    </a:p>
                  </a:txBody>
                  <a:tcPr marL="47625" marR="47625" marT="47625" marB="47625">
                    <a:lnL w="9525" cap="flat" cmpd="sng">
                      <a:solidFill>
                        <a:srgbClr val="10D5B5"/>
                      </a:solidFill>
                      <a:prstDash val="solid"/>
                      <a:round/>
                      <a:headEnd type="none" w="sm" len="sm"/>
                      <a:tailEnd type="none" w="sm" len="sm"/>
                    </a:lnL>
                    <a:lnR w="9525" cap="flat" cmpd="sng">
                      <a:solidFill>
                        <a:srgbClr val="10D5B5"/>
                      </a:solidFill>
                      <a:prstDash val="solid"/>
                      <a:round/>
                      <a:headEnd type="none" w="sm" len="sm"/>
                      <a:tailEnd type="none" w="sm" len="sm"/>
                    </a:lnR>
                    <a:lnT w="9525" cap="flat" cmpd="sng">
                      <a:solidFill>
                        <a:srgbClr val="10D5B5"/>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l" rtl="0">
                        <a:spcBef>
                          <a:spcPts val="0"/>
                        </a:spcBef>
                        <a:spcAft>
                          <a:spcPts val="0"/>
                        </a:spcAft>
                        <a:buNone/>
                      </a:pPr>
                      <a:r>
                        <a:rPr lang="en-US" sz="1800" u="none" strike="noStrike" cap="none">
                          <a:solidFill>
                            <a:srgbClr val="000000"/>
                          </a:solidFill>
                          <a:latin typeface="times new roman"/>
                          <a:ea typeface="times new roman"/>
                          <a:cs typeface="times new roman"/>
                          <a:sym typeface="times new roman"/>
                        </a:rPr>
                        <a:t>Ví dụ</a:t>
                      </a:r>
                      <a:endParaRPr/>
                    </a:p>
                  </a:txBody>
                  <a:tcPr marL="47625" marR="47625" marT="47625" marB="47625">
                    <a:lnL w="9525" cap="flat" cmpd="sng">
                      <a:solidFill>
                        <a:srgbClr val="10D5B5"/>
                      </a:solidFill>
                      <a:prstDash val="solid"/>
                      <a:round/>
                      <a:headEnd type="none" w="sm" len="sm"/>
                      <a:tailEnd type="none" w="sm" len="sm"/>
                    </a:lnL>
                    <a:lnR w="9525" cap="flat" cmpd="sng">
                      <a:solidFill>
                        <a:srgbClr val="10D5B5"/>
                      </a:solidFill>
                      <a:prstDash val="solid"/>
                      <a:round/>
                      <a:headEnd type="none" w="sm" len="sm"/>
                      <a:tailEnd type="none" w="sm" len="sm"/>
                    </a:lnR>
                    <a:lnT w="9525" cap="flat" cmpd="sng">
                      <a:solidFill>
                        <a:srgbClr val="10D5B5"/>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u="none" strike="noStrike" cap="none"/>
                        <a:t>+ (cộng)</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Thêm các giá trị ở hai bên của toán tử.</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a + b sẽ cho 90</a:t>
                      </a:r>
                      <a:endParaRPr sz="1800" u="none" strike="noStrike" cap="none"/>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u="none" strike="noStrike" cap="none"/>
                        <a:t>- (trừ)</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Lấy toán hạng bên phải trừ toán hạng bên trái.</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a - b sẽ cho -30</a:t>
                      </a:r>
                      <a:endParaRPr sz="1800" u="none" strike="noStrike" cap="none"/>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u="none" strike="noStrike" cap="none"/>
                        <a:t>* (nhân)</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Nhân giá trị ở hai bên của toán tử.</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A * b sẽ cho 1800</a:t>
                      </a:r>
                      <a:endParaRPr sz="1800" u="none" strike="noStrike" cap="none"/>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u="none" strike="noStrike" cap="none"/>
                        <a:t>/ (chia)</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Chia lấy phần nguyên.</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b / a sẽ cho 2</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en-US" sz="1800" u="none" strike="noStrike" cap="none"/>
                        <a:t>% (Modulus)</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Chia lấy phần dư.</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u="none" strike="noStrike" cap="none"/>
                        <a:t>b % a sẽ cho 0</a:t>
                      </a:r>
                      <a:endParaRPr/>
                    </a:p>
                  </a:txBody>
                  <a:tcPr marL="47625" marR="47625" marT="47625" marB="476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7"/>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Tahoma"/>
              <a:buNone/>
            </a:pPr>
            <a:r>
              <a:rPr lang="en-US" sz="4000" b="1">
                <a:latin typeface="Tahoma"/>
                <a:ea typeface="Tahoma"/>
                <a:cs typeface="Tahoma"/>
                <a:sym typeface="Tahoma"/>
              </a:rPr>
              <a:t>TOÁN TỬ</a:t>
            </a:r>
            <a:endParaRPr sz="4000" b="1">
              <a:latin typeface="Tahoma"/>
              <a:ea typeface="Tahoma"/>
              <a:cs typeface="Tahoma"/>
              <a:sym typeface="Tahoma"/>
            </a:endParaRPr>
          </a:p>
        </p:txBody>
      </p:sp>
      <p:sp>
        <p:nvSpPr>
          <p:cNvPr id="255" name="Google Shape;255;p17"/>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228600" lvl="0" indent="-76200" algn="l" rtl="0">
              <a:lnSpc>
                <a:spcPct val="90000"/>
              </a:lnSpc>
              <a:spcBef>
                <a:spcPts val="0"/>
              </a:spcBef>
              <a:spcAft>
                <a:spcPts val="0"/>
              </a:spcAft>
              <a:buClr>
                <a:schemeClr val="dk1"/>
              </a:buClr>
              <a:buSzPts val="2400"/>
              <a:buNone/>
            </a:pPr>
            <a:endParaRPr/>
          </a:p>
        </p:txBody>
      </p:sp>
      <p:sp>
        <p:nvSpPr>
          <p:cNvPr id="256" name="Google Shape;256;p17"/>
          <p:cNvSpPr txBox="1">
            <a:spLocks noGrp="1"/>
          </p:cNvSpPr>
          <p:nvPr>
            <p:ph type="body" idx="2"/>
          </p:nvPr>
        </p:nvSpPr>
        <p:spPr>
          <a:xfrm>
            <a:off x="533402" y="950242"/>
            <a:ext cx="11125199" cy="343299"/>
          </a:xfrm>
          <a:prstGeom prst="rect">
            <a:avLst/>
          </a:prstGeom>
          <a:noFill/>
          <a:ln>
            <a:noFill/>
          </a:ln>
        </p:spPr>
        <p:txBody>
          <a:bodyPr spcFirstLastPara="1" wrap="square" lIns="0" tIns="0" rIns="0" bIns="0" anchor="t" anchorCtr="0">
            <a:noAutofit/>
          </a:bodyPr>
          <a:lstStyle/>
          <a:p>
            <a:pPr marL="1588" lvl="0" indent="0" algn="l" rtl="0">
              <a:lnSpc>
                <a:spcPct val="90000"/>
              </a:lnSpc>
              <a:spcBef>
                <a:spcPts val="0"/>
              </a:spcBef>
              <a:spcAft>
                <a:spcPts val="0"/>
              </a:spcAft>
              <a:buClr>
                <a:schemeClr val="dk1"/>
              </a:buClr>
              <a:buSzPts val="2400"/>
              <a:buNone/>
            </a:pPr>
            <a:r>
              <a:rPr lang="en-US">
                <a:latin typeface="Tahoma"/>
                <a:ea typeface="Tahoma"/>
                <a:cs typeface="Tahoma"/>
                <a:sym typeface="Tahoma"/>
              </a:rPr>
              <a:t>Toán tử so sánh trong SQL</a:t>
            </a:r>
            <a:endParaRPr/>
          </a:p>
          <a:p>
            <a:pPr marL="1588" lvl="0" indent="0" algn="l" rtl="0">
              <a:lnSpc>
                <a:spcPct val="90000"/>
              </a:lnSpc>
              <a:spcBef>
                <a:spcPts val="0"/>
              </a:spcBef>
              <a:spcAft>
                <a:spcPts val="0"/>
              </a:spcAft>
              <a:buClr>
                <a:schemeClr val="dk1"/>
              </a:buClr>
              <a:buSzPts val="2400"/>
              <a:buNone/>
            </a:pPr>
            <a:endParaRPr/>
          </a:p>
        </p:txBody>
      </p:sp>
      <p:sp>
        <p:nvSpPr>
          <p:cNvPr id="257" name="Google Shape;257;p17"/>
          <p:cNvSpPr txBox="1">
            <a:spLocks noGrp="1"/>
          </p:cNvSpPr>
          <p:nvPr>
            <p:ph type="ftr" idx="11"/>
          </p:nvPr>
        </p:nvSpPr>
        <p:spPr>
          <a:xfrm>
            <a:off x="8623302" y="6556376"/>
            <a:ext cx="2701925" cy="18256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888888"/>
              </a:buClr>
              <a:buSzPts val="1400"/>
              <a:buFont typeface="Calibri"/>
              <a:buNone/>
            </a:pPr>
            <a:r>
              <a:rPr lang="en-US"/>
              <a:t>Confidential – Oracle Restricted</a:t>
            </a:r>
            <a:endParaRPr/>
          </a:p>
        </p:txBody>
      </p:sp>
      <p:sp>
        <p:nvSpPr>
          <p:cNvPr id="258" name="Google Shape;258;p17"/>
          <p:cNvSpPr txBox="1">
            <a:spLocks noGrp="1"/>
          </p:cNvSpPr>
          <p:nvPr>
            <p:ph type="sldNum" idx="12"/>
          </p:nvPr>
        </p:nvSpPr>
        <p:spPr>
          <a:xfrm>
            <a:off x="11325227" y="6556376"/>
            <a:ext cx="333375" cy="182563"/>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800"/>
              <a:buFont typeface="Calibri"/>
              <a:buNone/>
            </a:pPr>
            <a:fld id="{00000000-1234-1234-1234-123412341234}" type="slidenum">
              <a:rPr lang="en-US"/>
              <a:t>30</a:t>
            </a:fld>
            <a:endParaRPr/>
          </a:p>
        </p:txBody>
      </p:sp>
      <p:graphicFrame>
        <p:nvGraphicFramePr>
          <p:cNvPr id="259" name="Google Shape;259;p17"/>
          <p:cNvGraphicFramePr/>
          <p:nvPr/>
        </p:nvGraphicFramePr>
        <p:xfrm>
          <a:off x="517290" y="1310131"/>
          <a:ext cx="10974625" cy="5310960"/>
        </p:xfrm>
        <a:graphic>
          <a:graphicData uri="http://schemas.openxmlformats.org/drawingml/2006/table">
            <a:tbl>
              <a:tblPr>
                <a:noFill/>
              </a:tblPr>
              <a:tblGrid>
                <a:gridCol w="1633300">
                  <a:extLst>
                    <a:ext uri="{9D8B030D-6E8A-4147-A177-3AD203B41FA5}">
                      <a16:colId xmlns:a16="http://schemas.microsoft.com/office/drawing/2014/main" val="20000"/>
                    </a:ext>
                  </a:extLst>
                </a:gridCol>
                <a:gridCol w="6576175">
                  <a:extLst>
                    <a:ext uri="{9D8B030D-6E8A-4147-A177-3AD203B41FA5}">
                      <a16:colId xmlns:a16="http://schemas.microsoft.com/office/drawing/2014/main" val="20001"/>
                    </a:ext>
                  </a:extLst>
                </a:gridCol>
                <a:gridCol w="2765150">
                  <a:extLst>
                    <a:ext uri="{9D8B030D-6E8A-4147-A177-3AD203B41FA5}">
                      <a16:colId xmlns:a16="http://schemas.microsoft.com/office/drawing/2014/main" val="20002"/>
                    </a:ext>
                  </a:extLst>
                </a:gridCol>
              </a:tblGrid>
              <a:tr h="219675">
                <a:tc>
                  <a:txBody>
                    <a:bodyPr/>
                    <a:lstStyle/>
                    <a:p>
                      <a:pPr marL="0" marR="0" lvl="0" indent="0" algn="l" rtl="0">
                        <a:spcBef>
                          <a:spcPts val="0"/>
                        </a:spcBef>
                        <a:spcAft>
                          <a:spcPts val="0"/>
                        </a:spcAft>
                        <a:buNone/>
                      </a:pPr>
                      <a:r>
                        <a:rPr lang="en-US" sz="1600" u="none" strike="noStrike" cap="none">
                          <a:solidFill>
                            <a:srgbClr val="000000"/>
                          </a:solidFill>
                          <a:latin typeface="Tahoma"/>
                          <a:ea typeface="Tahoma"/>
                          <a:cs typeface="Tahoma"/>
                          <a:sym typeface="Tahoma"/>
                        </a:rPr>
                        <a:t>Toán tử</a:t>
                      </a:r>
                      <a:endParaRPr sz="1600" u="none" strike="noStrike" cap="none">
                        <a:solidFill>
                          <a:srgbClr val="000000"/>
                        </a:solidFill>
                        <a:latin typeface="Tahoma"/>
                        <a:ea typeface="Tahoma"/>
                        <a:cs typeface="Tahoma"/>
                        <a:sym typeface="Tahoma"/>
                      </a:endParaRPr>
                    </a:p>
                  </a:txBody>
                  <a:tcPr marL="33900" marR="33900" marT="33900" marB="33900">
                    <a:lnL w="9525" cap="flat" cmpd="sng">
                      <a:solidFill>
                        <a:srgbClr val="008EA8"/>
                      </a:solidFill>
                      <a:prstDash val="solid"/>
                      <a:round/>
                      <a:headEnd type="none" w="sm" len="sm"/>
                      <a:tailEnd type="none" w="sm" len="sm"/>
                    </a:lnL>
                    <a:lnR w="9525" cap="flat" cmpd="sng">
                      <a:solidFill>
                        <a:srgbClr val="008EA8"/>
                      </a:solidFill>
                      <a:prstDash val="solid"/>
                      <a:round/>
                      <a:headEnd type="none" w="sm" len="sm"/>
                      <a:tailEnd type="none" w="sm" len="sm"/>
                    </a:lnR>
                    <a:lnT w="9525" cap="flat" cmpd="sng">
                      <a:solidFill>
                        <a:srgbClr val="008EA8"/>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l" rtl="0">
                        <a:spcBef>
                          <a:spcPts val="0"/>
                        </a:spcBef>
                        <a:spcAft>
                          <a:spcPts val="0"/>
                        </a:spcAft>
                        <a:buNone/>
                      </a:pPr>
                      <a:r>
                        <a:rPr lang="en-US" sz="1600" u="none" strike="noStrike" cap="none">
                          <a:solidFill>
                            <a:srgbClr val="000000"/>
                          </a:solidFill>
                          <a:latin typeface="Tahoma"/>
                          <a:ea typeface="Tahoma"/>
                          <a:cs typeface="Tahoma"/>
                          <a:sym typeface="Tahoma"/>
                        </a:rPr>
                        <a:t>Mô tả</a:t>
                      </a:r>
                      <a:endParaRPr sz="1600" u="none" strike="noStrike" cap="none">
                        <a:solidFill>
                          <a:srgbClr val="000000"/>
                        </a:solidFill>
                        <a:latin typeface="Tahoma"/>
                        <a:ea typeface="Tahoma"/>
                        <a:cs typeface="Tahoma"/>
                        <a:sym typeface="Tahoma"/>
                      </a:endParaRPr>
                    </a:p>
                  </a:txBody>
                  <a:tcPr marL="33900" marR="33900" marT="33900" marB="33900">
                    <a:lnL w="9525" cap="flat" cmpd="sng">
                      <a:solidFill>
                        <a:srgbClr val="008EA8"/>
                      </a:solidFill>
                      <a:prstDash val="solid"/>
                      <a:round/>
                      <a:headEnd type="none" w="sm" len="sm"/>
                      <a:tailEnd type="none" w="sm" len="sm"/>
                    </a:lnL>
                    <a:lnR w="9525" cap="flat" cmpd="sng">
                      <a:solidFill>
                        <a:srgbClr val="008EA8"/>
                      </a:solidFill>
                      <a:prstDash val="solid"/>
                      <a:round/>
                      <a:headEnd type="none" w="sm" len="sm"/>
                      <a:tailEnd type="none" w="sm" len="sm"/>
                    </a:lnR>
                    <a:lnT w="9525" cap="flat" cmpd="sng">
                      <a:solidFill>
                        <a:srgbClr val="008EA8"/>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l" rtl="0">
                        <a:spcBef>
                          <a:spcPts val="0"/>
                        </a:spcBef>
                        <a:spcAft>
                          <a:spcPts val="0"/>
                        </a:spcAft>
                        <a:buNone/>
                      </a:pPr>
                      <a:r>
                        <a:rPr lang="en-US" sz="1600" u="none" strike="noStrike" cap="none">
                          <a:solidFill>
                            <a:srgbClr val="000000"/>
                          </a:solidFill>
                          <a:latin typeface="Tahoma"/>
                          <a:ea typeface="Tahoma"/>
                          <a:cs typeface="Tahoma"/>
                          <a:sym typeface="Tahoma"/>
                        </a:rPr>
                        <a:t>Ví dụ</a:t>
                      </a:r>
                      <a:endParaRPr/>
                    </a:p>
                  </a:txBody>
                  <a:tcPr marL="33900" marR="33900" marT="33900" marB="33900">
                    <a:lnL w="9525" cap="flat" cmpd="sng">
                      <a:solidFill>
                        <a:srgbClr val="008EA8"/>
                      </a:solidFill>
                      <a:prstDash val="solid"/>
                      <a:round/>
                      <a:headEnd type="none" w="sm" len="sm"/>
                      <a:tailEnd type="none" w="sm" len="sm"/>
                    </a:lnL>
                    <a:lnR w="9525" cap="flat" cmpd="sng">
                      <a:solidFill>
                        <a:srgbClr val="008EA8"/>
                      </a:solidFill>
                      <a:prstDash val="solid"/>
                      <a:round/>
                      <a:headEnd type="none" w="sm" len="sm"/>
                      <a:tailEnd type="none" w="sm" len="sm"/>
                    </a:lnR>
                    <a:lnT w="9525" cap="flat" cmpd="sng">
                      <a:solidFill>
                        <a:srgbClr val="008EA8"/>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371525">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các giá trị của hai toán hạng bằng nhau hay không,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 b) là false.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các giá trị của hai toán hạng bằng hoặc không, nếu các giá trị không bằng nhau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 b) là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&lt;&gt;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các giá trị của hai toán hạng bằng hoặc không, nếu các giá trị không bằng nhau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&lt;&gt; b) là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&gt;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giá trị của toán hạng trái lớn hơn giá trị của toán hạng phải,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&gt; b) là là false.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&lt;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giá trị của toán hạng trái nhỏ hơn giá trị của toán hạng phải,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&lt; b) là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&gt;=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giá trị của toán hạng trái lớn hơn hoặc bằng giá trị của toán hạng phải,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&gt;= b) là là false.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&lt;=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giá trị của toán hạng trái nhỏ hơn hoặc bằng giá trị của toán hạng phải,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&lt;= b) là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!&lt;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giá trị của toán hạng trái không nhỏ hơn giá trị của toán hạng phải,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!&lt; b) là sai.</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523400">
                <a:tc>
                  <a:txBody>
                    <a:bodyPr/>
                    <a:lstStyle/>
                    <a:p>
                      <a:pPr marL="0" marR="0" lvl="0" indent="0" algn="ctr" rtl="0">
                        <a:spcBef>
                          <a:spcPts val="0"/>
                        </a:spcBef>
                        <a:spcAft>
                          <a:spcPts val="0"/>
                        </a:spcAft>
                        <a:buNone/>
                      </a:pPr>
                      <a:r>
                        <a:rPr lang="en-US" sz="1600" u="none" strike="noStrike" cap="none">
                          <a:latin typeface="Tahoma"/>
                          <a:ea typeface="Tahoma"/>
                          <a:cs typeface="Tahoma"/>
                          <a:sym typeface="Tahoma"/>
                        </a:rPr>
                        <a:t>!&gt;</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Kiểm tra nếu giá trị của toán hạng trái không lớn hơn giá trị của toán hạng phải, nếu có thì điều kiện trở thành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(a! b) là true</a:t>
                      </a:r>
                      <a:endParaRPr/>
                    </a:p>
                  </a:txBody>
                  <a:tcPr marL="33900" marR="33900" marT="33900" marB="339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Tahoma"/>
              <a:buNone/>
            </a:pPr>
            <a:r>
              <a:rPr lang="en-US" sz="4000" b="1">
                <a:latin typeface="Tahoma"/>
                <a:ea typeface="Tahoma"/>
                <a:cs typeface="Tahoma"/>
                <a:sym typeface="Tahoma"/>
              </a:rPr>
              <a:t>TOÁN TỬ</a:t>
            </a:r>
            <a:endParaRPr sz="4000" b="1">
              <a:latin typeface="Tahoma"/>
              <a:ea typeface="Tahoma"/>
              <a:cs typeface="Tahoma"/>
              <a:sym typeface="Tahoma"/>
            </a:endParaRPr>
          </a:p>
        </p:txBody>
      </p:sp>
      <p:sp>
        <p:nvSpPr>
          <p:cNvPr id="265" name="Google Shape;265;p18"/>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228600" lvl="0" indent="-76200" algn="l" rtl="0">
              <a:lnSpc>
                <a:spcPct val="90000"/>
              </a:lnSpc>
              <a:spcBef>
                <a:spcPts val="0"/>
              </a:spcBef>
              <a:spcAft>
                <a:spcPts val="0"/>
              </a:spcAft>
              <a:buClr>
                <a:schemeClr val="dk1"/>
              </a:buClr>
              <a:buSzPts val="2400"/>
              <a:buNone/>
            </a:pPr>
            <a:endParaRPr/>
          </a:p>
        </p:txBody>
      </p:sp>
      <p:sp>
        <p:nvSpPr>
          <p:cNvPr id="266" name="Google Shape;266;p18"/>
          <p:cNvSpPr txBox="1">
            <a:spLocks noGrp="1"/>
          </p:cNvSpPr>
          <p:nvPr>
            <p:ph type="body" idx="2"/>
          </p:nvPr>
        </p:nvSpPr>
        <p:spPr>
          <a:xfrm>
            <a:off x="366715" y="940025"/>
            <a:ext cx="11125199" cy="343299"/>
          </a:xfrm>
          <a:prstGeom prst="rect">
            <a:avLst/>
          </a:prstGeom>
          <a:noFill/>
          <a:ln>
            <a:noFill/>
          </a:ln>
        </p:spPr>
        <p:txBody>
          <a:bodyPr spcFirstLastPara="1" wrap="square" lIns="0" tIns="0" rIns="0" bIns="0" anchor="t" anchorCtr="0">
            <a:noAutofit/>
          </a:bodyPr>
          <a:lstStyle/>
          <a:p>
            <a:pPr marL="457200" lvl="0" indent="-228600" algn="l" rtl="0">
              <a:lnSpc>
                <a:spcPct val="90000"/>
              </a:lnSpc>
              <a:spcBef>
                <a:spcPts val="0"/>
              </a:spcBef>
              <a:spcAft>
                <a:spcPts val="0"/>
              </a:spcAft>
              <a:buClr>
                <a:schemeClr val="dk1"/>
              </a:buClr>
              <a:buSzPts val="2400"/>
              <a:buFont typeface="Calibri"/>
              <a:buNone/>
            </a:pPr>
            <a:r>
              <a:rPr lang="en-US">
                <a:latin typeface="Tahoma"/>
                <a:ea typeface="Tahoma"/>
                <a:cs typeface="Tahoma"/>
                <a:sym typeface="Tahoma"/>
              </a:rPr>
              <a:t>Các toán tử logical trong SQL</a:t>
            </a:r>
            <a:endParaRPr/>
          </a:p>
          <a:p>
            <a:pPr marL="1588" lvl="0" indent="0" algn="l" rtl="0">
              <a:lnSpc>
                <a:spcPct val="90000"/>
              </a:lnSpc>
              <a:spcBef>
                <a:spcPts val="0"/>
              </a:spcBef>
              <a:spcAft>
                <a:spcPts val="0"/>
              </a:spcAft>
              <a:buClr>
                <a:schemeClr val="dk1"/>
              </a:buClr>
              <a:buSzPts val="2400"/>
              <a:buNone/>
            </a:pPr>
            <a:endParaRPr>
              <a:latin typeface="Tahoma"/>
              <a:ea typeface="Tahoma"/>
              <a:cs typeface="Tahoma"/>
              <a:sym typeface="Tahoma"/>
            </a:endParaRPr>
          </a:p>
        </p:txBody>
      </p:sp>
      <p:sp>
        <p:nvSpPr>
          <p:cNvPr id="267" name="Google Shape;267;p18"/>
          <p:cNvSpPr txBox="1">
            <a:spLocks noGrp="1"/>
          </p:cNvSpPr>
          <p:nvPr>
            <p:ph type="ftr" idx="11"/>
          </p:nvPr>
        </p:nvSpPr>
        <p:spPr>
          <a:xfrm>
            <a:off x="8623302" y="6556376"/>
            <a:ext cx="2701925" cy="18256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888888"/>
              </a:buClr>
              <a:buSzPts val="1400"/>
              <a:buFont typeface="Calibri"/>
              <a:buNone/>
            </a:pPr>
            <a:r>
              <a:rPr lang="en-US"/>
              <a:t>Confidential – Oracle Restricted</a:t>
            </a:r>
            <a:endParaRPr/>
          </a:p>
        </p:txBody>
      </p:sp>
      <p:sp>
        <p:nvSpPr>
          <p:cNvPr id="268" name="Google Shape;268;p18"/>
          <p:cNvSpPr txBox="1">
            <a:spLocks noGrp="1"/>
          </p:cNvSpPr>
          <p:nvPr>
            <p:ph type="sldNum" idx="12"/>
          </p:nvPr>
        </p:nvSpPr>
        <p:spPr>
          <a:xfrm>
            <a:off x="11325227" y="6556376"/>
            <a:ext cx="333375" cy="182563"/>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800"/>
              <a:buFont typeface="Calibri"/>
              <a:buNone/>
            </a:pPr>
            <a:fld id="{00000000-1234-1234-1234-123412341234}" type="slidenum">
              <a:rPr lang="en-US"/>
              <a:t>31</a:t>
            </a:fld>
            <a:endParaRPr/>
          </a:p>
        </p:txBody>
      </p:sp>
      <p:graphicFrame>
        <p:nvGraphicFramePr>
          <p:cNvPr id="269" name="Google Shape;269;p18"/>
          <p:cNvGraphicFramePr/>
          <p:nvPr>
            <p:extLst>
              <p:ext uri="{D42A27DB-BD31-4B8C-83A1-F6EECF244321}">
                <p14:modId xmlns:p14="http://schemas.microsoft.com/office/powerpoint/2010/main" val="2471501598"/>
              </p:ext>
            </p:extLst>
          </p:nvPr>
        </p:nvGraphicFramePr>
        <p:xfrm>
          <a:off x="532739" y="1347538"/>
          <a:ext cx="11521875" cy="3888230"/>
        </p:xfrm>
        <a:graphic>
          <a:graphicData uri="http://schemas.openxmlformats.org/drawingml/2006/table">
            <a:tbl>
              <a:tblPr>
                <a:noFill/>
              </a:tblPr>
              <a:tblGrid>
                <a:gridCol w="1382625">
                  <a:extLst>
                    <a:ext uri="{9D8B030D-6E8A-4147-A177-3AD203B41FA5}">
                      <a16:colId xmlns:a16="http://schemas.microsoft.com/office/drawing/2014/main" val="20000"/>
                    </a:ext>
                  </a:extLst>
                </a:gridCol>
                <a:gridCol w="10139250">
                  <a:extLst>
                    <a:ext uri="{9D8B030D-6E8A-4147-A177-3AD203B41FA5}">
                      <a16:colId xmlns:a16="http://schemas.microsoft.com/office/drawing/2014/main" val="20001"/>
                    </a:ext>
                  </a:extLst>
                </a:gridCol>
              </a:tblGrid>
              <a:tr h="180200">
                <a:tc>
                  <a:txBody>
                    <a:bodyPr/>
                    <a:lstStyle/>
                    <a:p>
                      <a:pPr marL="0" marR="0" lvl="0" indent="0" algn="ctr" rtl="0">
                        <a:spcBef>
                          <a:spcPts val="0"/>
                        </a:spcBef>
                        <a:spcAft>
                          <a:spcPts val="0"/>
                        </a:spcAft>
                        <a:buNone/>
                      </a:pPr>
                      <a:endParaRPr sz="1600" u="none" strike="noStrike" cap="none">
                        <a:solidFill>
                          <a:srgbClr val="000000"/>
                        </a:solidFill>
                        <a:latin typeface="Tahoma"/>
                        <a:ea typeface="Tahoma"/>
                        <a:cs typeface="Tahoma"/>
                        <a:sym typeface="Tahoma"/>
                      </a:endParaRPr>
                    </a:p>
                  </a:txBody>
                  <a:tcPr marL="27800" marR="27800" marT="27800" marB="27800">
                    <a:lnL w="9525" cap="flat" cmpd="sng">
                      <a:solidFill>
                        <a:srgbClr val="80F07B"/>
                      </a:solidFill>
                      <a:prstDash val="solid"/>
                      <a:round/>
                      <a:headEnd type="none" w="sm" len="sm"/>
                      <a:tailEnd type="none" w="sm" len="sm"/>
                    </a:lnL>
                    <a:lnR w="9525" cap="flat" cmpd="sng">
                      <a:solidFill>
                        <a:srgbClr val="80F07B"/>
                      </a:solidFill>
                      <a:prstDash val="solid"/>
                      <a:round/>
                      <a:headEnd type="none" w="sm" len="sm"/>
                      <a:tailEnd type="none" w="sm" len="sm"/>
                    </a:lnR>
                    <a:lnT w="9525" cap="flat" cmpd="sng">
                      <a:solidFill>
                        <a:srgbClr val="80F07B"/>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l" rtl="0">
                        <a:spcBef>
                          <a:spcPts val="0"/>
                        </a:spcBef>
                        <a:spcAft>
                          <a:spcPts val="0"/>
                        </a:spcAft>
                        <a:buNone/>
                      </a:pPr>
                      <a:r>
                        <a:rPr lang="en-US" sz="1600" u="none" strike="noStrike" cap="none">
                          <a:solidFill>
                            <a:srgbClr val="000000"/>
                          </a:solidFill>
                          <a:latin typeface="Tahoma"/>
                          <a:ea typeface="Tahoma"/>
                          <a:cs typeface="Tahoma"/>
                          <a:sym typeface="Tahoma"/>
                        </a:rPr>
                        <a:t>Toán tử &amp; mô tả</a:t>
                      </a:r>
                      <a:endParaRPr/>
                    </a:p>
                  </a:txBody>
                  <a:tcPr marL="27800" marR="27800" marT="27800" marB="27800">
                    <a:lnL w="9525" cap="flat" cmpd="sng">
                      <a:solidFill>
                        <a:srgbClr val="80F07B"/>
                      </a:solidFill>
                      <a:prstDash val="solid"/>
                      <a:round/>
                      <a:headEnd type="none" w="sm" len="sm"/>
                      <a:tailEnd type="none" w="sm" len="sm"/>
                    </a:lnL>
                    <a:lnR w="9525" cap="flat" cmpd="sng">
                      <a:solidFill>
                        <a:srgbClr val="80F07B"/>
                      </a:solidFill>
                      <a:prstDash val="solid"/>
                      <a:round/>
                      <a:headEnd type="none" w="sm" len="sm"/>
                      <a:tailEnd type="none" w="sm" len="sm"/>
                    </a:lnR>
                    <a:lnT w="9525" cap="flat" cmpd="sng">
                      <a:solidFill>
                        <a:srgbClr val="80F07B"/>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429350">
                <a:tc>
                  <a:txBody>
                    <a:bodyPr/>
                    <a:lstStyle/>
                    <a:p>
                      <a:pPr marL="0" marR="0" lvl="0" indent="0" algn="ctr" rtl="0">
                        <a:lnSpc>
                          <a:spcPct val="100000"/>
                        </a:lnSpc>
                        <a:spcBef>
                          <a:spcPts val="0"/>
                        </a:spcBef>
                        <a:spcAft>
                          <a:spcPts val="0"/>
                        </a:spcAft>
                        <a:buClr>
                          <a:schemeClr val="dk1"/>
                        </a:buClr>
                        <a:buSzPts val="1600"/>
                        <a:buFont typeface="Tahoma"/>
                        <a:buNone/>
                      </a:pPr>
                      <a:r>
                        <a:rPr lang="en-US" sz="1600" b="1" u="none" strike="noStrike" cap="none">
                          <a:latin typeface="Tahoma"/>
                          <a:ea typeface="Tahoma"/>
                          <a:cs typeface="Tahoma"/>
                          <a:sym typeface="Tahoma"/>
                        </a:rPr>
                        <a:t>AND</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AND cho phép tồn tại nhiều điều kiện trong mệnh đề WHERE của câu lệnh SQL.</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2400">
                <a:tc>
                  <a:txBody>
                    <a:bodyPr/>
                    <a:lstStyle/>
                    <a:p>
                      <a:pPr marL="0" marR="0" lvl="0" indent="0" algn="ctr" rtl="0">
                        <a:spcBef>
                          <a:spcPts val="0"/>
                        </a:spcBef>
                        <a:spcAft>
                          <a:spcPts val="0"/>
                        </a:spcAft>
                        <a:buNone/>
                      </a:pPr>
                      <a:r>
                        <a:rPr lang="en-US" sz="1600" b="1" u="none" strike="noStrike" cap="none">
                          <a:latin typeface="Tahoma"/>
                          <a:ea typeface="Tahoma"/>
                          <a:cs typeface="Tahoma"/>
                          <a:sym typeface="Tahoma"/>
                        </a:rPr>
                        <a:t>OR</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OR được sử dụng để kết hợp nhiều điều kiện trong mệnh đề WHERE của câu lệnh SQL.</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2583577515"/>
                  </a:ext>
                </a:extLst>
              </a:tr>
              <a:tr h="382400">
                <a:tc>
                  <a:txBody>
                    <a:bodyPr/>
                    <a:lstStyle/>
                    <a:p>
                      <a:pPr marL="0" marR="0" lvl="0" indent="0" algn="ctr" rtl="0">
                        <a:lnSpc>
                          <a:spcPct val="100000"/>
                        </a:lnSpc>
                        <a:spcBef>
                          <a:spcPts val="0"/>
                        </a:spcBef>
                        <a:spcAft>
                          <a:spcPts val="0"/>
                        </a:spcAft>
                        <a:buClr>
                          <a:schemeClr val="dk1"/>
                        </a:buClr>
                        <a:buSzPts val="1600"/>
                        <a:buFont typeface="Tahoma"/>
                        <a:buNone/>
                      </a:pPr>
                      <a:r>
                        <a:rPr lang="en-US" sz="1600" b="1" u="none" strike="noStrike" cap="none">
                          <a:latin typeface="Tahoma"/>
                          <a:ea typeface="Tahoma"/>
                          <a:cs typeface="Tahoma"/>
                          <a:sym typeface="Tahoma"/>
                        </a:rPr>
                        <a:t>BETWEEN</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BETWEEN được sử dụng để tìm kiếm các giá trị trong một tập các giá trị, với giá trị nhỏ nhất và giá trị lớn nhất.</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4038645456"/>
                  </a:ext>
                </a:extLst>
              </a:tr>
              <a:tr h="382400">
                <a:tc>
                  <a:txBody>
                    <a:bodyPr/>
                    <a:lstStyle/>
                    <a:p>
                      <a:pPr marL="0" marR="0" lvl="0" indent="0" algn="ctr" rtl="0">
                        <a:spcBef>
                          <a:spcPts val="0"/>
                        </a:spcBef>
                        <a:spcAft>
                          <a:spcPts val="0"/>
                        </a:spcAft>
                        <a:buNone/>
                      </a:pPr>
                      <a:r>
                        <a:rPr lang="en-US" sz="1600" b="1" u="none" strike="noStrike" cap="none">
                          <a:latin typeface="Tahoma"/>
                          <a:ea typeface="Tahoma"/>
                          <a:cs typeface="Tahoma"/>
                          <a:sym typeface="Tahoma"/>
                        </a:rPr>
                        <a:t>EXISTS</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EXISTS được sử dụng để tìm kiếm sự tồn tại của một hàng trong một bảng được chỉ định đáp ứng một tiêu chí nhất định.</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986943645"/>
                  </a:ext>
                </a:extLst>
              </a:tr>
              <a:tr h="382400">
                <a:tc>
                  <a:txBody>
                    <a:bodyPr/>
                    <a:lstStyle/>
                    <a:p>
                      <a:pPr marL="0" marR="0" lvl="0" indent="0" algn="ctr" rtl="0">
                        <a:spcBef>
                          <a:spcPts val="0"/>
                        </a:spcBef>
                        <a:spcAft>
                          <a:spcPts val="0"/>
                        </a:spcAft>
                        <a:buNone/>
                      </a:pPr>
                      <a:r>
                        <a:rPr lang="en-US" sz="1600" b="1" u="none" strike="noStrike" cap="none">
                          <a:latin typeface="Tahoma"/>
                          <a:ea typeface="Tahoma"/>
                          <a:cs typeface="Tahoma"/>
                          <a:sym typeface="Tahoma"/>
                        </a:rPr>
                        <a:t>IN</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IN được sử dụng để so sánh một giá trị với một danh sách các giá trị văn bản đã được chỉ định.</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571394044"/>
                  </a:ext>
                </a:extLst>
              </a:tr>
              <a:tr h="382400">
                <a:tc>
                  <a:txBody>
                    <a:bodyPr/>
                    <a:lstStyle/>
                    <a:p>
                      <a:pPr marL="0" marR="0" lvl="0" indent="0" algn="ctr" rtl="0">
                        <a:spcBef>
                          <a:spcPts val="0"/>
                        </a:spcBef>
                        <a:spcAft>
                          <a:spcPts val="0"/>
                        </a:spcAft>
                        <a:buNone/>
                      </a:pPr>
                      <a:r>
                        <a:rPr lang="en-US" sz="1600" b="1" u="none" strike="noStrike" cap="none">
                          <a:latin typeface="Tahoma"/>
                          <a:ea typeface="Tahoma"/>
                          <a:cs typeface="Tahoma"/>
                          <a:sym typeface="Tahoma"/>
                        </a:rPr>
                        <a:t>LIKE</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LIKE được sử dụng để so sánh một giá trị với các giá trị tương tự sử dụng toán tử ký tự đại diện.</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385195161"/>
                  </a:ext>
                </a:extLst>
              </a:tr>
              <a:tr h="382400">
                <a:tc>
                  <a:txBody>
                    <a:bodyPr/>
                    <a:lstStyle/>
                    <a:p>
                      <a:pPr marL="0" marR="0" lvl="0" indent="0" algn="ctr" rtl="0">
                        <a:spcBef>
                          <a:spcPts val="0"/>
                        </a:spcBef>
                        <a:spcAft>
                          <a:spcPts val="0"/>
                        </a:spcAft>
                        <a:buNone/>
                      </a:pPr>
                      <a:r>
                        <a:rPr lang="en-US" sz="1600" b="1" u="none" strike="noStrike" cap="none">
                          <a:latin typeface="Tahoma"/>
                          <a:ea typeface="Tahoma"/>
                          <a:cs typeface="Tahoma"/>
                          <a:sym typeface="Tahoma"/>
                        </a:rPr>
                        <a:t>NOT</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NOT đảo ngược ý nghĩa của toán tử logic mà nó được sử dụng. Ví dụ: NOT EXISTS, NOT BETWEEN, NOT IN, vv </a:t>
                      </a:r>
                      <a:r>
                        <a:rPr lang="en-US" sz="1600" b="1" u="none" strike="noStrike" cap="none">
                          <a:latin typeface="Tahoma"/>
                          <a:ea typeface="Tahoma"/>
                          <a:cs typeface="Tahoma"/>
                          <a:sym typeface="Tahoma"/>
                        </a:rPr>
                        <a:t>Đây là một toán tử phủ định.</a:t>
                      </a:r>
                      <a:endParaRPr sz="1600" u="none" strike="noStrike" cap="none">
                        <a:latin typeface="Tahoma"/>
                        <a:ea typeface="Tahoma"/>
                        <a:cs typeface="Tahoma"/>
                        <a:sym typeface="Tahoma"/>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2645737951"/>
                  </a:ext>
                </a:extLst>
              </a:tr>
              <a:tr h="382400">
                <a:tc>
                  <a:txBody>
                    <a:bodyPr/>
                    <a:lstStyle/>
                    <a:p>
                      <a:pPr marL="0" marR="0" lvl="0" indent="0" algn="ctr" rtl="0">
                        <a:spcBef>
                          <a:spcPts val="0"/>
                        </a:spcBef>
                        <a:spcAft>
                          <a:spcPts val="0"/>
                        </a:spcAft>
                        <a:buNone/>
                      </a:pPr>
                      <a:r>
                        <a:rPr lang="en-US" sz="1600" b="1" u="none" strike="noStrike" cap="none">
                          <a:latin typeface="Tahoma"/>
                          <a:ea typeface="Tahoma"/>
                          <a:cs typeface="Tahoma"/>
                          <a:sym typeface="Tahoma"/>
                        </a:rPr>
                        <a:t>IS NULL</a:t>
                      </a:r>
                      <a:endParaRPr sz="1600" u="none" strike="noStrike" cap="none">
                        <a:latin typeface="Tahoma"/>
                        <a:ea typeface="Tahoma"/>
                        <a:cs typeface="Tahoma"/>
                        <a:sym typeface="Tahoma"/>
                      </a:endParaRPr>
                    </a:p>
                  </a:txBody>
                  <a:tcPr marL="27800" marR="27800" marT="27800" marB="27800">
                    <a:lnL w="9525" cap="flat" cmpd="sng">
                      <a:solidFill>
                        <a:srgbClr val="DDDDDD"/>
                      </a:solidFill>
                      <a:prstDash val="solid"/>
                      <a:round/>
                      <a:headEnd type="none" w="sm" len="sm"/>
                      <a:tailEnd type="none" w="sm" len="sm"/>
                    </a:lnL>
                    <a:lnR w="9525" cap="flat" cmpd="sng" algn="ctr">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600" u="none" strike="noStrike" cap="none">
                          <a:latin typeface="Tahoma"/>
                          <a:ea typeface="Tahoma"/>
                          <a:cs typeface="Tahoma"/>
                          <a:sym typeface="Tahoma"/>
                        </a:rPr>
                        <a:t>Toán tử NULL được sử dụng để so sánh một giá trị với một giá trị NULL.</a:t>
                      </a:r>
                      <a:endParaRPr/>
                    </a:p>
                  </a:txBody>
                  <a:tcPr marL="27800" marR="27800" marT="27800" marB="27800">
                    <a:lnL w="9525" cap="flat" cmpd="sng" algn="ctr">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lgn="ctr">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685924917"/>
                  </a:ext>
                </a:extLst>
              </a:tr>
            </a:tbl>
          </a:graphicData>
        </a:graphic>
      </p:graphicFrame>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9"/>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Tahoma"/>
              <a:buNone/>
            </a:pPr>
            <a:r>
              <a:rPr lang="en-US" sz="4600" b="1">
                <a:latin typeface="Tahoma"/>
                <a:ea typeface="Tahoma"/>
                <a:cs typeface="Tahoma"/>
                <a:sym typeface="Tahoma"/>
              </a:rPr>
              <a:t>BIỂU THỨC</a:t>
            </a:r>
            <a:endParaRPr b="1">
              <a:latin typeface="Tahoma"/>
              <a:ea typeface="Tahoma"/>
              <a:cs typeface="Tahoma"/>
              <a:sym typeface="Tahoma"/>
            </a:endParaRPr>
          </a:p>
        </p:txBody>
      </p:sp>
      <p:sp>
        <p:nvSpPr>
          <p:cNvPr id="275" name="Google Shape;275;p19"/>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0"/>
              </a:spcBef>
              <a:spcAft>
                <a:spcPts val="0"/>
              </a:spcAft>
              <a:buClr>
                <a:schemeClr val="dk1"/>
              </a:buClr>
              <a:buSzPts val="2400"/>
              <a:buChar char="•"/>
            </a:pPr>
            <a:r>
              <a:rPr lang="en-US" sz="2000" dirty="0" err="1">
                <a:latin typeface="Tahoma"/>
                <a:ea typeface="Tahoma"/>
                <a:cs typeface="Tahoma"/>
                <a:sym typeface="Tahoma"/>
              </a:rPr>
              <a:t>Một</a:t>
            </a:r>
            <a:r>
              <a:rPr lang="en-US" sz="2000" dirty="0">
                <a:latin typeface="Tahoma"/>
                <a:ea typeface="Tahoma"/>
                <a:cs typeface="Tahoma"/>
                <a:sym typeface="Tahoma"/>
              </a:rPr>
              <a:t> </a:t>
            </a:r>
            <a:r>
              <a:rPr lang="en-US" sz="2000" dirty="0" err="1">
                <a:latin typeface="Tahoma"/>
                <a:ea typeface="Tahoma"/>
                <a:cs typeface="Tahoma"/>
                <a:sym typeface="Tahoma"/>
              </a:rPr>
              <a:t>biểu</a:t>
            </a:r>
            <a:r>
              <a:rPr lang="en-US" sz="2000" dirty="0">
                <a:latin typeface="Tahoma"/>
                <a:ea typeface="Tahoma"/>
                <a:cs typeface="Tahoma"/>
                <a:sym typeface="Tahoma"/>
              </a:rPr>
              <a:t> </a:t>
            </a:r>
            <a:r>
              <a:rPr lang="en-US" sz="2000" dirty="0" err="1">
                <a:latin typeface="Tahoma"/>
                <a:ea typeface="Tahoma"/>
                <a:cs typeface="Tahoma"/>
                <a:sym typeface="Tahoma"/>
              </a:rPr>
              <a:t>thức</a:t>
            </a:r>
            <a:r>
              <a:rPr lang="en-US" sz="2000" dirty="0">
                <a:latin typeface="Tahoma"/>
                <a:ea typeface="Tahoma"/>
                <a:cs typeface="Tahoma"/>
                <a:sym typeface="Tahoma"/>
              </a:rPr>
              <a:t> </a:t>
            </a:r>
            <a:r>
              <a:rPr lang="en-US" sz="2000" dirty="0" err="1">
                <a:latin typeface="Tahoma"/>
                <a:ea typeface="Tahoma"/>
                <a:cs typeface="Tahoma"/>
                <a:sym typeface="Tahoma"/>
              </a:rPr>
              <a:t>trong</a:t>
            </a:r>
            <a:r>
              <a:rPr lang="en-US" sz="2000" dirty="0">
                <a:latin typeface="Tahoma"/>
                <a:ea typeface="Tahoma"/>
                <a:cs typeface="Tahoma"/>
                <a:sym typeface="Tahoma"/>
              </a:rPr>
              <a:t> SQL (SQL Expression) </a:t>
            </a:r>
            <a:r>
              <a:rPr lang="en-US" sz="2000" dirty="0" err="1">
                <a:latin typeface="Tahoma"/>
                <a:ea typeface="Tahoma"/>
                <a:cs typeface="Tahoma"/>
                <a:sym typeface="Tahoma"/>
              </a:rPr>
              <a:t>là</a:t>
            </a:r>
            <a:r>
              <a:rPr lang="en-US" sz="2000" dirty="0">
                <a:latin typeface="Tahoma"/>
                <a:ea typeface="Tahoma"/>
                <a:cs typeface="Tahoma"/>
                <a:sym typeface="Tahoma"/>
              </a:rPr>
              <a:t> </a:t>
            </a:r>
            <a:r>
              <a:rPr lang="en-US" sz="2000" dirty="0" err="1">
                <a:latin typeface="Tahoma"/>
                <a:ea typeface="Tahoma"/>
                <a:cs typeface="Tahoma"/>
                <a:sym typeface="Tahoma"/>
              </a:rPr>
              <a:t>sự</a:t>
            </a:r>
            <a:r>
              <a:rPr lang="en-US" sz="2000" dirty="0">
                <a:latin typeface="Tahoma"/>
                <a:ea typeface="Tahoma"/>
                <a:cs typeface="Tahoma"/>
                <a:sym typeface="Tahoma"/>
              </a:rPr>
              <a:t> </a:t>
            </a:r>
            <a:r>
              <a:rPr lang="en-US" sz="2000" dirty="0" err="1">
                <a:latin typeface="Tahoma"/>
                <a:ea typeface="Tahoma"/>
                <a:cs typeface="Tahoma"/>
                <a:sym typeface="Tahoma"/>
              </a:rPr>
              <a:t>kết</a:t>
            </a:r>
            <a:r>
              <a:rPr lang="en-US" sz="2000" dirty="0">
                <a:latin typeface="Tahoma"/>
                <a:ea typeface="Tahoma"/>
                <a:cs typeface="Tahoma"/>
                <a:sym typeface="Tahoma"/>
              </a:rPr>
              <a:t> </a:t>
            </a:r>
            <a:r>
              <a:rPr lang="en-US" sz="2000" dirty="0" err="1">
                <a:latin typeface="Tahoma"/>
                <a:ea typeface="Tahoma"/>
                <a:cs typeface="Tahoma"/>
                <a:sym typeface="Tahoma"/>
              </a:rPr>
              <a:t>hợp</a:t>
            </a:r>
            <a:r>
              <a:rPr lang="en-US" sz="2000" dirty="0">
                <a:latin typeface="Tahoma"/>
                <a:ea typeface="Tahoma"/>
                <a:cs typeface="Tahoma"/>
                <a:sym typeface="Tahoma"/>
              </a:rPr>
              <a:t> </a:t>
            </a:r>
            <a:r>
              <a:rPr lang="en-US" sz="2000" dirty="0" err="1">
                <a:latin typeface="Tahoma"/>
                <a:ea typeface="Tahoma"/>
                <a:cs typeface="Tahoma"/>
                <a:sym typeface="Tahoma"/>
              </a:rPr>
              <a:t>của</a:t>
            </a:r>
            <a:r>
              <a:rPr lang="en-US" sz="2000" dirty="0">
                <a:latin typeface="Tahoma"/>
                <a:ea typeface="Tahoma"/>
                <a:cs typeface="Tahoma"/>
                <a:sym typeface="Tahoma"/>
              </a:rPr>
              <a:t> </a:t>
            </a:r>
            <a:r>
              <a:rPr lang="en-US" sz="2000" dirty="0" err="1">
                <a:latin typeface="Tahoma"/>
                <a:ea typeface="Tahoma"/>
                <a:cs typeface="Tahoma"/>
                <a:sym typeface="Tahoma"/>
              </a:rPr>
              <a:t>một</a:t>
            </a:r>
            <a:r>
              <a:rPr lang="en-US" sz="2000" dirty="0">
                <a:latin typeface="Tahoma"/>
                <a:ea typeface="Tahoma"/>
                <a:cs typeface="Tahoma"/>
                <a:sym typeface="Tahoma"/>
              </a:rPr>
              <a:t> </a:t>
            </a:r>
            <a:r>
              <a:rPr lang="en-US" sz="2000" dirty="0" err="1">
                <a:latin typeface="Tahoma"/>
                <a:ea typeface="Tahoma"/>
                <a:cs typeface="Tahoma"/>
                <a:sym typeface="Tahoma"/>
              </a:rPr>
              <a:t>hoặc</a:t>
            </a:r>
            <a:r>
              <a:rPr lang="en-US" sz="2000" dirty="0">
                <a:latin typeface="Tahoma"/>
                <a:ea typeface="Tahoma"/>
                <a:cs typeface="Tahoma"/>
                <a:sym typeface="Tahoma"/>
              </a:rPr>
              <a:t> </a:t>
            </a:r>
            <a:r>
              <a:rPr lang="en-US" sz="2000" dirty="0" err="1">
                <a:latin typeface="Tahoma"/>
                <a:ea typeface="Tahoma"/>
                <a:cs typeface="Tahoma"/>
                <a:sym typeface="Tahoma"/>
              </a:rPr>
              <a:t>nhiều</a:t>
            </a:r>
            <a:r>
              <a:rPr lang="en-US" sz="2000" dirty="0">
                <a:latin typeface="Tahoma"/>
                <a:ea typeface="Tahoma"/>
                <a:cs typeface="Tahoma"/>
                <a:sym typeface="Tahoma"/>
              </a:rPr>
              <a:t> </a:t>
            </a:r>
            <a:r>
              <a:rPr lang="en-US" sz="2000" dirty="0" err="1">
                <a:latin typeface="Tahoma"/>
                <a:ea typeface="Tahoma"/>
                <a:cs typeface="Tahoma"/>
                <a:sym typeface="Tahoma"/>
              </a:rPr>
              <a:t>giá</a:t>
            </a:r>
            <a:r>
              <a:rPr lang="en-US" sz="2000" dirty="0">
                <a:latin typeface="Tahoma"/>
                <a:ea typeface="Tahoma"/>
                <a:cs typeface="Tahoma"/>
                <a:sym typeface="Tahoma"/>
              </a:rPr>
              <a:t> </a:t>
            </a:r>
            <a:r>
              <a:rPr lang="en-US" sz="2000" dirty="0" err="1">
                <a:latin typeface="Tahoma"/>
                <a:ea typeface="Tahoma"/>
                <a:cs typeface="Tahoma"/>
                <a:sym typeface="Tahoma"/>
              </a:rPr>
              <a:t>trị</a:t>
            </a:r>
            <a:r>
              <a:rPr lang="en-US" sz="2000" dirty="0">
                <a:latin typeface="Tahoma"/>
                <a:ea typeface="Tahoma"/>
                <a:cs typeface="Tahoma"/>
                <a:sym typeface="Tahoma"/>
              </a:rPr>
              <a:t>, </a:t>
            </a:r>
            <a:r>
              <a:rPr lang="en-US" sz="2000" dirty="0" err="1">
                <a:latin typeface="Tahoma"/>
                <a:ea typeface="Tahoma"/>
                <a:cs typeface="Tahoma"/>
                <a:sym typeface="Tahoma"/>
              </a:rPr>
              <a:t>toán</a:t>
            </a:r>
            <a:r>
              <a:rPr lang="en-US" sz="2000" dirty="0">
                <a:latin typeface="Tahoma"/>
                <a:ea typeface="Tahoma"/>
                <a:cs typeface="Tahoma"/>
                <a:sym typeface="Tahoma"/>
              </a:rPr>
              <a:t> </a:t>
            </a:r>
            <a:r>
              <a:rPr lang="en-US" sz="2000" dirty="0" err="1">
                <a:latin typeface="Tahoma"/>
                <a:ea typeface="Tahoma"/>
                <a:cs typeface="Tahoma"/>
                <a:sym typeface="Tahoma"/>
              </a:rPr>
              <a:t>tử</a:t>
            </a:r>
            <a:r>
              <a:rPr lang="en-US" sz="2000" dirty="0">
                <a:latin typeface="Tahoma"/>
                <a:ea typeface="Tahoma"/>
                <a:cs typeface="Tahoma"/>
                <a:sym typeface="Tahoma"/>
              </a:rPr>
              <a:t> </a:t>
            </a:r>
            <a:r>
              <a:rPr lang="en-US" sz="2000" dirty="0" err="1">
                <a:latin typeface="Tahoma"/>
                <a:ea typeface="Tahoma"/>
                <a:cs typeface="Tahoma"/>
                <a:sym typeface="Tahoma"/>
              </a:rPr>
              <a:t>và</a:t>
            </a:r>
            <a:r>
              <a:rPr lang="en-US" sz="2000" dirty="0">
                <a:latin typeface="Tahoma"/>
                <a:ea typeface="Tahoma"/>
                <a:cs typeface="Tahoma"/>
                <a:sym typeface="Tahoma"/>
              </a:rPr>
              <a:t> </a:t>
            </a:r>
            <a:r>
              <a:rPr lang="en-US" sz="2000" dirty="0" err="1">
                <a:latin typeface="Tahoma"/>
                <a:ea typeface="Tahoma"/>
                <a:cs typeface="Tahoma"/>
                <a:sym typeface="Tahoma"/>
              </a:rPr>
              <a:t>các</a:t>
            </a:r>
            <a:r>
              <a:rPr lang="en-US" sz="2000" dirty="0">
                <a:latin typeface="Tahoma"/>
                <a:ea typeface="Tahoma"/>
                <a:cs typeface="Tahoma"/>
                <a:sym typeface="Tahoma"/>
              </a:rPr>
              <a:t> </a:t>
            </a:r>
            <a:r>
              <a:rPr lang="en-US" sz="2000" dirty="0" err="1">
                <a:latin typeface="Tahoma"/>
                <a:ea typeface="Tahoma"/>
                <a:cs typeface="Tahoma"/>
                <a:sym typeface="Tahoma"/>
              </a:rPr>
              <a:t>hàm</a:t>
            </a:r>
            <a:r>
              <a:rPr lang="en-US" sz="2000" dirty="0">
                <a:latin typeface="Tahoma"/>
                <a:ea typeface="Tahoma"/>
                <a:cs typeface="Tahoma"/>
                <a:sym typeface="Tahoma"/>
              </a:rPr>
              <a:t> SQL </a:t>
            </a:r>
            <a:r>
              <a:rPr lang="en-US" sz="2000" dirty="0" err="1">
                <a:latin typeface="Tahoma"/>
                <a:ea typeface="Tahoma"/>
                <a:cs typeface="Tahoma"/>
                <a:sym typeface="Tahoma"/>
              </a:rPr>
              <a:t>đánh</a:t>
            </a:r>
            <a:r>
              <a:rPr lang="en-US" sz="2000" dirty="0">
                <a:latin typeface="Tahoma"/>
                <a:ea typeface="Tahoma"/>
                <a:cs typeface="Tahoma"/>
                <a:sym typeface="Tahoma"/>
              </a:rPr>
              <a:t> </a:t>
            </a:r>
            <a:r>
              <a:rPr lang="en-US" sz="2000" dirty="0" err="1">
                <a:latin typeface="Tahoma"/>
                <a:ea typeface="Tahoma"/>
                <a:cs typeface="Tahoma"/>
                <a:sym typeface="Tahoma"/>
              </a:rPr>
              <a:t>giá</a:t>
            </a:r>
            <a:r>
              <a:rPr lang="en-US" sz="2000" dirty="0">
                <a:latin typeface="Tahoma"/>
                <a:ea typeface="Tahoma"/>
                <a:cs typeface="Tahoma"/>
                <a:sym typeface="Tahoma"/>
              </a:rPr>
              <a:t> </a:t>
            </a:r>
            <a:r>
              <a:rPr lang="en-US" sz="2000" dirty="0" err="1">
                <a:latin typeface="Tahoma"/>
                <a:ea typeface="Tahoma"/>
                <a:cs typeface="Tahoma"/>
                <a:sym typeface="Tahoma"/>
              </a:rPr>
              <a:t>một</a:t>
            </a:r>
            <a:r>
              <a:rPr lang="en-US" sz="2000" dirty="0">
                <a:latin typeface="Tahoma"/>
                <a:ea typeface="Tahoma"/>
                <a:cs typeface="Tahoma"/>
                <a:sym typeface="Tahoma"/>
              </a:rPr>
              <a:t> </a:t>
            </a:r>
            <a:r>
              <a:rPr lang="en-US" sz="2000" dirty="0" err="1">
                <a:latin typeface="Tahoma"/>
                <a:ea typeface="Tahoma"/>
                <a:cs typeface="Tahoma"/>
                <a:sym typeface="Tahoma"/>
              </a:rPr>
              <a:t>giá</a:t>
            </a:r>
            <a:r>
              <a:rPr lang="en-US" sz="2000" dirty="0">
                <a:latin typeface="Tahoma"/>
                <a:ea typeface="Tahoma"/>
                <a:cs typeface="Tahoma"/>
                <a:sym typeface="Tahoma"/>
              </a:rPr>
              <a:t> </a:t>
            </a:r>
            <a:r>
              <a:rPr lang="en-US" sz="2000" dirty="0" err="1">
                <a:latin typeface="Tahoma"/>
                <a:ea typeface="Tahoma"/>
                <a:cs typeface="Tahoma"/>
                <a:sym typeface="Tahoma"/>
              </a:rPr>
              <a:t>trị</a:t>
            </a:r>
            <a:r>
              <a:rPr lang="en-US" sz="2000" dirty="0">
                <a:latin typeface="Tahoma"/>
                <a:ea typeface="Tahoma"/>
                <a:cs typeface="Tahoma"/>
                <a:sym typeface="Tahoma"/>
              </a:rPr>
              <a:t>. </a:t>
            </a:r>
            <a:r>
              <a:rPr lang="en-US" sz="2000" dirty="0" err="1">
                <a:latin typeface="Tahoma"/>
                <a:ea typeface="Tahoma"/>
                <a:cs typeface="Tahoma"/>
                <a:sym typeface="Tahoma"/>
              </a:rPr>
              <a:t>Những</a:t>
            </a:r>
            <a:r>
              <a:rPr lang="en-US" sz="2000" dirty="0">
                <a:latin typeface="Tahoma"/>
                <a:ea typeface="Tahoma"/>
                <a:cs typeface="Tahoma"/>
                <a:sym typeface="Tahoma"/>
              </a:rPr>
              <a:t> </a:t>
            </a:r>
            <a:r>
              <a:rPr lang="en-US" sz="2000" dirty="0" err="1">
                <a:latin typeface="Tahoma"/>
                <a:ea typeface="Tahoma"/>
                <a:cs typeface="Tahoma"/>
                <a:sym typeface="Tahoma"/>
              </a:rPr>
              <a:t>biểu</a:t>
            </a:r>
            <a:r>
              <a:rPr lang="en-US" sz="2000" dirty="0">
                <a:latin typeface="Tahoma"/>
                <a:ea typeface="Tahoma"/>
                <a:cs typeface="Tahoma"/>
                <a:sym typeface="Tahoma"/>
              </a:rPr>
              <a:t> </a:t>
            </a:r>
            <a:r>
              <a:rPr lang="en-US" sz="2000" dirty="0" err="1">
                <a:latin typeface="Tahoma"/>
                <a:ea typeface="Tahoma"/>
                <a:cs typeface="Tahoma"/>
                <a:sym typeface="Tahoma"/>
              </a:rPr>
              <a:t>thức</a:t>
            </a:r>
            <a:r>
              <a:rPr lang="en-US" sz="2000" dirty="0">
                <a:latin typeface="Tahoma"/>
                <a:ea typeface="Tahoma"/>
                <a:cs typeface="Tahoma"/>
                <a:sym typeface="Tahoma"/>
              </a:rPr>
              <a:t> SQL </a:t>
            </a:r>
            <a:r>
              <a:rPr lang="en-US" sz="2000" dirty="0" err="1">
                <a:latin typeface="Tahoma"/>
                <a:ea typeface="Tahoma"/>
                <a:cs typeface="Tahoma"/>
                <a:sym typeface="Tahoma"/>
              </a:rPr>
              <a:t>này</a:t>
            </a:r>
            <a:r>
              <a:rPr lang="en-US" sz="2000" dirty="0">
                <a:latin typeface="Tahoma"/>
                <a:ea typeface="Tahoma"/>
                <a:cs typeface="Tahoma"/>
                <a:sym typeface="Tahoma"/>
              </a:rPr>
              <a:t> </a:t>
            </a:r>
            <a:r>
              <a:rPr lang="en-US" sz="2000" dirty="0" err="1">
                <a:latin typeface="Tahoma"/>
                <a:ea typeface="Tahoma"/>
                <a:cs typeface="Tahoma"/>
                <a:sym typeface="Tahoma"/>
              </a:rPr>
              <a:t>giống</a:t>
            </a:r>
            <a:r>
              <a:rPr lang="en-US" sz="2000" dirty="0">
                <a:latin typeface="Tahoma"/>
                <a:ea typeface="Tahoma"/>
                <a:cs typeface="Tahoma"/>
                <a:sym typeface="Tahoma"/>
              </a:rPr>
              <a:t> </a:t>
            </a:r>
            <a:r>
              <a:rPr lang="en-US" sz="2000" dirty="0" err="1">
                <a:latin typeface="Tahoma"/>
                <a:ea typeface="Tahoma"/>
                <a:cs typeface="Tahoma"/>
                <a:sym typeface="Tahoma"/>
              </a:rPr>
              <a:t>như</a:t>
            </a:r>
            <a:r>
              <a:rPr lang="en-US" sz="2000" dirty="0">
                <a:latin typeface="Tahoma"/>
                <a:ea typeface="Tahoma"/>
                <a:cs typeface="Tahoma"/>
                <a:sym typeface="Tahoma"/>
              </a:rPr>
              <a:t> </a:t>
            </a:r>
            <a:r>
              <a:rPr lang="en-US" sz="2000" dirty="0" err="1">
                <a:latin typeface="Tahoma"/>
                <a:ea typeface="Tahoma"/>
                <a:cs typeface="Tahoma"/>
                <a:sym typeface="Tahoma"/>
              </a:rPr>
              <a:t>công</a:t>
            </a:r>
            <a:r>
              <a:rPr lang="en-US" sz="2000" dirty="0">
                <a:latin typeface="Tahoma"/>
                <a:ea typeface="Tahoma"/>
                <a:cs typeface="Tahoma"/>
                <a:sym typeface="Tahoma"/>
              </a:rPr>
              <a:t> </a:t>
            </a:r>
            <a:r>
              <a:rPr lang="en-US" sz="2000" dirty="0" err="1">
                <a:latin typeface="Tahoma"/>
                <a:ea typeface="Tahoma"/>
                <a:cs typeface="Tahoma"/>
                <a:sym typeface="Tahoma"/>
              </a:rPr>
              <a:t>thức</a:t>
            </a:r>
            <a:r>
              <a:rPr lang="en-US" sz="2000" dirty="0">
                <a:latin typeface="Tahoma"/>
                <a:ea typeface="Tahoma"/>
                <a:cs typeface="Tahoma"/>
                <a:sym typeface="Tahoma"/>
              </a:rPr>
              <a:t> </a:t>
            </a:r>
            <a:r>
              <a:rPr lang="en-US" sz="2000" dirty="0" err="1">
                <a:latin typeface="Tahoma"/>
                <a:ea typeface="Tahoma"/>
                <a:cs typeface="Tahoma"/>
                <a:sym typeface="Tahoma"/>
              </a:rPr>
              <a:t>và</a:t>
            </a:r>
            <a:r>
              <a:rPr lang="en-US" sz="2000" dirty="0">
                <a:latin typeface="Tahoma"/>
                <a:ea typeface="Tahoma"/>
                <a:cs typeface="Tahoma"/>
                <a:sym typeface="Tahoma"/>
              </a:rPr>
              <a:t> </a:t>
            </a:r>
            <a:r>
              <a:rPr lang="en-US" sz="2000" dirty="0" err="1">
                <a:latin typeface="Tahoma"/>
                <a:ea typeface="Tahoma"/>
                <a:cs typeface="Tahoma"/>
                <a:sym typeface="Tahoma"/>
              </a:rPr>
              <a:t>chúng</a:t>
            </a:r>
            <a:r>
              <a:rPr lang="en-US" sz="2000" dirty="0">
                <a:latin typeface="Tahoma"/>
                <a:ea typeface="Tahoma"/>
                <a:cs typeface="Tahoma"/>
                <a:sym typeface="Tahoma"/>
              </a:rPr>
              <a:t> </a:t>
            </a:r>
            <a:r>
              <a:rPr lang="en-US" sz="2000" dirty="0" err="1">
                <a:latin typeface="Tahoma"/>
                <a:ea typeface="Tahoma"/>
                <a:cs typeface="Tahoma"/>
                <a:sym typeface="Tahoma"/>
              </a:rPr>
              <a:t>được</a:t>
            </a:r>
            <a:r>
              <a:rPr lang="en-US" sz="2000" dirty="0">
                <a:latin typeface="Tahoma"/>
                <a:ea typeface="Tahoma"/>
                <a:cs typeface="Tahoma"/>
                <a:sym typeface="Tahoma"/>
              </a:rPr>
              <a:t> </a:t>
            </a:r>
            <a:r>
              <a:rPr lang="en-US" sz="2000" dirty="0" err="1">
                <a:latin typeface="Tahoma"/>
                <a:ea typeface="Tahoma"/>
                <a:cs typeface="Tahoma"/>
                <a:sym typeface="Tahoma"/>
              </a:rPr>
              <a:t>viết</a:t>
            </a:r>
            <a:r>
              <a:rPr lang="en-US" sz="2000" dirty="0">
                <a:latin typeface="Tahoma"/>
                <a:ea typeface="Tahoma"/>
                <a:cs typeface="Tahoma"/>
                <a:sym typeface="Tahoma"/>
              </a:rPr>
              <a:t> </a:t>
            </a:r>
            <a:r>
              <a:rPr lang="en-US" sz="2000" dirty="0" err="1">
                <a:latin typeface="Tahoma"/>
                <a:ea typeface="Tahoma"/>
                <a:cs typeface="Tahoma"/>
                <a:sym typeface="Tahoma"/>
              </a:rPr>
              <a:t>bằng</a:t>
            </a:r>
            <a:r>
              <a:rPr lang="en-US" sz="2000" dirty="0">
                <a:latin typeface="Tahoma"/>
                <a:ea typeface="Tahoma"/>
                <a:cs typeface="Tahoma"/>
                <a:sym typeface="Tahoma"/>
              </a:rPr>
              <a:t> </a:t>
            </a:r>
            <a:r>
              <a:rPr lang="en-US" sz="2000" dirty="0" err="1">
                <a:latin typeface="Tahoma"/>
                <a:ea typeface="Tahoma"/>
                <a:cs typeface="Tahoma"/>
                <a:sym typeface="Tahoma"/>
              </a:rPr>
              <a:t>ngôn</a:t>
            </a:r>
            <a:r>
              <a:rPr lang="en-US" sz="2000" dirty="0">
                <a:latin typeface="Tahoma"/>
                <a:ea typeface="Tahoma"/>
                <a:cs typeface="Tahoma"/>
                <a:sym typeface="Tahoma"/>
              </a:rPr>
              <a:t> </a:t>
            </a:r>
            <a:r>
              <a:rPr lang="en-US" sz="2000" dirty="0" err="1">
                <a:latin typeface="Tahoma"/>
                <a:ea typeface="Tahoma"/>
                <a:cs typeface="Tahoma"/>
                <a:sym typeface="Tahoma"/>
              </a:rPr>
              <a:t>ngữ</a:t>
            </a:r>
            <a:r>
              <a:rPr lang="en-US" sz="2000" dirty="0">
                <a:latin typeface="Tahoma"/>
                <a:ea typeface="Tahoma"/>
                <a:cs typeface="Tahoma"/>
                <a:sym typeface="Tahoma"/>
              </a:rPr>
              <a:t> </a:t>
            </a:r>
            <a:r>
              <a:rPr lang="en-US" sz="2000" dirty="0" err="1">
                <a:latin typeface="Tahoma"/>
                <a:ea typeface="Tahoma"/>
                <a:cs typeface="Tahoma"/>
                <a:sym typeface="Tahoma"/>
              </a:rPr>
              <a:t>truy</a:t>
            </a:r>
            <a:r>
              <a:rPr lang="en-US" sz="2000" dirty="0">
                <a:latin typeface="Tahoma"/>
                <a:ea typeface="Tahoma"/>
                <a:cs typeface="Tahoma"/>
                <a:sym typeface="Tahoma"/>
              </a:rPr>
              <a:t> </a:t>
            </a:r>
            <a:r>
              <a:rPr lang="en-US" sz="2000" dirty="0" err="1">
                <a:latin typeface="Tahoma"/>
                <a:ea typeface="Tahoma"/>
                <a:cs typeface="Tahoma"/>
                <a:sym typeface="Tahoma"/>
              </a:rPr>
              <a:t>vấn</a:t>
            </a:r>
            <a:r>
              <a:rPr lang="en-US" sz="2000" dirty="0">
                <a:latin typeface="Tahoma"/>
                <a:ea typeface="Tahoma"/>
                <a:cs typeface="Tahoma"/>
                <a:sym typeface="Tahoma"/>
              </a:rPr>
              <a:t>. </a:t>
            </a:r>
            <a:r>
              <a:rPr lang="en-US" sz="2000" dirty="0" err="1">
                <a:latin typeface="Tahoma"/>
                <a:ea typeface="Tahoma"/>
                <a:cs typeface="Tahoma"/>
                <a:sym typeface="Tahoma"/>
              </a:rPr>
              <a:t>Bạn</a:t>
            </a:r>
            <a:r>
              <a:rPr lang="en-US" sz="2000" dirty="0">
                <a:latin typeface="Tahoma"/>
                <a:ea typeface="Tahoma"/>
                <a:cs typeface="Tahoma"/>
                <a:sym typeface="Tahoma"/>
              </a:rPr>
              <a:t> </a:t>
            </a:r>
            <a:r>
              <a:rPr lang="en-US" sz="2000" dirty="0" err="1">
                <a:latin typeface="Tahoma"/>
                <a:ea typeface="Tahoma"/>
                <a:cs typeface="Tahoma"/>
                <a:sym typeface="Tahoma"/>
              </a:rPr>
              <a:t>cũng</a:t>
            </a:r>
            <a:r>
              <a:rPr lang="en-US" sz="2000" dirty="0">
                <a:latin typeface="Tahoma"/>
                <a:ea typeface="Tahoma"/>
                <a:cs typeface="Tahoma"/>
                <a:sym typeface="Tahoma"/>
              </a:rPr>
              <a:t> </a:t>
            </a:r>
            <a:r>
              <a:rPr lang="en-US" sz="2000" dirty="0" err="1">
                <a:latin typeface="Tahoma"/>
                <a:ea typeface="Tahoma"/>
                <a:cs typeface="Tahoma"/>
                <a:sym typeface="Tahoma"/>
              </a:rPr>
              <a:t>có</a:t>
            </a:r>
            <a:r>
              <a:rPr lang="en-US" sz="2000" dirty="0">
                <a:latin typeface="Tahoma"/>
                <a:ea typeface="Tahoma"/>
                <a:cs typeface="Tahoma"/>
                <a:sym typeface="Tahoma"/>
              </a:rPr>
              <a:t> </a:t>
            </a:r>
            <a:r>
              <a:rPr lang="en-US" sz="2000" dirty="0" err="1">
                <a:latin typeface="Tahoma"/>
                <a:ea typeface="Tahoma"/>
                <a:cs typeface="Tahoma"/>
                <a:sym typeface="Tahoma"/>
              </a:rPr>
              <a:t>thể</a:t>
            </a:r>
            <a:r>
              <a:rPr lang="en-US" sz="2000" dirty="0">
                <a:latin typeface="Tahoma"/>
                <a:ea typeface="Tahoma"/>
                <a:cs typeface="Tahoma"/>
                <a:sym typeface="Tahoma"/>
              </a:rPr>
              <a:t> </a:t>
            </a:r>
            <a:r>
              <a:rPr lang="en-US" sz="2000" dirty="0" err="1">
                <a:latin typeface="Tahoma"/>
                <a:ea typeface="Tahoma"/>
                <a:cs typeface="Tahoma"/>
                <a:sym typeface="Tahoma"/>
              </a:rPr>
              <a:t>sử</a:t>
            </a:r>
            <a:r>
              <a:rPr lang="en-US" sz="2000" dirty="0">
                <a:latin typeface="Tahoma"/>
                <a:ea typeface="Tahoma"/>
                <a:cs typeface="Tahoma"/>
                <a:sym typeface="Tahoma"/>
              </a:rPr>
              <a:t> </a:t>
            </a:r>
            <a:r>
              <a:rPr lang="en-US" sz="2000" dirty="0" err="1">
                <a:latin typeface="Tahoma"/>
                <a:ea typeface="Tahoma"/>
                <a:cs typeface="Tahoma"/>
                <a:sym typeface="Tahoma"/>
              </a:rPr>
              <a:t>dụng</a:t>
            </a:r>
            <a:r>
              <a:rPr lang="en-US" sz="2000" dirty="0">
                <a:latin typeface="Tahoma"/>
                <a:ea typeface="Tahoma"/>
                <a:cs typeface="Tahoma"/>
                <a:sym typeface="Tahoma"/>
              </a:rPr>
              <a:t> </a:t>
            </a:r>
            <a:r>
              <a:rPr lang="en-US" sz="2000" dirty="0" err="1">
                <a:latin typeface="Tahoma"/>
                <a:ea typeface="Tahoma"/>
                <a:cs typeface="Tahoma"/>
                <a:sym typeface="Tahoma"/>
              </a:rPr>
              <a:t>chúng</a:t>
            </a:r>
            <a:r>
              <a:rPr lang="en-US" sz="2000" dirty="0">
                <a:latin typeface="Tahoma"/>
                <a:ea typeface="Tahoma"/>
                <a:cs typeface="Tahoma"/>
                <a:sym typeface="Tahoma"/>
              </a:rPr>
              <a:t> </a:t>
            </a:r>
            <a:r>
              <a:rPr lang="en-US" sz="2000" dirty="0" err="1">
                <a:latin typeface="Tahoma"/>
                <a:ea typeface="Tahoma"/>
                <a:cs typeface="Tahoma"/>
                <a:sym typeface="Tahoma"/>
              </a:rPr>
              <a:t>để</a:t>
            </a:r>
            <a:r>
              <a:rPr lang="en-US" sz="2000" dirty="0">
                <a:latin typeface="Tahoma"/>
                <a:ea typeface="Tahoma"/>
                <a:cs typeface="Tahoma"/>
                <a:sym typeface="Tahoma"/>
              </a:rPr>
              <a:t> </a:t>
            </a:r>
            <a:r>
              <a:rPr lang="en-US" sz="2000" dirty="0" err="1">
                <a:latin typeface="Tahoma"/>
                <a:ea typeface="Tahoma"/>
                <a:cs typeface="Tahoma"/>
                <a:sym typeface="Tahoma"/>
              </a:rPr>
              <a:t>truy</a:t>
            </a:r>
            <a:r>
              <a:rPr lang="en-US" sz="2000" dirty="0">
                <a:latin typeface="Tahoma"/>
                <a:ea typeface="Tahoma"/>
                <a:cs typeface="Tahoma"/>
                <a:sym typeface="Tahoma"/>
              </a:rPr>
              <a:t> </a:t>
            </a:r>
            <a:r>
              <a:rPr lang="en-US" sz="2000" dirty="0" err="1">
                <a:latin typeface="Tahoma"/>
                <a:ea typeface="Tahoma"/>
                <a:cs typeface="Tahoma"/>
                <a:sym typeface="Tahoma"/>
              </a:rPr>
              <a:t>vấn</a:t>
            </a:r>
            <a:r>
              <a:rPr lang="en-US" sz="2000" dirty="0">
                <a:latin typeface="Tahoma"/>
                <a:ea typeface="Tahoma"/>
                <a:cs typeface="Tahoma"/>
                <a:sym typeface="Tahoma"/>
              </a:rPr>
              <a:t> </a:t>
            </a:r>
            <a:r>
              <a:rPr lang="en-US" sz="2000" dirty="0" err="1">
                <a:latin typeface="Tahoma"/>
                <a:ea typeface="Tahoma"/>
                <a:cs typeface="Tahoma"/>
                <a:sym typeface="Tahoma"/>
              </a:rPr>
              <a:t>cơ</a:t>
            </a:r>
            <a:r>
              <a:rPr lang="en-US" sz="2000" dirty="0">
                <a:latin typeface="Tahoma"/>
                <a:ea typeface="Tahoma"/>
                <a:cs typeface="Tahoma"/>
                <a:sym typeface="Tahoma"/>
              </a:rPr>
              <a:t> </a:t>
            </a:r>
            <a:r>
              <a:rPr lang="en-US" sz="2000" dirty="0" err="1">
                <a:latin typeface="Tahoma"/>
                <a:ea typeface="Tahoma"/>
                <a:cs typeface="Tahoma"/>
                <a:sym typeface="Tahoma"/>
              </a:rPr>
              <a:t>sở</a:t>
            </a:r>
            <a:r>
              <a:rPr lang="en-US" sz="2000" dirty="0">
                <a:latin typeface="Tahoma"/>
                <a:ea typeface="Tahoma"/>
                <a:cs typeface="Tahoma"/>
                <a:sym typeface="Tahoma"/>
              </a:rPr>
              <a:t> </a:t>
            </a:r>
            <a:r>
              <a:rPr lang="en-US" sz="2000" dirty="0" err="1">
                <a:latin typeface="Tahoma"/>
                <a:ea typeface="Tahoma"/>
                <a:cs typeface="Tahoma"/>
                <a:sym typeface="Tahoma"/>
              </a:rPr>
              <a:t>dữ</a:t>
            </a:r>
            <a:r>
              <a:rPr lang="en-US" sz="2000" dirty="0">
                <a:latin typeface="Tahoma"/>
                <a:ea typeface="Tahoma"/>
                <a:cs typeface="Tahoma"/>
                <a:sym typeface="Tahoma"/>
              </a:rPr>
              <a:t> </a:t>
            </a:r>
            <a:r>
              <a:rPr lang="en-US" sz="2000" dirty="0" err="1">
                <a:latin typeface="Tahoma"/>
                <a:ea typeface="Tahoma"/>
                <a:cs typeface="Tahoma"/>
                <a:sym typeface="Tahoma"/>
              </a:rPr>
              <a:t>liệu</a:t>
            </a:r>
            <a:r>
              <a:rPr lang="en-US" sz="2000" dirty="0">
                <a:latin typeface="Tahoma"/>
                <a:ea typeface="Tahoma"/>
                <a:cs typeface="Tahoma"/>
                <a:sym typeface="Tahoma"/>
              </a:rPr>
              <a:t> </a:t>
            </a:r>
            <a:r>
              <a:rPr lang="en-US" sz="2000" dirty="0" err="1">
                <a:latin typeface="Tahoma"/>
                <a:ea typeface="Tahoma"/>
                <a:cs typeface="Tahoma"/>
                <a:sym typeface="Tahoma"/>
              </a:rPr>
              <a:t>cho</a:t>
            </a:r>
            <a:r>
              <a:rPr lang="en-US" sz="2000" dirty="0">
                <a:latin typeface="Tahoma"/>
                <a:ea typeface="Tahoma"/>
                <a:cs typeface="Tahoma"/>
                <a:sym typeface="Tahoma"/>
              </a:rPr>
              <a:t> </a:t>
            </a:r>
            <a:r>
              <a:rPr lang="en-US" sz="2000" dirty="0" err="1">
                <a:latin typeface="Tahoma"/>
                <a:ea typeface="Tahoma"/>
                <a:cs typeface="Tahoma"/>
                <a:sym typeface="Tahoma"/>
              </a:rPr>
              <a:t>một</a:t>
            </a:r>
            <a:r>
              <a:rPr lang="en-US" sz="2000" dirty="0">
                <a:latin typeface="Tahoma"/>
                <a:ea typeface="Tahoma"/>
                <a:cs typeface="Tahoma"/>
                <a:sym typeface="Tahoma"/>
              </a:rPr>
              <a:t> </a:t>
            </a:r>
            <a:r>
              <a:rPr lang="en-US" sz="2000" dirty="0" err="1">
                <a:latin typeface="Tahoma"/>
                <a:ea typeface="Tahoma"/>
                <a:cs typeface="Tahoma"/>
                <a:sym typeface="Tahoma"/>
              </a:rPr>
              <a:t>tập</a:t>
            </a:r>
            <a:r>
              <a:rPr lang="en-US" sz="2000" dirty="0">
                <a:latin typeface="Tahoma"/>
                <a:ea typeface="Tahoma"/>
                <a:cs typeface="Tahoma"/>
                <a:sym typeface="Tahoma"/>
              </a:rPr>
              <a:t> </a:t>
            </a:r>
            <a:r>
              <a:rPr lang="en-US" sz="2000" dirty="0" err="1">
                <a:latin typeface="Tahoma"/>
                <a:ea typeface="Tahoma"/>
                <a:cs typeface="Tahoma"/>
                <a:sym typeface="Tahoma"/>
              </a:rPr>
              <a:t>dữ</a:t>
            </a:r>
            <a:r>
              <a:rPr lang="en-US" sz="2000" dirty="0">
                <a:latin typeface="Tahoma"/>
                <a:ea typeface="Tahoma"/>
                <a:cs typeface="Tahoma"/>
                <a:sym typeface="Tahoma"/>
              </a:rPr>
              <a:t> </a:t>
            </a:r>
            <a:r>
              <a:rPr lang="en-US" sz="2000" dirty="0" err="1">
                <a:latin typeface="Tahoma"/>
                <a:ea typeface="Tahoma"/>
                <a:cs typeface="Tahoma"/>
                <a:sym typeface="Tahoma"/>
              </a:rPr>
              <a:t>liệu</a:t>
            </a:r>
            <a:r>
              <a:rPr lang="en-US" sz="2000" dirty="0">
                <a:latin typeface="Tahoma"/>
                <a:ea typeface="Tahoma"/>
                <a:cs typeface="Tahoma"/>
                <a:sym typeface="Tahoma"/>
              </a:rPr>
              <a:t> </a:t>
            </a:r>
            <a:r>
              <a:rPr lang="en-US" sz="2000" dirty="0" err="1">
                <a:latin typeface="Tahoma"/>
                <a:ea typeface="Tahoma"/>
                <a:cs typeface="Tahoma"/>
                <a:sym typeface="Tahoma"/>
              </a:rPr>
              <a:t>cụ</a:t>
            </a:r>
            <a:r>
              <a:rPr lang="en-US" sz="2000" dirty="0">
                <a:latin typeface="Tahoma"/>
                <a:ea typeface="Tahoma"/>
                <a:cs typeface="Tahoma"/>
                <a:sym typeface="Tahoma"/>
              </a:rPr>
              <a:t> </a:t>
            </a:r>
            <a:r>
              <a:rPr lang="en-US" sz="2000" dirty="0" err="1">
                <a:latin typeface="Tahoma"/>
                <a:ea typeface="Tahoma"/>
                <a:cs typeface="Tahoma"/>
                <a:sym typeface="Tahoma"/>
              </a:rPr>
              <a:t>thể</a:t>
            </a:r>
            <a:r>
              <a:rPr lang="en-US" sz="2000" dirty="0">
                <a:latin typeface="Tahoma"/>
                <a:ea typeface="Tahoma"/>
                <a:cs typeface="Tahoma"/>
                <a:sym typeface="Tahoma"/>
              </a:rPr>
              <a:t>.</a:t>
            </a:r>
            <a:endParaRPr sz="2000" dirty="0">
              <a:latin typeface="Tahoma"/>
              <a:ea typeface="Tahoma"/>
              <a:cs typeface="Tahoma"/>
              <a:sym typeface="Tahoma"/>
            </a:endParaRPr>
          </a:p>
          <a:p>
            <a:pPr marL="0" lvl="0" indent="0" algn="l" rtl="0">
              <a:lnSpc>
                <a:spcPct val="90000"/>
              </a:lnSpc>
              <a:spcBef>
                <a:spcPts val="0"/>
              </a:spcBef>
              <a:spcAft>
                <a:spcPts val="0"/>
              </a:spcAft>
              <a:buClr>
                <a:schemeClr val="dk1"/>
              </a:buClr>
              <a:buSzPts val="2400"/>
              <a:buNone/>
            </a:pPr>
            <a:endParaRPr sz="2000" dirty="0">
              <a:latin typeface="Tahoma"/>
              <a:ea typeface="Tahoma"/>
              <a:cs typeface="Tahoma"/>
              <a:sym typeface="Tahoma"/>
            </a:endParaRPr>
          </a:p>
          <a:p>
            <a:pPr marL="114300" lvl="0" indent="0" algn="l" rtl="0">
              <a:lnSpc>
                <a:spcPct val="90000"/>
              </a:lnSpc>
              <a:spcBef>
                <a:spcPts val="1200"/>
              </a:spcBef>
              <a:spcAft>
                <a:spcPts val="0"/>
              </a:spcAft>
              <a:buClr>
                <a:schemeClr val="dk1"/>
              </a:buClr>
              <a:buSzPts val="1800"/>
              <a:buNone/>
            </a:pPr>
            <a:r>
              <a:rPr lang="en-US" sz="2000" dirty="0" err="1">
                <a:latin typeface="Tahoma"/>
                <a:ea typeface="Tahoma"/>
                <a:cs typeface="Tahoma"/>
                <a:sym typeface="Tahoma"/>
              </a:rPr>
              <a:t>Có</a:t>
            </a:r>
            <a:r>
              <a:rPr lang="en-US" sz="2000" dirty="0">
                <a:latin typeface="Tahoma"/>
                <a:ea typeface="Tahoma"/>
                <a:cs typeface="Tahoma"/>
                <a:sym typeface="Tahoma"/>
              </a:rPr>
              <a:t> </a:t>
            </a:r>
            <a:r>
              <a:rPr lang="en-US" sz="2000" dirty="0" err="1">
                <a:latin typeface="Tahoma"/>
                <a:ea typeface="Tahoma"/>
                <a:cs typeface="Tahoma"/>
                <a:sym typeface="Tahoma"/>
              </a:rPr>
              <a:t>các</a:t>
            </a:r>
            <a:r>
              <a:rPr lang="en-US" sz="2000" dirty="0">
                <a:latin typeface="Tahoma"/>
                <a:ea typeface="Tahoma"/>
                <a:cs typeface="Tahoma"/>
                <a:sym typeface="Tahoma"/>
              </a:rPr>
              <a:t> </a:t>
            </a:r>
            <a:r>
              <a:rPr lang="en-US" sz="2000" dirty="0" err="1">
                <a:latin typeface="Tahoma"/>
                <a:ea typeface="Tahoma"/>
                <a:cs typeface="Tahoma"/>
                <a:sym typeface="Tahoma"/>
              </a:rPr>
              <a:t>loại</a:t>
            </a:r>
            <a:r>
              <a:rPr lang="en-US" sz="2000" dirty="0">
                <a:latin typeface="Tahoma"/>
                <a:ea typeface="Tahoma"/>
                <a:cs typeface="Tahoma"/>
                <a:sym typeface="Tahoma"/>
              </a:rPr>
              <a:t> </a:t>
            </a:r>
            <a:r>
              <a:rPr lang="en-US" sz="2000" dirty="0" err="1">
                <a:latin typeface="Tahoma"/>
                <a:ea typeface="Tahoma"/>
                <a:cs typeface="Tahoma"/>
                <a:sym typeface="Tahoma"/>
              </a:rPr>
              <a:t>biểu</a:t>
            </a:r>
            <a:r>
              <a:rPr lang="en-US" sz="2000" dirty="0">
                <a:latin typeface="Tahoma"/>
                <a:ea typeface="Tahoma"/>
                <a:cs typeface="Tahoma"/>
                <a:sym typeface="Tahoma"/>
              </a:rPr>
              <a:t> </a:t>
            </a:r>
            <a:r>
              <a:rPr lang="en-US" sz="2000" dirty="0" err="1">
                <a:latin typeface="Tahoma"/>
                <a:ea typeface="Tahoma"/>
                <a:cs typeface="Tahoma"/>
                <a:sym typeface="Tahoma"/>
              </a:rPr>
              <a:t>thức</a:t>
            </a:r>
            <a:r>
              <a:rPr lang="en-US" sz="2000" dirty="0">
                <a:latin typeface="Tahoma"/>
                <a:ea typeface="Tahoma"/>
                <a:cs typeface="Tahoma"/>
                <a:sym typeface="Tahoma"/>
              </a:rPr>
              <a:t> SQL </a:t>
            </a:r>
            <a:r>
              <a:rPr lang="en-US" sz="2000" dirty="0" err="1">
                <a:latin typeface="Tahoma"/>
                <a:ea typeface="Tahoma"/>
                <a:cs typeface="Tahoma"/>
                <a:sym typeface="Tahoma"/>
              </a:rPr>
              <a:t>khác</a:t>
            </a:r>
            <a:r>
              <a:rPr lang="en-US" sz="2000" dirty="0">
                <a:latin typeface="Tahoma"/>
                <a:ea typeface="Tahoma"/>
                <a:cs typeface="Tahoma"/>
                <a:sym typeface="Tahoma"/>
              </a:rPr>
              <a:t> </a:t>
            </a:r>
            <a:r>
              <a:rPr lang="en-US" sz="2000" dirty="0" err="1">
                <a:latin typeface="Tahoma"/>
                <a:ea typeface="Tahoma"/>
                <a:cs typeface="Tahoma"/>
                <a:sym typeface="Tahoma"/>
              </a:rPr>
              <a:t>nhau</a:t>
            </a:r>
            <a:r>
              <a:rPr lang="en-US" sz="2000" dirty="0">
                <a:latin typeface="Tahoma"/>
                <a:ea typeface="Tahoma"/>
                <a:cs typeface="Tahoma"/>
                <a:sym typeface="Tahoma"/>
              </a:rPr>
              <a:t>:</a:t>
            </a:r>
            <a:endParaRPr sz="2000" dirty="0">
              <a:latin typeface="Tahoma"/>
              <a:ea typeface="Tahoma"/>
              <a:cs typeface="Tahoma"/>
              <a:sym typeface="Tahoma"/>
            </a:endParaRPr>
          </a:p>
          <a:p>
            <a:pPr marL="457200" lvl="0" indent="-342900" algn="l" rtl="0">
              <a:lnSpc>
                <a:spcPct val="90000"/>
              </a:lnSpc>
              <a:spcBef>
                <a:spcPts val="1200"/>
              </a:spcBef>
              <a:spcAft>
                <a:spcPts val="0"/>
              </a:spcAft>
              <a:buClr>
                <a:schemeClr val="dk1"/>
              </a:buClr>
              <a:buSzPts val="1800"/>
              <a:buChar char="•"/>
            </a:pPr>
            <a:r>
              <a:rPr lang="en-US" sz="2000" b="1" dirty="0">
                <a:latin typeface="Tahoma"/>
                <a:ea typeface="Tahoma"/>
                <a:cs typeface="Tahoma"/>
                <a:sym typeface="Tahoma"/>
              </a:rPr>
              <a:t>Boolean</a:t>
            </a:r>
            <a:endParaRPr dirty="0"/>
          </a:p>
          <a:p>
            <a:pPr marL="457200" lvl="0" indent="-342900" algn="l" rtl="0">
              <a:lnSpc>
                <a:spcPct val="90000"/>
              </a:lnSpc>
              <a:spcBef>
                <a:spcPts val="1200"/>
              </a:spcBef>
              <a:spcAft>
                <a:spcPts val="0"/>
              </a:spcAft>
              <a:buClr>
                <a:schemeClr val="dk1"/>
              </a:buClr>
              <a:buSzPts val="1800"/>
              <a:buChar char="•"/>
            </a:pPr>
            <a:r>
              <a:rPr lang="en-US" sz="2000" b="1" dirty="0">
                <a:latin typeface="Tahoma"/>
                <a:ea typeface="Tahoma"/>
                <a:cs typeface="Tahoma"/>
                <a:sym typeface="Tahoma"/>
              </a:rPr>
              <a:t>Numeric</a:t>
            </a:r>
            <a:endParaRPr dirty="0"/>
          </a:p>
          <a:p>
            <a:pPr marL="457200" lvl="0" indent="-342900" algn="l" rtl="0">
              <a:lnSpc>
                <a:spcPct val="90000"/>
              </a:lnSpc>
              <a:spcBef>
                <a:spcPts val="1200"/>
              </a:spcBef>
              <a:spcAft>
                <a:spcPts val="0"/>
              </a:spcAft>
              <a:buClr>
                <a:schemeClr val="dk1"/>
              </a:buClr>
              <a:buSzPts val="1800"/>
              <a:buChar char="•"/>
            </a:pPr>
            <a:r>
              <a:rPr lang="en-US" sz="2000" b="1" dirty="0">
                <a:latin typeface="Tahoma"/>
                <a:ea typeface="Tahoma"/>
                <a:cs typeface="Tahoma"/>
                <a:sym typeface="Tahoma"/>
              </a:rPr>
              <a:t>Date</a:t>
            </a:r>
            <a:endParaRPr dirty="0"/>
          </a:p>
          <a:p>
            <a:pPr marL="228600" lvl="0" indent="-76200" algn="l" rtl="0">
              <a:lnSpc>
                <a:spcPct val="90000"/>
              </a:lnSpc>
              <a:spcBef>
                <a:spcPts val="0"/>
              </a:spcBef>
              <a:spcAft>
                <a:spcPts val="0"/>
              </a:spcAft>
              <a:buClr>
                <a:schemeClr val="dk1"/>
              </a:buClr>
              <a:buSzPts val="2400"/>
              <a:buNone/>
            </a:pPr>
            <a:endParaRPr sz="1800" dirty="0">
              <a:latin typeface="Tahoma"/>
              <a:ea typeface="Tahoma"/>
              <a:cs typeface="Tahoma"/>
              <a:sym typeface="Tahoma"/>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0"/>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Tahoma"/>
              <a:buNone/>
            </a:pPr>
            <a:r>
              <a:rPr lang="en-US" sz="4600" b="1">
                <a:latin typeface="Tahoma"/>
                <a:ea typeface="Tahoma"/>
                <a:cs typeface="Tahoma"/>
                <a:sym typeface="Tahoma"/>
              </a:rPr>
              <a:t>BIỂU THỨC</a:t>
            </a:r>
            <a:endParaRPr b="1">
              <a:latin typeface="Tahoma"/>
              <a:ea typeface="Tahoma"/>
              <a:cs typeface="Tahoma"/>
              <a:sym typeface="Tahoma"/>
            </a:endParaRPr>
          </a:p>
        </p:txBody>
      </p:sp>
      <p:sp>
        <p:nvSpPr>
          <p:cNvPr id="284" name="Google Shape;284;p20"/>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114300" lvl="0" indent="0" algn="l" rtl="0">
              <a:lnSpc>
                <a:spcPct val="90000"/>
              </a:lnSpc>
              <a:spcBef>
                <a:spcPts val="1200"/>
              </a:spcBef>
              <a:spcAft>
                <a:spcPts val="0"/>
              </a:spcAft>
              <a:buClr>
                <a:schemeClr val="dk1"/>
              </a:buClr>
              <a:buSzPts val="1800"/>
              <a:buNone/>
            </a:pPr>
            <a:r>
              <a:rPr lang="en-US" sz="2000">
                <a:latin typeface="Tahoma"/>
                <a:ea typeface="Tahoma"/>
                <a:cs typeface="Tahoma"/>
                <a:sym typeface="Tahoma"/>
              </a:rPr>
              <a:t>Biểu thức Boolean trong SQL (SQL Boolean Expressions) tìm nạp dữ liệu dựa trên việc kết hợp một giá trị duy nhất. Sau đây là cú pháp:</a:t>
            </a:r>
            <a:endParaRPr/>
          </a:p>
          <a:p>
            <a:pPr marL="114300" lvl="0" indent="0" algn="l" rtl="0">
              <a:lnSpc>
                <a:spcPct val="90000"/>
              </a:lnSpc>
              <a:spcBef>
                <a:spcPts val="1200"/>
              </a:spcBef>
              <a:spcAft>
                <a:spcPts val="0"/>
              </a:spcAft>
              <a:buClr>
                <a:srgbClr val="FF0000"/>
              </a:buClr>
              <a:buSzPts val="1800"/>
              <a:buNone/>
            </a:pPr>
            <a:r>
              <a:rPr lang="en-US" sz="2000" b="1">
                <a:solidFill>
                  <a:srgbClr val="FF0000"/>
                </a:solidFill>
                <a:latin typeface="Tahoma"/>
                <a:ea typeface="Tahoma"/>
                <a:cs typeface="Tahoma"/>
                <a:sym typeface="Tahoma"/>
              </a:rPr>
              <a:t>Cú pháp:</a:t>
            </a:r>
            <a:endParaRPr/>
          </a:p>
          <a:p>
            <a:pPr marL="114300" lvl="0" indent="0" algn="l" rtl="0">
              <a:lnSpc>
                <a:spcPct val="90000"/>
              </a:lnSpc>
              <a:spcBef>
                <a:spcPts val="1200"/>
              </a:spcBef>
              <a:spcAft>
                <a:spcPts val="0"/>
              </a:spcAft>
              <a:buClr>
                <a:schemeClr val="dk1"/>
              </a:buClr>
              <a:buSzPts val="1800"/>
              <a:buNone/>
            </a:pPr>
            <a:endParaRPr sz="2000" b="1">
              <a:latin typeface="Tahoma"/>
              <a:ea typeface="Tahoma"/>
              <a:cs typeface="Tahoma"/>
              <a:sym typeface="Tahoma"/>
            </a:endParaRPr>
          </a:p>
          <a:p>
            <a:pPr marL="457200" lvl="1" indent="0" algn="l" rtl="0">
              <a:lnSpc>
                <a:spcPct val="90000"/>
              </a:lnSpc>
              <a:spcBef>
                <a:spcPts val="0"/>
              </a:spcBef>
              <a:spcAft>
                <a:spcPts val="0"/>
              </a:spcAft>
              <a:buClr>
                <a:schemeClr val="dk1"/>
              </a:buClr>
              <a:buSzPts val="2400"/>
              <a:buNone/>
            </a:pPr>
            <a:r>
              <a:rPr lang="en-US" sz="2000" b="1">
                <a:latin typeface="Tahoma"/>
                <a:ea typeface="Tahoma"/>
                <a:cs typeface="Tahoma"/>
                <a:sym typeface="Tahoma"/>
              </a:rPr>
              <a:t>SELECT</a:t>
            </a:r>
            <a:r>
              <a:rPr lang="en-US" sz="2000">
                <a:latin typeface="Tahoma"/>
                <a:ea typeface="Tahoma"/>
                <a:cs typeface="Tahoma"/>
                <a:sym typeface="Tahoma"/>
              </a:rPr>
              <a:t>  </a:t>
            </a:r>
            <a:r>
              <a:rPr lang="en-US" sz="1800" i="1">
                <a:latin typeface="Tahoma"/>
                <a:ea typeface="Tahoma"/>
                <a:cs typeface="Tahoma"/>
                <a:sym typeface="Tahoma"/>
              </a:rPr>
              <a:t>column1, column2, columnN </a:t>
            </a:r>
            <a:endParaRPr/>
          </a:p>
          <a:p>
            <a:pPr marL="457200" lvl="1" indent="0" algn="l" rtl="0">
              <a:lnSpc>
                <a:spcPct val="90000"/>
              </a:lnSpc>
              <a:spcBef>
                <a:spcPts val="0"/>
              </a:spcBef>
              <a:spcAft>
                <a:spcPts val="0"/>
              </a:spcAft>
              <a:buClr>
                <a:schemeClr val="dk1"/>
              </a:buClr>
              <a:buSzPts val="2400"/>
              <a:buNone/>
            </a:pPr>
            <a:r>
              <a:rPr lang="en-US" sz="2000" b="1">
                <a:latin typeface="Tahoma"/>
                <a:ea typeface="Tahoma"/>
                <a:cs typeface="Tahoma"/>
                <a:sym typeface="Tahoma"/>
              </a:rPr>
              <a:t>FROM</a:t>
            </a:r>
            <a:r>
              <a:rPr lang="en-US" sz="2000">
                <a:latin typeface="Tahoma"/>
                <a:ea typeface="Tahoma"/>
                <a:cs typeface="Tahoma"/>
                <a:sym typeface="Tahoma"/>
              </a:rPr>
              <a:t>  </a:t>
            </a:r>
            <a:r>
              <a:rPr lang="en-US" sz="1800" i="1">
                <a:latin typeface="Tahoma"/>
                <a:ea typeface="Tahoma"/>
                <a:cs typeface="Tahoma"/>
                <a:sym typeface="Tahoma"/>
              </a:rPr>
              <a:t>table_name</a:t>
            </a:r>
            <a:r>
              <a:rPr lang="en-US" sz="2000">
                <a:latin typeface="Tahoma"/>
                <a:ea typeface="Tahoma"/>
                <a:cs typeface="Tahoma"/>
                <a:sym typeface="Tahoma"/>
              </a:rPr>
              <a:t> </a:t>
            </a:r>
            <a:endParaRPr sz="2000">
              <a:latin typeface="Tahoma"/>
              <a:ea typeface="Tahoma"/>
              <a:cs typeface="Tahoma"/>
              <a:sym typeface="Tahoma"/>
            </a:endParaRPr>
          </a:p>
          <a:p>
            <a:pPr marL="457200" lvl="1" indent="0" algn="l" rtl="0">
              <a:lnSpc>
                <a:spcPct val="90000"/>
              </a:lnSpc>
              <a:spcBef>
                <a:spcPts val="0"/>
              </a:spcBef>
              <a:spcAft>
                <a:spcPts val="0"/>
              </a:spcAft>
              <a:buClr>
                <a:schemeClr val="dk1"/>
              </a:buClr>
              <a:buSzPts val="2400"/>
              <a:buNone/>
            </a:pPr>
            <a:r>
              <a:rPr lang="en-US" sz="2000" b="1">
                <a:latin typeface="Tahoma"/>
                <a:ea typeface="Tahoma"/>
                <a:cs typeface="Tahoma"/>
                <a:sym typeface="Tahoma"/>
              </a:rPr>
              <a:t>WHERE</a:t>
            </a:r>
            <a:r>
              <a:rPr lang="en-US" sz="2000">
                <a:latin typeface="Tahoma"/>
                <a:ea typeface="Tahoma"/>
                <a:cs typeface="Tahoma"/>
                <a:sym typeface="Tahoma"/>
              </a:rPr>
              <a:t>  </a:t>
            </a:r>
            <a:r>
              <a:rPr lang="en-US" sz="1800" i="1">
                <a:latin typeface="Tahoma"/>
                <a:ea typeface="Tahoma"/>
                <a:cs typeface="Tahoma"/>
                <a:sym typeface="Tahoma"/>
              </a:rPr>
              <a:t>SINGLE VALUE MATCHING EXPRESSION</a:t>
            </a:r>
            <a:r>
              <a:rPr lang="en-US" sz="1800">
                <a:latin typeface="Tahoma"/>
                <a:ea typeface="Tahoma"/>
                <a:cs typeface="Tahoma"/>
                <a:sym typeface="Tahoma"/>
              </a:rPr>
              <a:t>;</a:t>
            </a:r>
            <a:endParaRPr/>
          </a:p>
          <a:p>
            <a:pPr marL="228600" lvl="0" indent="-76200" algn="l" rtl="0">
              <a:lnSpc>
                <a:spcPct val="90000"/>
              </a:lnSpc>
              <a:spcBef>
                <a:spcPts val="0"/>
              </a:spcBef>
              <a:spcAft>
                <a:spcPts val="0"/>
              </a:spcAft>
              <a:buClr>
                <a:schemeClr val="dk1"/>
              </a:buClr>
              <a:buSzPts val="2400"/>
              <a:buNone/>
            </a:pPr>
            <a:endParaRPr sz="2000">
              <a:solidFill>
                <a:srgbClr val="FF0000"/>
              </a:solidFill>
              <a:latin typeface="Tahoma"/>
              <a:ea typeface="Tahoma"/>
              <a:cs typeface="Tahoma"/>
              <a:sym typeface="Tahoma"/>
            </a:endParaRPr>
          </a:p>
          <a:p>
            <a:pPr marL="0" lvl="0" indent="0" algn="l" rtl="0">
              <a:lnSpc>
                <a:spcPct val="90000"/>
              </a:lnSpc>
              <a:spcBef>
                <a:spcPts val="0"/>
              </a:spcBef>
              <a:spcAft>
                <a:spcPts val="0"/>
              </a:spcAft>
              <a:buClr>
                <a:srgbClr val="FF0000"/>
              </a:buClr>
              <a:buSzPts val="2400"/>
              <a:buNone/>
            </a:pPr>
            <a:r>
              <a:rPr lang="en-US" sz="2000" b="1">
                <a:solidFill>
                  <a:srgbClr val="FF0000"/>
                </a:solidFill>
                <a:latin typeface="Tahoma"/>
                <a:ea typeface="Tahoma"/>
                <a:cs typeface="Tahoma"/>
                <a:sym typeface="Tahoma"/>
              </a:rPr>
              <a:t>Ví dụ:</a:t>
            </a:r>
            <a:endParaRPr/>
          </a:p>
          <a:p>
            <a:pPr marL="0" lvl="0" indent="0" algn="l" rtl="0">
              <a:lnSpc>
                <a:spcPct val="90000"/>
              </a:lnSpc>
              <a:spcBef>
                <a:spcPts val="0"/>
              </a:spcBef>
              <a:spcAft>
                <a:spcPts val="0"/>
              </a:spcAft>
              <a:buClr>
                <a:schemeClr val="dk1"/>
              </a:buClr>
              <a:buSzPts val="2400"/>
              <a:buNone/>
            </a:pPr>
            <a:endParaRPr sz="2000" b="1">
              <a:latin typeface="Tahoma"/>
              <a:ea typeface="Tahoma"/>
              <a:cs typeface="Tahoma"/>
              <a:sym typeface="Tahoma"/>
            </a:endParaRPr>
          </a:p>
          <a:p>
            <a:pPr marL="0" lvl="0" indent="0" algn="l" rtl="0">
              <a:lnSpc>
                <a:spcPct val="90000"/>
              </a:lnSpc>
              <a:spcBef>
                <a:spcPts val="0"/>
              </a:spcBef>
              <a:spcAft>
                <a:spcPts val="0"/>
              </a:spcAft>
              <a:buClr>
                <a:schemeClr val="dk1"/>
              </a:buClr>
              <a:buSzPts val="2400"/>
              <a:buNone/>
            </a:pPr>
            <a:r>
              <a:rPr lang="en-US" sz="2000">
                <a:latin typeface="Tahoma"/>
                <a:ea typeface="Tahoma"/>
                <a:cs typeface="Tahoma"/>
                <a:sym typeface="Tahoma"/>
              </a:rPr>
              <a:t>	</a:t>
            </a:r>
            <a:r>
              <a:rPr lang="en-US" sz="2000" b="1">
                <a:latin typeface="Tahoma"/>
                <a:ea typeface="Tahoma"/>
                <a:cs typeface="Tahoma"/>
                <a:sym typeface="Tahoma"/>
              </a:rPr>
              <a:t>SELECT * FROM </a:t>
            </a:r>
            <a:r>
              <a:rPr lang="en-US" sz="1800" i="1">
                <a:latin typeface="Tahoma"/>
                <a:ea typeface="Tahoma"/>
                <a:cs typeface="Tahoma"/>
                <a:sym typeface="Tahoma"/>
              </a:rPr>
              <a:t>CUSTOMERS</a:t>
            </a:r>
            <a:r>
              <a:rPr lang="en-US" sz="2000" b="1">
                <a:latin typeface="Tahoma"/>
                <a:ea typeface="Tahoma"/>
                <a:cs typeface="Tahoma"/>
                <a:sym typeface="Tahoma"/>
              </a:rPr>
              <a:t>  WHERE </a:t>
            </a:r>
            <a:r>
              <a:rPr lang="en-US" sz="1800" i="1">
                <a:latin typeface="Tahoma"/>
                <a:ea typeface="Tahoma"/>
                <a:cs typeface="Tahoma"/>
                <a:sym typeface="Tahoma"/>
              </a:rPr>
              <a:t>SALARY = 10000</a:t>
            </a:r>
            <a:endParaRPr sz="1800" b="1">
              <a:latin typeface="Tahoma"/>
              <a:ea typeface="Tahoma"/>
              <a:cs typeface="Tahoma"/>
              <a:sym typeface="Tahoma"/>
            </a:endParaRPr>
          </a:p>
        </p:txBody>
      </p:sp>
      <p:sp>
        <p:nvSpPr>
          <p:cNvPr id="285" name="Google Shape;285;p20"/>
          <p:cNvSpPr txBox="1">
            <a:spLocks noGrp="1"/>
          </p:cNvSpPr>
          <p:nvPr>
            <p:ph type="body" idx="2"/>
          </p:nvPr>
        </p:nvSpPr>
        <p:spPr>
          <a:xfrm>
            <a:off x="533402" y="950242"/>
            <a:ext cx="11125199" cy="343299"/>
          </a:xfrm>
          <a:prstGeom prst="rect">
            <a:avLst/>
          </a:prstGeom>
          <a:noFill/>
          <a:ln>
            <a:noFill/>
          </a:ln>
        </p:spPr>
        <p:txBody>
          <a:bodyPr spcFirstLastPara="1" wrap="square" lIns="0" tIns="0" rIns="0" bIns="0" anchor="t" anchorCtr="0">
            <a:noAutofit/>
          </a:bodyPr>
          <a:lstStyle/>
          <a:p>
            <a:pPr marL="1588" lvl="0" indent="0" algn="l" rtl="0">
              <a:lnSpc>
                <a:spcPct val="90000"/>
              </a:lnSpc>
              <a:spcBef>
                <a:spcPts val="0"/>
              </a:spcBef>
              <a:spcAft>
                <a:spcPts val="0"/>
              </a:spcAft>
              <a:buClr>
                <a:schemeClr val="dk1"/>
              </a:buClr>
              <a:buSzPts val="2400"/>
              <a:buNone/>
            </a:pPr>
            <a:r>
              <a:rPr lang="en-US">
                <a:latin typeface="Tahoma"/>
                <a:ea typeface="Tahoma"/>
                <a:cs typeface="Tahoma"/>
                <a:sym typeface="Tahoma"/>
              </a:rPr>
              <a:t>Biểu thức Boolean</a:t>
            </a:r>
            <a:endParaRPr/>
          </a:p>
          <a:p>
            <a:pPr marL="1588" lvl="0" indent="0" algn="l" rtl="0">
              <a:lnSpc>
                <a:spcPct val="90000"/>
              </a:lnSpc>
              <a:spcBef>
                <a:spcPts val="0"/>
              </a:spcBef>
              <a:spcAft>
                <a:spcPts val="0"/>
              </a:spcAft>
              <a:buClr>
                <a:schemeClr val="dk1"/>
              </a:buClr>
              <a:buSzPts val="2400"/>
              <a:buNone/>
            </a:pPr>
            <a:endParaRP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1931</Words>
  <Application>Microsoft Office PowerPoint</Application>
  <PresentationFormat>Widescreen</PresentationFormat>
  <Paragraphs>192</Paragraphs>
  <Slides>33</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Cambria</vt:lpstr>
      <vt:lpstr>Tahoma</vt:lpstr>
      <vt:lpstr>times new roman</vt:lpstr>
      <vt:lpstr>times new roman</vt:lpstr>
      <vt:lpstr>Office Theme</vt:lpstr>
      <vt:lpstr>PowerPoint Presentation</vt:lpstr>
      <vt:lpstr>Lý do ra đời của Big Query</vt:lpstr>
      <vt:lpstr>Vậy Dremel là gì?</vt:lpstr>
      <vt:lpstr>BigQuery</vt:lpstr>
      <vt:lpstr>BigQuery</vt:lpstr>
      <vt:lpstr>Truy cập vào BigQuery</vt:lpstr>
      <vt:lpstr>Tổ chức trong BigQuery</vt:lpstr>
      <vt:lpstr>Giao diện BigQuery</vt:lpstr>
      <vt:lpstr>Giao diện BigQuery</vt:lpstr>
      <vt:lpstr>Giao diện BigQuery</vt:lpstr>
      <vt:lpstr>Giao diện BigQuery</vt:lpstr>
      <vt:lpstr>Tạo Dataset và table trong BigQuery</vt:lpstr>
      <vt:lpstr>1. Tạo Dataset</vt:lpstr>
      <vt:lpstr> Tại màn hình tiếp theo chúng ta sẽ tạo một dataset, (khái niệm dataset trong GBQ giống như database trong MySQL server) bằng cách ấn button CREATE DATASET. </vt:lpstr>
      <vt:lpstr> Màn hình tiếp theo ta nhập tên dataset chỗ khung Dataset ID tuỳ theo ý thích của mình, (ví dụ: DEMO) Data location chọn là default. Rồi ấn button Create dataset ở bên dưới. </vt:lpstr>
      <vt:lpstr> Ta đã tạo xong một dataset có tên là DEMO, tiếp theo ta sẽ tạo các table cho dataset đó là hoàn thiện việc tạo dữ liệu cho dataset. Để làm điều này các bạn click button CREATE TABLE giống như hình dưới. </vt:lpstr>
      <vt:lpstr> Mục Create table from: các bạn chọn upload giống hình dưới sau đó chọn browse để upload file CUSTOMERS.csv lên GBQ. </vt:lpstr>
      <vt:lpstr>Table name đặt tên cho Table cần tạo: Nhập CUSTOMERS Schema: Định nghĩa các trường. Auto detect: Tích chọn nếu muốn GCP tự nhận header của file csv làm tên trường. Nếu muộn tự định nghĩa ta chọn button Add field chọn kiểu dữ liệu tại Type</vt:lpstr>
      <vt:lpstr> Click Advanced options:  Field delimiter: Lựa chọn kiểu phân cách trong file CSV: Ta chọn Custom Custom field delimiter: Nhập dấu ‘,’ (Do trong file CSV các trường dữ liệu đang phân cách nhau bằng dấu ‘,’) Header rows to skip: Nhập giá trị 1 (Bỏ qua giá trị header trong file CSV) </vt:lpstr>
      <vt:lpstr>Sau khi click button Create table ta có được một dataset như hình dưới. </vt:lpstr>
      <vt:lpstr>2. Thực hiện truy vấn</vt:lpstr>
      <vt:lpstr> Màn hình kết quả câu truy vấn. </vt:lpstr>
      <vt:lpstr>SQL BigQuery</vt:lpstr>
      <vt:lpstr>Tính phí trên BigQuery</vt:lpstr>
      <vt:lpstr>Tính phí trên BigQuery</vt:lpstr>
      <vt:lpstr>Kiểu dữ liệu</vt:lpstr>
      <vt:lpstr>Data Type</vt:lpstr>
      <vt:lpstr>TOÁN TỬ</vt:lpstr>
      <vt:lpstr>TOÁN TỬ</vt:lpstr>
      <vt:lpstr>TOÁN TỬ</vt:lpstr>
      <vt:lpstr>TOÁN TỬ</vt:lpstr>
      <vt:lpstr>BIỂU THỨC</vt:lpstr>
      <vt:lpstr>BIỂU THỨC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Querying and viewing data</dc:title>
  <dc:creator>thang truong</dc:creator>
  <cp:lastModifiedBy>Ha Vu Phuong</cp:lastModifiedBy>
  <cp:revision>45</cp:revision>
  <cp:lastPrinted>2021-04-19T02:29:00Z</cp:lastPrinted>
  <dcterms:created xsi:type="dcterms:W3CDTF">2021-04-13T07:24:02Z</dcterms:created>
  <dcterms:modified xsi:type="dcterms:W3CDTF">2021-04-19T04:06:26Z</dcterms:modified>
</cp:coreProperties>
</file>